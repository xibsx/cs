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1" r:id="rId5"/>
    <p:sldId id="257" r:id="rId6"/>
    <p:sldId id="258" r:id="rId7"/>
    <p:sldId id="262" r:id="rId8"/>
    <p:sldId id="284" r:id="rId9"/>
    <p:sldId id="285" r:id="rId10"/>
    <p:sldId id="286" r:id="rId11"/>
    <p:sldId id="287" r:id="rId12"/>
    <p:sldId id="288" r:id="rId13"/>
    <p:sldId id="289" r:id="rId14"/>
    <p:sldId id="290" r:id="rId15"/>
    <p:sldId id="263" r:id="rId16"/>
    <p:sldId id="264" r:id="rId17"/>
    <p:sldId id="278" r:id="rId18"/>
    <p:sldId id="279" r:id="rId19"/>
    <p:sldId id="281" r:id="rId20"/>
    <p:sldId id="291" r:id="rId21"/>
    <p:sldId id="282" r:id="rId22"/>
    <p:sldId id="292" r:id="rId23"/>
    <p:sldId id="293"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A18F552-4CE5-4CD3-86C3-E5F745996489}" type="datetimeFigureOut">
              <a:rPr lang="en-US" smtClean="0"/>
              <a:t>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3015569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18F552-4CE5-4CD3-86C3-E5F745996489}" type="datetimeFigureOut">
              <a:rPr lang="en-US" smtClean="0"/>
              <a:t>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211934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18F552-4CE5-4CD3-86C3-E5F745996489}" type="datetimeFigureOut">
              <a:rPr lang="en-US" smtClean="0"/>
              <a:t>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1760879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A18F552-4CE5-4CD3-86C3-E5F745996489}" type="datetimeFigureOut">
              <a:rPr lang="en-US" smtClean="0"/>
              <a:t>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500625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A18F552-4CE5-4CD3-86C3-E5F745996489}" type="datetimeFigureOut">
              <a:rPr lang="en-US" smtClean="0"/>
              <a:t>2/2/2022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4139918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A18F552-4CE5-4CD3-86C3-E5F745996489}" type="datetimeFigureOut">
              <a:rPr lang="en-US" smtClean="0"/>
              <a:t>2/2/2022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2062210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18F552-4CE5-4CD3-86C3-E5F745996489}" type="datetimeFigureOut">
              <a:rPr lang="en-US" smtClean="0"/>
              <a:t>2/2/2022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3870041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18F552-4CE5-4CD3-86C3-E5F745996489}" type="datetimeFigureOut">
              <a:rPr lang="en-US" smtClean="0"/>
              <a:t>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1625507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18F552-4CE5-4CD3-86C3-E5F745996489}" type="datetimeFigureOut">
              <a:rPr lang="en-US" smtClean="0"/>
              <a:t>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2871189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18F552-4CE5-4CD3-86C3-E5F745996489}" type="datetimeFigureOut">
              <a:rPr lang="en-US" smtClean="0"/>
              <a:t>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347311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18F552-4CE5-4CD3-86C3-E5F745996489}" type="datetimeFigureOut">
              <a:rPr lang="en-US" smtClean="0"/>
              <a:t>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528A83-0D84-4C50-8E37-8CE16DE84CA8}" type="slidenum">
              <a:rPr lang="en-US" smtClean="0"/>
              <a:t>‹#›</a:t>
            </a:fld>
            <a:endParaRPr lang="en-US"/>
          </a:p>
        </p:txBody>
      </p:sp>
    </p:spTree>
    <p:extLst>
      <p:ext uri="{BB962C8B-B14F-4D97-AF65-F5344CB8AC3E}">
        <p14:creationId xmlns:p14="http://schemas.microsoft.com/office/powerpoint/2010/main" val="4107951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18F552-4CE5-4CD3-86C3-E5F745996489}" type="datetimeFigureOut">
              <a:rPr lang="en-US" smtClean="0"/>
              <a:t>2/2/2022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528A83-0D84-4C50-8E37-8CE16DE84CA8}" type="slidenum">
              <a:rPr lang="en-US" smtClean="0"/>
              <a:t>‹#›</a:t>
            </a:fld>
            <a:endParaRPr lang="en-US"/>
          </a:p>
        </p:txBody>
      </p:sp>
    </p:spTree>
    <p:extLst>
      <p:ext uri="{BB962C8B-B14F-4D97-AF65-F5344CB8AC3E}">
        <p14:creationId xmlns:p14="http://schemas.microsoft.com/office/powerpoint/2010/main" val="3639571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i="1" dirty="0" smtClean="0"/>
              <a:t>Lecture on</a:t>
            </a:r>
            <a:br>
              <a:rPr lang="en-US" b="1" i="1" dirty="0" smtClean="0"/>
            </a:br>
            <a:r>
              <a:rPr lang="en-US" b="1" i="1" dirty="0" smtClean="0"/>
              <a:t> international relation </a:t>
            </a:r>
            <a:endParaRPr lang="en-US" dirty="0"/>
          </a:p>
        </p:txBody>
      </p:sp>
      <p:sp>
        <p:nvSpPr>
          <p:cNvPr id="3" name="Subtitle 2"/>
          <p:cNvSpPr>
            <a:spLocks noGrp="1"/>
          </p:cNvSpPr>
          <p:nvPr>
            <p:ph type="subTitle" idx="1"/>
          </p:nvPr>
        </p:nvSpPr>
        <p:spPr>
          <a:xfrm>
            <a:off x="1295400" y="4191000"/>
            <a:ext cx="6400800" cy="1524000"/>
          </a:xfrm>
        </p:spPr>
        <p:txBody>
          <a:bodyPr>
            <a:normAutofit/>
          </a:bodyPr>
          <a:lstStyle/>
          <a:p>
            <a:endParaRPr lang="en-US" sz="2000" dirty="0" smtClean="0"/>
          </a:p>
          <a:p>
            <a:endParaRPr lang="en-US" sz="2000" dirty="0"/>
          </a:p>
        </p:txBody>
      </p:sp>
    </p:spTree>
    <p:extLst>
      <p:ext uri="{BB962C8B-B14F-4D97-AF65-F5344CB8AC3E}">
        <p14:creationId xmlns:p14="http://schemas.microsoft.com/office/powerpoint/2010/main" val="38903121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NATION</a:t>
            </a:r>
            <a:endParaRPr lang="en-US" dirty="0"/>
          </a:p>
        </p:txBody>
      </p:sp>
      <p:sp>
        <p:nvSpPr>
          <p:cNvPr id="3" name="Content Placeholder 2"/>
          <p:cNvSpPr>
            <a:spLocks noGrp="1"/>
          </p:cNvSpPr>
          <p:nvPr>
            <p:ph idx="1"/>
          </p:nvPr>
        </p:nvSpPr>
        <p:spPr/>
        <p:txBody>
          <a:bodyPr/>
          <a:lstStyle/>
          <a:p>
            <a:pPr>
              <a:lnSpc>
                <a:spcPct val="150000"/>
              </a:lnSpc>
            </a:pPr>
            <a:r>
              <a:rPr lang="en-US" dirty="0" smtClean="0"/>
              <a:t>is </a:t>
            </a:r>
            <a:r>
              <a:rPr lang="en-US" dirty="0"/>
              <a:t>relatively a large group of people who feel that they belong together by virtue of sharing one or more such as; traits a common language, religion/race, common history or traditional set of common customs,  and a common density </a:t>
            </a:r>
          </a:p>
          <a:p>
            <a:pPr>
              <a:lnSpc>
                <a:spcPct val="150000"/>
              </a:lnSpc>
            </a:pPr>
            <a:endParaRPr lang="en-US" dirty="0"/>
          </a:p>
        </p:txBody>
      </p:sp>
    </p:spTree>
    <p:extLst>
      <p:ext uri="{BB962C8B-B14F-4D97-AF65-F5344CB8AC3E}">
        <p14:creationId xmlns:p14="http://schemas.microsoft.com/office/powerpoint/2010/main" val="17598341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smtClean="0"/>
              <a:t>STATE</a:t>
            </a:r>
            <a:endParaRPr lang="en-US" dirty="0"/>
          </a:p>
        </p:txBody>
      </p:sp>
      <p:sp>
        <p:nvSpPr>
          <p:cNvPr id="3" name="Content Placeholder 2"/>
          <p:cNvSpPr>
            <a:spLocks noGrp="1"/>
          </p:cNvSpPr>
          <p:nvPr>
            <p:ph idx="1"/>
          </p:nvPr>
        </p:nvSpPr>
        <p:spPr>
          <a:xfrm>
            <a:off x="457200" y="914400"/>
            <a:ext cx="8229600" cy="5211763"/>
          </a:xfrm>
        </p:spPr>
        <p:txBody>
          <a:bodyPr>
            <a:noAutofit/>
          </a:bodyPr>
          <a:lstStyle/>
          <a:p>
            <a:pPr>
              <a:lnSpc>
                <a:spcPct val="150000"/>
              </a:lnSpc>
            </a:pPr>
            <a:r>
              <a:rPr lang="en-US" sz="2800" dirty="0" smtClean="0"/>
              <a:t>is </a:t>
            </a:r>
            <a:r>
              <a:rPr lang="en-US" sz="2800" dirty="0"/>
              <a:t>a legal and territory expression involving a population organized under one government with sovereign rights.</a:t>
            </a:r>
          </a:p>
          <a:p>
            <a:pPr>
              <a:lnSpc>
                <a:spcPct val="150000"/>
              </a:lnSpc>
            </a:pPr>
            <a:r>
              <a:rPr lang="en-US" sz="2800" dirty="0">
                <a:solidFill>
                  <a:srgbClr val="FF0000"/>
                </a:solidFill>
              </a:rPr>
              <a:t>Or a state </a:t>
            </a:r>
            <a:r>
              <a:rPr lang="en-US" sz="2800" dirty="0"/>
              <a:t>is an independent autonomous political structure over a specific territory with a comprehensive legal system and a sufficient concentration of power to maintain law and order  </a:t>
            </a:r>
          </a:p>
          <a:p>
            <a:pPr>
              <a:lnSpc>
                <a:spcPct val="150000"/>
              </a:lnSpc>
            </a:pPr>
            <a:endParaRPr lang="en-US" sz="2800" dirty="0"/>
          </a:p>
        </p:txBody>
      </p:sp>
    </p:spTree>
    <p:extLst>
      <p:ext uri="{BB962C8B-B14F-4D97-AF65-F5344CB8AC3E}">
        <p14:creationId xmlns:p14="http://schemas.microsoft.com/office/powerpoint/2010/main" val="19538771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8077200" cy="639762"/>
          </a:xfrm>
        </p:spPr>
        <p:txBody>
          <a:bodyPr>
            <a:normAutofit fontScale="90000"/>
          </a:bodyPr>
          <a:lstStyle/>
          <a:p>
            <a:r>
              <a:rPr lang="en-US" dirty="0" smtClean="0"/>
              <a:t/>
            </a:r>
            <a:br>
              <a:rPr lang="en-US" dirty="0" smtClean="0"/>
            </a:br>
            <a:r>
              <a:rPr lang="en-US" dirty="0" smtClean="0"/>
              <a:t>Key </a:t>
            </a:r>
            <a:r>
              <a:rPr lang="en-US" dirty="0"/>
              <a:t>features of state</a:t>
            </a:r>
            <a:br>
              <a:rPr lang="en-US" dirty="0"/>
            </a:br>
            <a:endParaRPr lang="en-US" dirty="0"/>
          </a:p>
        </p:txBody>
      </p:sp>
      <p:sp>
        <p:nvSpPr>
          <p:cNvPr id="3" name="Content Placeholder 2"/>
          <p:cNvSpPr>
            <a:spLocks noGrp="1"/>
          </p:cNvSpPr>
          <p:nvPr>
            <p:ph idx="1"/>
          </p:nvPr>
        </p:nvSpPr>
        <p:spPr>
          <a:xfrm>
            <a:off x="457200" y="914400"/>
            <a:ext cx="8458200" cy="5715000"/>
          </a:xfrm>
        </p:spPr>
        <p:txBody>
          <a:bodyPr>
            <a:normAutofit fontScale="92500" lnSpcReduction="10000"/>
          </a:bodyPr>
          <a:lstStyle/>
          <a:p>
            <a:pPr marL="571500" lvl="0" indent="-571500">
              <a:buFont typeface="+mj-lt"/>
              <a:buAutoNum type="romanLcPeriod"/>
            </a:pPr>
            <a:r>
              <a:rPr lang="en-US" b="1" dirty="0" smtClean="0">
                <a:solidFill>
                  <a:srgbClr val="FF0000"/>
                </a:solidFill>
              </a:rPr>
              <a:t>People</a:t>
            </a:r>
            <a:endParaRPr lang="en-US" dirty="0">
              <a:solidFill>
                <a:srgbClr val="FF0000"/>
              </a:solidFill>
            </a:endParaRPr>
          </a:p>
          <a:p>
            <a:pPr marL="571500" lvl="0" indent="-571500">
              <a:buFont typeface="+mj-lt"/>
              <a:buAutoNum type="romanLcPeriod"/>
            </a:pPr>
            <a:r>
              <a:rPr lang="en-US" b="1" dirty="0">
                <a:solidFill>
                  <a:srgbClr val="FF0000"/>
                </a:solidFill>
              </a:rPr>
              <a:t>Territory</a:t>
            </a:r>
            <a:endParaRPr lang="en-US" dirty="0">
              <a:solidFill>
                <a:srgbClr val="FF0000"/>
              </a:solidFill>
            </a:endParaRPr>
          </a:p>
          <a:p>
            <a:pPr marL="571500" lvl="0" indent="-571500">
              <a:buFont typeface="+mj-lt"/>
              <a:buAutoNum type="romanLcPeriod"/>
            </a:pPr>
            <a:r>
              <a:rPr lang="en-US" b="1" dirty="0">
                <a:solidFill>
                  <a:srgbClr val="FF0000"/>
                </a:solidFill>
              </a:rPr>
              <a:t>Sovereignty</a:t>
            </a:r>
            <a:endParaRPr lang="en-US" dirty="0">
              <a:solidFill>
                <a:srgbClr val="FF0000"/>
              </a:solidFill>
            </a:endParaRPr>
          </a:p>
          <a:p>
            <a:pPr marL="0" indent="0">
              <a:lnSpc>
                <a:spcPct val="150000"/>
              </a:lnSpc>
              <a:buNone/>
            </a:pPr>
            <a:r>
              <a:rPr lang="en-US" dirty="0" smtClean="0"/>
              <a:t>refers </a:t>
            </a:r>
            <a:r>
              <a:rPr lang="en-US" dirty="0"/>
              <a:t>to the exclusive jurisdiction </a:t>
            </a:r>
            <a:r>
              <a:rPr lang="en-US" i="1" dirty="0"/>
              <a:t>(territorial borders)</a:t>
            </a:r>
            <a:r>
              <a:rPr lang="en-US" dirty="0"/>
              <a:t> that a state possess within its territory and to its freedom to act in International affairs without being subject to the legal control of another state. </a:t>
            </a:r>
          </a:p>
          <a:p>
            <a:pPr marL="0" indent="0">
              <a:lnSpc>
                <a:spcPct val="170000"/>
              </a:lnSpc>
              <a:buNone/>
            </a:pPr>
            <a:r>
              <a:rPr lang="en-US" b="1" dirty="0" smtClean="0">
                <a:solidFill>
                  <a:srgbClr val="FF0000"/>
                </a:solidFill>
              </a:rPr>
              <a:t>iv. Government</a:t>
            </a:r>
            <a:r>
              <a:rPr lang="en-US" dirty="0">
                <a:solidFill>
                  <a:srgbClr val="FF0000"/>
                </a:solidFill>
              </a:rPr>
              <a:t>; </a:t>
            </a:r>
            <a:r>
              <a:rPr lang="en-US" dirty="0"/>
              <a:t>refer to the agency to which the will of the state is formulated, expressed and carried out</a:t>
            </a:r>
          </a:p>
          <a:p>
            <a:endParaRPr lang="en-US" dirty="0"/>
          </a:p>
        </p:txBody>
      </p:sp>
    </p:spTree>
    <p:extLst>
      <p:ext uri="{BB962C8B-B14F-4D97-AF65-F5344CB8AC3E}">
        <p14:creationId xmlns:p14="http://schemas.microsoft.com/office/powerpoint/2010/main" val="12290973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https://player.slideplayer.com/79/13273862/slides/slide_9.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p:spPr>
      </p:pic>
    </p:spTree>
    <p:extLst>
      <p:ext uri="{BB962C8B-B14F-4D97-AF65-F5344CB8AC3E}">
        <p14:creationId xmlns:p14="http://schemas.microsoft.com/office/powerpoint/2010/main" val="20530394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8077200" cy="487362"/>
          </a:xfrm>
        </p:spPr>
        <p:txBody>
          <a:bodyPr>
            <a:normAutofit fontScale="90000"/>
          </a:bodyPr>
          <a:lstStyle/>
          <a:p>
            <a:r>
              <a:rPr lang="en-US" b="1" i="1" dirty="0"/>
              <a:t>International relation </a:t>
            </a:r>
            <a:r>
              <a:rPr lang="en-US" dirty="0"/>
              <a:t/>
            </a:r>
            <a:br>
              <a:rPr lang="en-US" dirty="0"/>
            </a:br>
            <a:endParaRPr lang="en-US" dirty="0"/>
          </a:p>
        </p:txBody>
      </p:sp>
      <p:sp>
        <p:nvSpPr>
          <p:cNvPr id="3" name="Content Placeholder 2"/>
          <p:cNvSpPr>
            <a:spLocks noGrp="1"/>
          </p:cNvSpPr>
          <p:nvPr>
            <p:ph idx="1"/>
          </p:nvPr>
        </p:nvSpPr>
        <p:spPr>
          <a:xfrm>
            <a:off x="609600" y="609600"/>
            <a:ext cx="8229600" cy="5715000"/>
          </a:xfrm>
        </p:spPr>
        <p:txBody>
          <a:bodyPr>
            <a:normAutofit/>
          </a:bodyPr>
          <a:lstStyle/>
          <a:p>
            <a:r>
              <a:rPr lang="en-US" dirty="0" smtClean="0"/>
              <a:t>The </a:t>
            </a:r>
            <a:r>
              <a:rPr lang="en-US" dirty="0"/>
              <a:t>academic field of international relations is a branch of </a:t>
            </a:r>
            <a:r>
              <a:rPr lang="en-US" dirty="0">
                <a:solidFill>
                  <a:srgbClr val="FF0000"/>
                </a:solidFill>
              </a:rPr>
              <a:t>political science </a:t>
            </a:r>
            <a:r>
              <a:rPr lang="en-US" dirty="0"/>
              <a:t>that is concerned with the study of relations between </a:t>
            </a:r>
            <a:r>
              <a:rPr lang="en-US" i="1" dirty="0">
                <a:solidFill>
                  <a:srgbClr val="FF0000"/>
                </a:solidFill>
              </a:rPr>
              <a:t>states, </a:t>
            </a:r>
            <a:r>
              <a:rPr lang="en-US" dirty="0"/>
              <a:t>t</a:t>
            </a:r>
            <a:r>
              <a:rPr lang="en-US" i="1" dirty="0">
                <a:solidFill>
                  <a:srgbClr val="FF0000"/>
                </a:solidFill>
              </a:rPr>
              <a:t>he foreign policy of nation-states</a:t>
            </a:r>
            <a:r>
              <a:rPr lang="en-US" dirty="0"/>
              <a:t>, and the mechanisms and institutions (such as international organizations, inter-governmental organizations, international and national non- governmental organizations and multinational corporations) through which states interact.</a:t>
            </a:r>
          </a:p>
          <a:p>
            <a:endParaRPr lang="en-US" dirty="0"/>
          </a:p>
        </p:txBody>
      </p:sp>
    </p:spTree>
    <p:extLst>
      <p:ext uri="{BB962C8B-B14F-4D97-AF65-F5344CB8AC3E}">
        <p14:creationId xmlns:p14="http://schemas.microsoft.com/office/powerpoint/2010/main" val="1367777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algn="l"/>
            <a:r>
              <a:rPr lang="en-US" sz="4000" b="1" dirty="0"/>
              <a:t>Main spheres of international relations;</a:t>
            </a:r>
            <a:r>
              <a:rPr lang="en-US" sz="4000" dirty="0"/>
              <a:t/>
            </a:r>
            <a:br>
              <a:rPr lang="en-US" sz="4000" dirty="0"/>
            </a:br>
            <a:endParaRPr lang="en-US" sz="4000" dirty="0"/>
          </a:p>
        </p:txBody>
      </p:sp>
      <p:sp>
        <p:nvSpPr>
          <p:cNvPr id="3" name="Content Placeholder 2"/>
          <p:cNvSpPr>
            <a:spLocks noGrp="1"/>
          </p:cNvSpPr>
          <p:nvPr>
            <p:ph idx="1"/>
          </p:nvPr>
        </p:nvSpPr>
        <p:spPr>
          <a:xfrm>
            <a:off x="304800" y="685800"/>
            <a:ext cx="8382000" cy="5943600"/>
          </a:xfrm>
        </p:spPr>
        <p:txBody>
          <a:bodyPr>
            <a:normAutofit lnSpcReduction="10000"/>
          </a:bodyPr>
          <a:lstStyle/>
          <a:p>
            <a:pPr lvl="0"/>
            <a:r>
              <a:rPr lang="en-US" dirty="0" smtClean="0"/>
              <a:t>International </a:t>
            </a:r>
            <a:r>
              <a:rPr lang="en-US" dirty="0"/>
              <a:t>and regional peace and security, </a:t>
            </a:r>
            <a:r>
              <a:rPr lang="en-US" i="1" dirty="0">
                <a:solidFill>
                  <a:srgbClr val="FF0000"/>
                </a:solidFill>
              </a:rPr>
              <a:t>(war, peace, terrorism, organized crime)</a:t>
            </a:r>
            <a:endParaRPr lang="en-US" dirty="0">
              <a:solidFill>
                <a:srgbClr val="FF0000"/>
              </a:solidFill>
            </a:endParaRPr>
          </a:p>
          <a:p>
            <a:pPr lvl="0"/>
            <a:r>
              <a:rPr lang="en-US" dirty="0"/>
              <a:t>International organizations, </a:t>
            </a:r>
          </a:p>
          <a:p>
            <a:pPr lvl="0"/>
            <a:r>
              <a:rPr lang="en-US" dirty="0"/>
              <a:t>Globalization,</a:t>
            </a:r>
          </a:p>
          <a:p>
            <a:pPr lvl="0"/>
            <a:r>
              <a:rPr lang="en-US" dirty="0"/>
              <a:t>human rights, </a:t>
            </a:r>
          </a:p>
          <a:p>
            <a:pPr lvl="0"/>
            <a:r>
              <a:rPr lang="en-US" dirty="0"/>
              <a:t>Social and Economic development, </a:t>
            </a:r>
          </a:p>
          <a:p>
            <a:pPr lvl="0"/>
            <a:r>
              <a:rPr lang="en-US" dirty="0"/>
              <a:t>International trade relations etc.</a:t>
            </a:r>
          </a:p>
          <a:p>
            <a:pPr lvl="0"/>
            <a:r>
              <a:rPr lang="en-US" dirty="0"/>
              <a:t>Protection of the natural environment</a:t>
            </a:r>
          </a:p>
          <a:p>
            <a:pPr lvl="0"/>
            <a:r>
              <a:rPr lang="en-US" dirty="0"/>
              <a:t>International economy (trade, investment, production and finance)</a:t>
            </a:r>
          </a:p>
          <a:p>
            <a:pPr lvl="0"/>
            <a:r>
              <a:rPr lang="en-US" dirty="0"/>
              <a:t>Defense of human rights</a:t>
            </a:r>
          </a:p>
          <a:p>
            <a:endParaRPr lang="en-US" dirty="0"/>
          </a:p>
        </p:txBody>
      </p:sp>
    </p:spTree>
    <p:extLst>
      <p:ext uri="{BB962C8B-B14F-4D97-AF65-F5344CB8AC3E}">
        <p14:creationId xmlns:p14="http://schemas.microsoft.com/office/powerpoint/2010/main" val="3203099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a:t>The key players in international relation </a:t>
            </a:r>
            <a:r>
              <a:rPr lang="en-US" sz="4000" dirty="0"/>
              <a:t/>
            </a:r>
            <a:br>
              <a:rPr lang="en-US" sz="4000" dirty="0"/>
            </a:br>
            <a:endParaRPr lang="en-US" sz="4000" dirty="0"/>
          </a:p>
        </p:txBody>
      </p:sp>
      <p:sp>
        <p:nvSpPr>
          <p:cNvPr id="3" name="Content Placeholder 2"/>
          <p:cNvSpPr>
            <a:spLocks noGrp="1"/>
          </p:cNvSpPr>
          <p:nvPr>
            <p:ph idx="1"/>
          </p:nvPr>
        </p:nvSpPr>
        <p:spPr>
          <a:xfrm>
            <a:off x="457200" y="1219200"/>
            <a:ext cx="8229600" cy="4906963"/>
          </a:xfrm>
        </p:spPr>
        <p:txBody>
          <a:bodyPr/>
          <a:lstStyle/>
          <a:p>
            <a:pPr marL="571500" lvl="0" indent="-571500">
              <a:buFont typeface="+mj-lt"/>
              <a:buAutoNum type="romanLcPeriod"/>
            </a:pPr>
            <a:r>
              <a:rPr lang="en-US" dirty="0" smtClean="0"/>
              <a:t>Individual  </a:t>
            </a:r>
            <a:r>
              <a:rPr lang="en-US" dirty="0"/>
              <a:t>heads of the government (cabinet members or other advisers who immediately  assist him/her in making policy)</a:t>
            </a:r>
          </a:p>
          <a:p>
            <a:pPr marL="571500" lvl="0" indent="-571500">
              <a:buFont typeface="+mj-lt"/>
              <a:buAutoNum type="romanLcPeriod"/>
            </a:pPr>
            <a:r>
              <a:rPr lang="en-US" dirty="0"/>
              <a:t>The whole society of which the Nation-state is a specific manifestation (various sectors of his/her own executive from political parties (including own)</a:t>
            </a:r>
          </a:p>
          <a:p>
            <a:endParaRPr lang="en-US" dirty="0"/>
          </a:p>
        </p:txBody>
      </p:sp>
    </p:spTree>
    <p:extLst>
      <p:ext uri="{BB962C8B-B14F-4D97-AF65-F5344CB8AC3E}">
        <p14:creationId xmlns:p14="http://schemas.microsoft.com/office/powerpoint/2010/main" val="22598584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Theories of International Relations</a:t>
            </a:r>
          </a:p>
        </p:txBody>
      </p:sp>
      <p:sp>
        <p:nvSpPr>
          <p:cNvPr id="3" name="Content Placeholder 2"/>
          <p:cNvSpPr>
            <a:spLocks noGrp="1"/>
          </p:cNvSpPr>
          <p:nvPr>
            <p:ph idx="1"/>
          </p:nvPr>
        </p:nvSpPr>
        <p:spPr/>
        <p:txBody>
          <a:bodyPr>
            <a:normAutofit fontScale="92500" lnSpcReduction="10000"/>
          </a:bodyPr>
          <a:lstStyle/>
          <a:p>
            <a:pPr algn="just"/>
            <a:r>
              <a:rPr lang="en-US" dirty="0"/>
              <a:t>I</a:t>
            </a:r>
            <a:r>
              <a:rPr lang="en-US" dirty="0" smtClean="0"/>
              <a:t>nternational </a:t>
            </a:r>
            <a:r>
              <a:rPr lang="en-US" dirty="0"/>
              <a:t>relations theories can help us understand the way the </a:t>
            </a:r>
            <a:r>
              <a:rPr lang="en-US" i="1" dirty="0">
                <a:solidFill>
                  <a:srgbClr val="FF0000"/>
                </a:solidFill>
              </a:rPr>
              <a:t>international systems work, as well as how nations engage with each other and view the world</a:t>
            </a:r>
            <a:r>
              <a:rPr lang="en-US" dirty="0"/>
              <a:t>. Varying from liberal, equality-centric strategies to straightforward realist concepts, international relations theories are often used by diplomats and international relations experts to dictate the direction that a government may take in regards to an international political issue or concern</a:t>
            </a:r>
          </a:p>
        </p:txBody>
      </p:sp>
    </p:spTree>
    <p:extLst>
      <p:ext uri="{BB962C8B-B14F-4D97-AF65-F5344CB8AC3E}">
        <p14:creationId xmlns:p14="http://schemas.microsoft.com/office/powerpoint/2010/main" val="10073472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2" name="Rectangle 4"/>
          <p:cNvSpPr>
            <a:spLocks noGrp="1" noChangeArrowheads="1"/>
          </p:cNvSpPr>
          <p:nvPr>
            <p:ph type="title"/>
          </p:nvPr>
        </p:nvSpPr>
        <p:spPr/>
        <p:txBody>
          <a:bodyPr>
            <a:normAutofit fontScale="90000"/>
          </a:bodyPr>
          <a:lstStyle/>
          <a:p>
            <a:pPr>
              <a:defRPr/>
            </a:pPr>
            <a:r>
              <a:rPr lang="en-US" sz="4000" dirty="0"/>
              <a:t>Theories of International </a:t>
            </a:r>
            <a:r>
              <a:rPr lang="en-US" sz="4000" dirty="0" smtClean="0"/>
              <a:t>Relations Cont..</a:t>
            </a:r>
          </a:p>
        </p:txBody>
      </p:sp>
      <p:sp>
        <p:nvSpPr>
          <p:cNvPr id="273413" name="Rectangle 5"/>
          <p:cNvSpPr>
            <a:spLocks noGrp="1" noChangeArrowheads="1"/>
          </p:cNvSpPr>
          <p:nvPr>
            <p:ph type="body" idx="1"/>
          </p:nvPr>
        </p:nvSpPr>
        <p:spPr/>
        <p:txBody>
          <a:bodyPr/>
          <a:lstStyle/>
          <a:p>
            <a:pPr eaLnBrk="1" hangingPunct="1">
              <a:defRPr/>
            </a:pPr>
            <a:r>
              <a:rPr lang="en-US" dirty="0" smtClean="0"/>
              <a:t>Realism</a:t>
            </a:r>
          </a:p>
          <a:p>
            <a:pPr eaLnBrk="1" hangingPunct="1">
              <a:defRPr/>
            </a:pPr>
            <a:r>
              <a:rPr lang="en-US" dirty="0" smtClean="0"/>
              <a:t>Idealism (Liberalism)</a:t>
            </a:r>
          </a:p>
        </p:txBody>
      </p:sp>
    </p:spTree>
    <p:extLst>
      <p:ext uri="{BB962C8B-B14F-4D97-AF65-F5344CB8AC3E}">
        <p14:creationId xmlns:p14="http://schemas.microsoft.com/office/powerpoint/2010/main" val="27573044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Realism in International Relations</a:t>
            </a:r>
            <a:br>
              <a:rPr lang="en-US" b="1" dirty="0"/>
            </a:br>
            <a:endParaRPr lang="en-US" dirty="0"/>
          </a:p>
        </p:txBody>
      </p:sp>
      <p:sp>
        <p:nvSpPr>
          <p:cNvPr id="3" name="Content Placeholder 2"/>
          <p:cNvSpPr>
            <a:spLocks noGrp="1"/>
          </p:cNvSpPr>
          <p:nvPr>
            <p:ph idx="1"/>
          </p:nvPr>
        </p:nvSpPr>
        <p:spPr>
          <a:xfrm>
            <a:off x="457200" y="1143000"/>
            <a:ext cx="8229600" cy="4983163"/>
          </a:xfrm>
        </p:spPr>
        <p:txBody>
          <a:bodyPr>
            <a:normAutofit lnSpcReduction="10000"/>
          </a:bodyPr>
          <a:lstStyle/>
          <a:p>
            <a:pPr algn="just"/>
            <a:r>
              <a:rPr lang="en-US" dirty="0" smtClean="0"/>
              <a:t>Realism </a:t>
            </a:r>
            <a:r>
              <a:rPr lang="en-US" dirty="0"/>
              <a:t>is a straightforward approach to international relations, stating that </a:t>
            </a:r>
            <a:r>
              <a:rPr lang="en-US" dirty="0">
                <a:solidFill>
                  <a:srgbClr val="FF0000"/>
                </a:solidFill>
              </a:rPr>
              <a:t>all nations are working to increase their own power, and those countries that manage to horde power </a:t>
            </a:r>
            <a:r>
              <a:rPr lang="en-US" dirty="0"/>
              <a:t>most efficiently will thrive, as they can easily eclipse the achievements of less powerful nations. The theory further states that a nation’s foremost interest should be self-preservation and that continually gaining power should always be a social, economic, and political imperative.</a:t>
            </a:r>
          </a:p>
          <a:p>
            <a:endParaRPr lang="en-US" dirty="0"/>
          </a:p>
        </p:txBody>
      </p:sp>
    </p:spTree>
    <p:extLst>
      <p:ext uri="{BB962C8B-B14F-4D97-AF65-F5344CB8AC3E}">
        <p14:creationId xmlns:p14="http://schemas.microsoft.com/office/powerpoint/2010/main" val="11908113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a:t>Liberalism</a:t>
            </a:r>
            <a:br>
              <a:rPr lang="en-US" b="1" dirty="0"/>
            </a:br>
            <a:endParaRPr lang="en-US" dirty="0"/>
          </a:p>
        </p:txBody>
      </p:sp>
      <p:sp>
        <p:nvSpPr>
          <p:cNvPr id="3" name="Content Placeholder 2"/>
          <p:cNvSpPr>
            <a:spLocks noGrp="1"/>
          </p:cNvSpPr>
          <p:nvPr>
            <p:ph idx="1"/>
          </p:nvPr>
        </p:nvSpPr>
        <p:spPr>
          <a:xfrm>
            <a:off x="304800" y="685800"/>
            <a:ext cx="8534400" cy="5791200"/>
          </a:xfrm>
        </p:spPr>
        <p:txBody>
          <a:bodyPr>
            <a:normAutofit/>
          </a:bodyPr>
          <a:lstStyle/>
          <a:p>
            <a:pPr algn="just"/>
            <a:r>
              <a:rPr lang="en-US" dirty="0" smtClean="0"/>
              <a:t>Also </a:t>
            </a:r>
            <a:r>
              <a:rPr lang="en-US" dirty="0"/>
              <a:t>called “liberal internationalism,” </a:t>
            </a:r>
            <a:r>
              <a:rPr lang="en-US" dirty="0">
                <a:solidFill>
                  <a:srgbClr val="FF0000"/>
                </a:solidFill>
              </a:rPr>
              <a:t>liberalism is based on the belief that the current global system is capable of engendering a peaceful world order.</a:t>
            </a:r>
            <a:r>
              <a:rPr lang="en-US" dirty="0"/>
              <a:t> Rather than relying on direct force, such as military action, liberalism places an emphasis on international cooperation as a means of furthering each nation’s respective interests. Liberalists believe that the negative consequences of force—such as economic losses and civilian casualties—far exceed its potential benefits. </a:t>
            </a:r>
            <a:endParaRPr lang="en-US" dirty="0" smtClean="0"/>
          </a:p>
          <a:p>
            <a:endParaRPr lang="en-US" dirty="0"/>
          </a:p>
        </p:txBody>
      </p:sp>
    </p:spTree>
    <p:extLst>
      <p:ext uri="{BB962C8B-B14F-4D97-AF65-F5344CB8AC3E}">
        <p14:creationId xmlns:p14="http://schemas.microsoft.com/office/powerpoint/2010/main" val="29025523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Therefore, liberal politicians generally prefer the use of economic and social power in achieving their national goals (for instance, obtaining the agreement of a neighboring country to help secure a border). </a:t>
            </a:r>
            <a:endParaRPr lang="en-US" dirty="0" smtClean="0"/>
          </a:p>
          <a:p>
            <a:r>
              <a:rPr lang="en-US" dirty="0" smtClean="0"/>
              <a:t>In </a:t>
            </a:r>
            <a:r>
              <a:rPr lang="en-US" dirty="0"/>
              <a:t>today’s globalized society, using economic tactics—such as bilateral trade agreements and international diplomacy—can be more effective in advancing political interests than threatening force. </a:t>
            </a:r>
          </a:p>
          <a:p>
            <a:endParaRPr lang="en-US" dirty="0"/>
          </a:p>
        </p:txBody>
      </p:sp>
    </p:spTree>
    <p:extLst>
      <p:ext uri="{BB962C8B-B14F-4D97-AF65-F5344CB8AC3E}">
        <p14:creationId xmlns:p14="http://schemas.microsoft.com/office/powerpoint/2010/main" val="406315449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1"/>
            <a:ext cx="8534400" cy="4495800"/>
          </a:xfrm>
        </p:spPr>
        <p:txBody>
          <a:bodyPr>
            <a:normAutofit/>
          </a:bodyPr>
          <a:lstStyle/>
          <a:p>
            <a:r>
              <a:rPr lang="en-US" dirty="0" smtClean="0">
                <a:solidFill>
                  <a:srgbClr val="FF0000"/>
                </a:solidFill>
              </a:rPr>
              <a:t>`</a:t>
            </a:r>
            <a:r>
              <a:rPr lang="en-US" dirty="0" smtClean="0"/>
              <a:t> </a:t>
            </a:r>
            <a:r>
              <a:rPr lang="en-US" dirty="0"/>
              <a:t>It can be argued that the liberalist tradition, perpetuated by the United States, has become the dominant system in international relations, with established values and international institutions in place to regulate this order</a:t>
            </a:r>
          </a:p>
          <a:p>
            <a:endParaRPr lang="en-US" dirty="0"/>
          </a:p>
        </p:txBody>
      </p:sp>
    </p:spTree>
    <p:extLst>
      <p:ext uri="{BB962C8B-B14F-4D97-AF65-F5344CB8AC3E}">
        <p14:creationId xmlns:p14="http://schemas.microsoft.com/office/powerpoint/2010/main" val="38327750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8077200" cy="563562"/>
          </a:xfrm>
        </p:spPr>
        <p:txBody>
          <a:bodyPr>
            <a:normAutofit fontScale="90000"/>
          </a:bodyPr>
          <a:lstStyle/>
          <a:p>
            <a:r>
              <a:rPr lang="en-US" b="1" dirty="0"/>
              <a:t>Regional integration </a:t>
            </a:r>
            <a:r>
              <a:rPr lang="en-US" dirty="0"/>
              <a:t/>
            </a:r>
            <a:br>
              <a:rPr lang="en-US" dirty="0"/>
            </a:br>
            <a:endParaRPr lang="en-US" dirty="0"/>
          </a:p>
        </p:txBody>
      </p:sp>
      <p:sp>
        <p:nvSpPr>
          <p:cNvPr id="3" name="Content Placeholder 2"/>
          <p:cNvSpPr>
            <a:spLocks noGrp="1"/>
          </p:cNvSpPr>
          <p:nvPr>
            <p:ph idx="1"/>
          </p:nvPr>
        </p:nvSpPr>
        <p:spPr>
          <a:xfrm>
            <a:off x="609600" y="838200"/>
            <a:ext cx="8077200" cy="5287963"/>
          </a:xfrm>
        </p:spPr>
        <p:txBody>
          <a:bodyPr/>
          <a:lstStyle/>
          <a:p>
            <a:r>
              <a:rPr lang="en-US" dirty="0" smtClean="0"/>
              <a:t>Defined </a:t>
            </a:r>
            <a:r>
              <a:rPr lang="en-US" dirty="0"/>
              <a:t>as a grouping of three or more states whose goal is the formation of a distinct political </a:t>
            </a:r>
            <a:r>
              <a:rPr lang="en-US" dirty="0" smtClean="0"/>
              <a:t>entity</a:t>
            </a:r>
          </a:p>
          <a:p>
            <a:r>
              <a:rPr lang="en-US" dirty="0" smtClean="0"/>
              <a:t> </a:t>
            </a:r>
            <a:r>
              <a:rPr lang="en-US" dirty="0"/>
              <a:t>A regional arrangements voluntary association of sovereign states that have developed fairly elaborate organization tools among them some bond of unity.</a:t>
            </a:r>
          </a:p>
          <a:p>
            <a:endParaRPr lang="en-US" dirty="0"/>
          </a:p>
        </p:txBody>
      </p:sp>
    </p:spTree>
    <p:extLst>
      <p:ext uri="{BB962C8B-B14F-4D97-AF65-F5344CB8AC3E}">
        <p14:creationId xmlns:p14="http://schemas.microsoft.com/office/powerpoint/2010/main" val="10188654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sz="3200" b="1" dirty="0"/>
              <a:t>Regional integration can be defined along three dimensions:</a:t>
            </a:r>
            <a:r>
              <a:rPr lang="en-US" sz="3200" dirty="0"/>
              <a:t/>
            </a:r>
            <a:br>
              <a:rPr lang="en-US" sz="3200" dirty="0"/>
            </a:br>
            <a:endParaRPr lang="en-US" sz="3200" dirty="0"/>
          </a:p>
        </p:txBody>
      </p:sp>
      <p:sp>
        <p:nvSpPr>
          <p:cNvPr id="3" name="Content Placeholder 2"/>
          <p:cNvSpPr>
            <a:spLocks noGrp="1"/>
          </p:cNvSpPr>
          <p:nvPr>
            <p:ph idx="1"/>
          </p:nvPr>
        </p:nvSpPr>
        <p:spPr>
          <a:xfrm>
            <a:off x="457200" y="1143000"/>
            <a:ext cx="8229600" cy="4983163"/>
          </a:xfrm>
        </p:spPr>
        <p:txBody>
          <a:bodyPr>
            <a:normAutofit fontScale="92500"/>
          </a:bodyPr>
          <a:lstStyle/>
          <a:p>
            <a:pPr lvl="0"/>
            <a:r>
              <a:rPr lang="en-US" b="1" dirty="0" smtClean="0">
                <a:solidFill>
                  <a:srgbClr val="FF0000"/>
                </a:solidFill>
              </a:rPr>
              <a:t>Geographic </a:t>
            </a:r>
            <a:r>
              <a:rPr lang="en-US" b="1" dirty="0">
                <a:solidFill>
                  <a:srgbClr val="FF0000"/>
                </a:solidFill>
              </a:rPr>
              <a:t>scope</a:t>
            </a:r>
            <a:r>
              <a:rPr lang="en-US" dirty="0">
                <a:solidFill>
                  <a:srgbClr val="FF0000"/>
                </a:solidFill>
              </a:rPr>
              <a:t> </a:t>
            </a:r>
            <a:r>
              <a:rPr lang="en-US" b="1" dirty="0">
                <a:solidFill>
                  <a:srgbClr val="FF0000"/>
                </a:solidFill>
              </a:rPr>
              <a:t>integration</a:t>
            </a:r>
            <a:r>
              <a:rPr lang="en-US" dirty="0">
                <a:solidFill>
                  <a:srgbClr val="FF0000"/>
                </a:solidFill>
              </a:rPr>
              <a:t> </a:t>
            </a:r>
            <a:r>
              <a:rPr lang="en-US" dirty="0"/>
              <a:t>illustrating the number of countries involved in an arrangement </a:t>
            </a:r>
            <a:r>
              <a:rPr lang="en-US" dirty="0" err="1"/>
              <a:t>eg</a:t>
            </a:r>
            <a:r>
              <a:rPr lang="en-US" dirty="0"/>
              <a:t>; SADC, </a:t>
            </a:r>
            <a:r>
              <a:rPr lang="en-US" dirty="0" smtClean="0"/>
              <a:t>EAC,AU </a:t>
            </a:r>
            <a:r>
              <a:rPr lang="en-US" dirty="0"/>
              <a:t>etc</a:t>
            </a:r>
            <a:r>
              <a:rPr lang="en-US" dirty="0" smtClean="0"/>
              <a:t>.</a:t>
            </a:r>
          </a:p>
          <a:p>
            <a:pPr lvl="0"/>
            <a:r>
              <a:rPr lang="en-US" dirty="0" smtClean="0">
                <a:solidFill>
                  <a:srgbClr val="FF0000"/>
                </a:solidFill>
              </a:rPr>
              <a:t> </a:t>
            </a:r>
            <a:r>
              <a:rPr lang="en-US" b="1" dirty="0">
                <a:solidFill>
                  <a:srgbClr val="FF0000"/>
                </a:solidFill>
              </a:rPr>
              <a:t>Substantive coverage or width that is the sector or activity coverage integration</a:t>
            </a:r>
            <a:r>
              <a:rPr lang="en-US" dirty="0">
                <a:solidFill>
                  <a:srgbClr val="FF0000"/>
                </a:solidFill>
              </a:rPr>
              <a:t> </a:t>
            </a:r>
            <a:r>
              <a:rPr lang="en-US" dirty="0"/>
              <a:t>(trade, labor mobility, macro-policies, sector policies, etc.), and</a:t>
            </a:r>
          </a:p>
          <a:p>
            <a:pPr lvl="0"/>
            <a:r>
              <a:rPr lang="en-US" b="1" dirty="0">
                <a:solidFill>
                  <a:srgbClr val="FF0000"/>
                </a:solidFill>
              </a:rPr>
              <a:t>Depth of integration</a:t>
            </a:r>
            <a:r>
              <a:rPr lang="en-US" dirty="0">
                <a:solidFill>
                  <a:srgbClr val="FF0000"/>
                </a:solidFill>
              </a:rPr>
              <a:t> </a:t>
            </a:r>
            <a:r>
              <a:rPr lang="en-US" dirty="0"/>
              <a:t>measure the degree of sovereignty a country is ready to surrender, that is from simple coordination or cooperation to deep integration.</a:t>
            </a:r>
          </a:p>
          <a:p>
            <a:endParaRPr lang="en-US" dirty="0"/>
          </a:p>
        </p:txBody>
      </p:sp>
    </p:spTree>
    <p:extLst>
      <p:ext uri="{BB962C8B-B14F-4D97-AF65-F5344CB8AC3E}">
        <p14:creationId xmlns:p14="http://schemas.microsoft.com/office/powerpoint/2010/main" val="58082521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8077200" cy="334962"/>
          </a:xfrm>
        </p:spPr>
        <p:txBody>
          <a:bodyPr>
            <a:noAutofit/>
          </a:bodyPr>
          <a:lstStyle/>
          <a:p>
            <a:r>
              <a:rPr lang="en-US" sz="3200" dirty="0"/>
              <a:t>Foreign policy </a:t>
            </a:r>
          </a:p>
        </p:txBody>
      </p:sp>
      <p:sp>
        <p:nvSpPr>
          <p:cNvPr id="3" name="Content Placeholder 2"/>
          <p:cNvSpPr>
            <a:spLocks noGrp="1"/>
          </p:cNvSpPr>
          <p:nvPr>
            <p:ph idx="1"/>
          </p:nvPr>
        </p:nvSpPr>
        <p:spPr>
          <a:xfrm>
            <a:off x="609600" y="838200"/>
            <a:ext cx="8077200" cy="5867400"/>
          </a:xfrm>
        </p:spPr>
        <p:txBody>
          <a:bodyPr>
            <a:normAutofit fontScale="92500"/>
          </a:bodyPr>
          <a:lstStyle/>
          <a:p>
            <a:r>
              <a:rPr lang="en-US" dirty="0" smtClean="0"/>
              <a:t>FP; Consist of decision and action which involves to some appreciable extent relation between State and others. </a:t>
            </a:r>
            <a:r>
              <a:rPr lang="en-US" i="1" dirty="0" smtClean="0">
                <a:solidFill>
                  <a:srgbClr val="FF0000"/>
                </a:solidFill>
              </a:rPr>
              <a:t>(Prof. Joseph </a:t>
            </a:r>
            <a:r>
              <a:rPr lang="en-US" i="1" dirty="0" err="1" smtClean="0">
                <a:solidFill>
                  <a:srgbClr val="FF0000"/>
                </a:solidFill>
              </a:rPr>
              <a:t>Framkel</a:t>
            </a:r>
            <a:r>
              <a:rPr lang="en-US" i="1" dirty="0" smtClean="0">
                <a:solidFill>
                  <a:srgbClr val="FF0000"/>
                </a:solidFill>
              </a:rPr>
              <a:t>)</a:t>
            </a:r>
            <a:endParaRPr lang="en-US" i="1" dirty="0">
              <a:solidFill>
                <a:srgbClr val="FF0000"/>
              </a:solidFill>
            </a:endParaRPr>
          </a:p>
          <a:p>
            <a:pPr algn="just"/>
            <a:r>
              <a:rPr lang="en-US" i="1" dirty="0" smtClean="0">
                <a:solidFill>
                  <a:srgbClr val="FF0000"/>
                </a:solidFill>
              </a:rPr>
              <a:t>According to </a:t>
            </a:r>
            <a:r>
              <a:rPr lang="en-US" i="1" dirty="0" err="1" smtClean="0">
                <a:solidFill>
                  <a:srgbClr val="FF0000"/>
                </a:solidFill>
              </a:rPr>
              <a:t>Rodee</a:t>
            </a:r>
            <a:r>
              <a:rPr lang="en-US" i="1" dirty="0" smtClean="0">
                <a:solidFill>
                  <a:srgbClr val="FF0000"/>
                </a:solidFill>
              </a:rPr>
              <a:t>; </a:t>
            </a:r>
            <a:r>
              <a:rPr lang="en-US" dirty="0" smtClean="0"/>
              <a:t>FP involves the implementation of  group principles which shapes the behavior pattern of a State which negotiating with others States to protect or further its interest. </a:t>
            </a:r>
            <a:endParaRPr lang="en-US" dirty="0"/>
          </a:p>
          <a:p>
            <a:pPr marL="0" indent="0" algn="just">
              <a:buNone/>
            </a:pPr>
            <a:r>
              <a:rPr lang="en-US" dirty="0" smtClean="0">
                <a:solidFill>
                  <a:srgbClr val="FF0000"/>
                </a:solidFill>
              </a:rPr>
              <a:t>is </a:t>
            </a:r>
            <a:r>
              <a:rPr lang="en-US" dirty="0">
                <a:solidFill>
                  <a:srgbClr val="FF0000"/>
                </a:solidFill>
              </a:rPr>
              <a:t>a nation’s protocol for making </a:t>
            </a:r>
            <a:r>
              <a:rPr lang="en-US" dirty="0" smtClean="0">
                <a:solidFill>
                  <a:srgbClr val="FF0000"/>
                </a:solidFill>
              </a:rPr>
              <a:t>and maintaining </a:t>
            </a:r>
            <a:r>
              <a:rPr lang="en-US" dirty="0">
                <a:solidFill>
                  <a:srgbClr val="FF0000"/>
                </a:solidFill>
              </a:rPr>
              <a:t>relations </a:t>
            </a:r>
            <a:r>
              <a:rPr lang="en-US" dirty="0" smtClean="0">
                <a:solidFill>
                  <a:srgbClr val="FF0000"/>
                </a:solidFill>
              </a:rPr>
              <a:t>with foreign </a:t>
            </a:r>
            <a:r>
              <a:rPr lang="en-US" dirty="0">
                <a:solidFill>
                  <a:srgbClr val="FF0000"/>
                </a:solidFill>
              </a:rPr>
              <a:t>countries. Refers to the nation’s international goals and its strategies </a:t>
            </a:r>
            <a:r>
              <a:rPr lang="en-US" dirty="0" smtClean="0">
                <a:solidFill>
                  <a:srgbClr val="FF0000"/>
                </a:solidFill>
              </a:rPr>
              <a:t>to achieve </a:t>
            </a:r>
            <a:r>
              <a:rPr lang="en-US">
                <a:solidFill>
                  <a:srgbClr val="FF0000"/>
                </a:solidFill>
              </a:rPr>
              <a:t>those </a:t>
            </a:r>
            <a:r>
              <a:rPr lang="en-US" smtClean="0">
                <a:solidFill>
                  <a:srgbClr val="FF0000"/>
                </a:solidFill>
              </a:rPr>
              <a:t>goals.</a:t>
            </a:r>
            <a:endParaRPr lang="en-US" dirty="0" smtClean="0">
              <a:solidFill>
                <a:srgbClr val="FF0000"/>
              </a:solidFill>
            </a:endParaRPr>
          </a:p>
          <a:p>
            <a:endParaRPr lang="en-US" dirty="0"/>
          </a:p>
        </p:txBody>
      </p:sp>
    </p:spTree>
    <p:extLst>
      <p:ext uri="{BB962C8B-B14F-4D97-AF65-F5344CB8AC3E}">
        <p14:creationId xmlns:p14="http://schemas.microsoft.com/office/powerpoint/2010/main" val="22272290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GOALS Foreign Policy</a:t>
            </a:r>
          </a:p>
        </p:txBody>
      </p:sp>
      <p:sp>
        <p:nvSpPr>
          <p:cNvPr id="3" name="Content Placeholder 2"/>
          <p:cNvSpPr>
            <a:spLocks noGrp="1"/>
          </p:cNvSpPr>
          <p:nvPr>
            <p:ph idx="1"/>
          </p:nvPr>
        </p:nvSpPr>
        <p:spPr>
          <a:xfrm>
            <a:off x="457200" y="1417638"/>
            <a:ext cx="8229600" cy="4708525"/>
          </a:xfrm>
        </p:spPr>
        <p:txBody>
          <a:bodyPr/>
          <a:lstStyle/>
          <a:p>
            <a:pPr marL="0" indent="0">
              <a:lnSpc>
                <a:spcPct val="150000"/>
              </a:lnSpc>
              <a:buNone/>
            </a:pPr>
            <a:r>
              <a:rPr lang="en-US" dirty="0"/>
              <a:t/>
            </a:r>
            <a:br>
              <a:rPr lang="en-US" dirty="0"/>
            </a:br>
            <a:r>
              <a:rPr lang="en-US" dirty="0"/>
              <a:t>1. National Security</a:t>
            </a:r>
            <a:br>
              <a:rPr lang="en-US" dirty="0"/>
            </a:br>
            <a:r>
              <a:rPr lang="en-US" dirty="0"/>
              <a:t>2. Establishing free and open trade</a:t>
            </a:r>
            <a:br>
              <a:rPr lang="en-US" dirty="0"/>
            </a:br>
            <a:r>
              <a:rPr lang="en-US" dirty="0"/>
              <a:t>3. Establishing world peace</a:t>
            </a:r>
            <a:br>
              <a:rPr lang="en-US" dirty="0"/>
            </a:br>
            <a:r>
              <a:rPr lang="en-US" dirty="0"/>
              <a:t>4. Supporting </a:t>
            </a:r>
            <a:r>
              <a:rPr lang="en-US" dirty="0" smtClean="0"/>
              <a:t>democracy around the world</a:t>
            </a:r>
            <a:r>
              <a:rPr lang="en-US" dirty="0"/>
              <a:t/>
            </a:r>
            <a:br>
              <a:rPr lang="en-US" dirty="0"/>
            </a:br>
            <a:r>
              <a:rPr lang="en-US" dirty="0"/>
              <a:t>5. Providing aid to people in need</a:t>
            </a:r>
          </a:p>
        </p:txBody>
      </p:sp>
    </p:spTree>
    <p:extLst>
      <p:ext uri="{BB962C8B-B14F-4D97-AF65-F5344CB8AC3E}">
        <p14:creationId xmlns:p14="http://schemas.microsoft.com/office/powerpoint/2010/main" val="41949956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IR and FP connected</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Protects unity and integrity of the country</a:t>
            </a:r>
          </a:p>
          <a:p>
            <a:pPr marL="514350" indent="-514350">
              <a:buFont typeface="+mj-lt"/>
              <a:buAutoNum type="arabicPeriod"/>
            </a:pPr>
            <a:r>
              <a:rPr lang="en-US" dirty="0" smtClean="0"/>
              <a:t>Defends the interest of the citizen</a:t>
            </a:r>
          </a:p>
          <a:p>
            <a:pPr marL="514350" indent="-514350">
              <a:buFont typeface="+mj-lt"/>
              <a:buAutoNum type="arabicPeriod"/>
            </a:pPr>
            <a:r>
              <a:rPr lang="en-US" dirty="0" smtClean="0"/>
              <a:t>Maintaining contacts and develop good relationship with other state</a:t>
            </a:r>
          </a:p>
          <a:p>
            <a:pPr marL="514350" indent="-514350">
              <a:buFont typeface="+mj-lt"/>
              <a:buAutoNum type="arabicPeriod"/>
            </a:pPr>
            <a:r>
              <a:rPr lang="en-US" dirty="0" smtClean="0"/>
              <a:t>Keeping the state safe and secure</a:t>
            </a:r>
            <a:endParaRPr lang="en-US" dirty="0"/>
          </a:p>
        </p:txBody>
      </p:sp>
    </p:spTree>
    <p:extLst>
      <p:ext uri="{BB962C8B-B14F-4D97-AF65-F5344CB8AC3E}">
        <p14:creationId xmlns:p14="http://schemas.microsoft.com/office/powerpoint/2010/main" val="43421776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4638"/>
            <a:ext cx="8001000" cy="411162"/>
          </a:xfrm>
        </p:spPr>
        <p:txBody>
          <a:bodyPr>
            <a:normAutofit fontScale="90000"/>
          </a:bodyPr>
          <a:lstStyle/>
          <a:p>
            <a:r>
              <a:rPr lang="en-US" sz="3200" dirty="0" smtClean="0"/>
              <a:t>DIPLOMACY</a:t>
            </a:r>
            <a:endParaRPr lang="en-US" sz="3200" dirty="0"/>
          </a:p>
        </p:txBody>
      </p:sp>
      <p:sp>
        <p:nvSpPr>
          <p:cNvPr id="3" name="Content Placeholder 2"/>
          <p:cNvSpPr>
            <a:spLocks noGrp="1"/>
          </p:cNvSpPr>
          <p:nvPr>
            <p:ph idx="1"/>
          </p:nvPr>
        </p:nvSpPr>
        <p:spPr>
          <a:xfrm>
            <a:off x="457200" y="914400"/>
            <a:ext cx="8229600" cy="5211763"/>
          </a:xfrm>
        </p:spPr>
        <p:txBody>
          <a:bodyPr/>
          <a:lstStyle/>
          <a:p>
            <a:r>
              <a:rPr lang="en-US" dirty="0" smtClean="0"/>
              <a:t>IS the process of conducting, communication among states through official recognized representative diplomacy main two works </a:t>
            </a:r>
            <a:r>
              <a:rPr lang="en-US" i="1" dirty="0" smtClean="0">
                <a:solidFill>
                  <a:srgbClr val="FF0000"/>
                </a:solidFill>
              </a:rPr>
              <a:t>negotiation and bargaining </a:t>
            </a:r>
          </a:p>
          <a:p>
            <a:r>
              <a:rPr lang="en-US" dirty="0" smtClean="0"/>
              <a:t>Negotiation the diplomat should be an excellent negotiator a catalyst for peace and understanding  between people.</a:t>
            </a:r>
          </a:p>
          <a:p>
            <a:endParaRPr lang="en-US" dirty="0"/>
          </a:p>
        </p:txBody>
      </p:sp>
      <p:pic>
        <p:nvPicPr>
          <p:cNvPr id="4"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4699914"/>
            <a:ext cx="3733800" cy="1866900"/>
          </a:xfrm>
          <a:prstGeom prst="rect">
            <a:avLst/>
          </a:prstGeom>
        </p:spPr>
      </p:pic>
      <p:pic>
        <p:nvPicPr>
          <p:cNvPr id="5" name="Content Placeholder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8624" y="4495800"/>
            <a:ext cx="3859584" cy="2570283"/>
          </a:xfrm>
          <a:prstGeom prst="rect">
            <a:avLst/>
          </a:prstGeom>
        </p:spPr>
      </p:pic>
    </p:spTree>
    <p:extLst>
      <p:ext uri="{BB962C8B-B14F-4D97-AF65-F5344CB8AC3E}">
        <p14:creationId xmlns:p14="http://schemas.microsoft.com/office/powerpoint/2010/main" val="339854063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b="1" dirty="0"/>
              <a:t>What is the value of diplomacy?</a:t>
            </a:r>
            <a:br>
              <a:rPr lang="en-US" b="1" dirty="0"/>
            </a:br>
            <a:endParaRPr lang="en-US" dirty="0"/>
          </a:p>
        </p:txBody>
      </p:sp>
      <p:sp>
        <p:nvSpPr>
          <p:cNvPr id="3" name="Content Placeholder 2"/>
          <p:cNvSpPr>
            <a:spLocks noGrp="1"/>
          </p:cNvSpPr>
          <p:nvPr>
            <p:ph idx="1"/>
          </p:nvPr>
        </p:nvSpPr>
        <p:spPr>
          <a:xfrm>
            <a:off x="457200" y="914400"/>
            <a:ext cx="8229600" cy="5211763"/>
          </a:xfrm>
        </p:spPr>
        <p:txBody>
          <a:bodyPr>
            <a:normAutofit lnSpcReduction="10000"/>
          </a:bodyPr>
          <a:lstStyle/>
          <a:p>
            <a:r>
              <a:rPr lang="en-US" dirty="0" smtClean="0"/>
              <a:t>Diplomacy </a:t>
            </a:r>
            <a:r>
              <a:rPr lang="en-US" dirty="0"/>
              <a:t>strengthens the relationships between our country and foreign countries. The art of diplomacy seeks to develop good will and </a:t>
            </a:r>
            <a:r>
              <a:rPr lang="en-US" b="1" dirty="0"/>
              <a:t>prevent</a:t>
            </a:r>
            <a:r>
              <a:rPr lang="en-US" dirty="0"/>
              <a:t> conflict and wars. It allows for nonviolent answers to the problems facing each nation. Diplomacy is highly valuable in today’s world.</a:t>
            </a:r>
          </a:p>
          <a:p>
            <a:r>
              <a:rPr lang="en-US" dirty="0" smtClean="0"/>
              <a:t>The functions </a:t>
            </a:r>
            <a:r>
              <a:rPr lang="en-US" dirty="0"/>
              <a:t>of diplomacy </a:t>
            </a:r>
            <a:r>
              <a:rPr lang="en-US" dirty="0" smtClean="0"/>
              <a:t>are </a:t>
            </a:r>
            <a:r>
              <a:rPr lang="en-US" b="1" i="1" dirty="0" smtClean="0">
                <a:solidFill>
                  <a:srgbClr val="FF0000"/>
                </a:solidFill>
              </a:rPr>
              <a:t>communication</a:t>
            </a:r>
            <a:r>
              <a:rPr lang="en-US" b="1" i="1" dirty="0">
                <a:solidFill>
                  <a:srgbClr val="FF0000"/>
                </a:solidFill>
              </a:rPr>
              <a:t>, negotiation, intelligence gathering, image management, and policy implementation</a:t>
            </a:r>
            <a:r>
              <a:rPr lang="en-US" i="1" dirty="0">
                <a:solidFill>
                  <a:srgbClr val="FF0000"/>
                </a:solidFill>
              </a:rPr>
              <a:t>.</a:t>
            </a:r>
          </a:p>
        </p:txBody>
      </p:sp>
    </p:spTree>
    <p:extLst>
      <p:ext uri="{BB962C8B-B14F-4D97-AF65-F5344CB8AC3E}">
        <p14:creationId xmlns:p14="http://schemas.microsoft.com/office/powerpoint/2010/main" val="36986469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1477962"/>
          </a:xfrm>
        </p:spPr>
        <p:txBody>
          <a:bodyPr>
            <a:normAutofit fontScale="90000"/>
          </a:bodyPr>
          <a:lstStyle/>
          <a:p>
            <a:r>
              <a:rPr lang="en-US" b="1" dirty="0"/>
              <a:t>What is the importance of diplomacy in I</a:t>
            </a:r>
            <a:r>
              <a:rPr lang="en-US" b="1" dirty="0" smtClean="0"/>
              <a:t>nternational Relations</a:t>
            </a:r>
            <a:r>
              <a:rPr lang="en-US" b="1" dirty="0"/>
              <a:t>?</a:t>
            </a:r>
            <a:br>
              <a:rPr lang="en-US" b="1" dirty="0"/>
            </a:br>
            <a:endParaRPr lang="en-US" dirty="0"/>
          </a:p>
        </p:txBody>
      </p:sp>
      <p:sp>
        <p:nvSpPr>
          <p:cNvPr id="3" name="Content Placeholder 2"/>
          <p:cNvSpPr>
            <a:spLocks noGrp="1"/>
          </p:cNvSpPr>
          <p:nvPr>
            <p:ph idx="1"/>
          </p:nvPr>
        </p:nvSpPr>
        <p:spPr>
          <a:xfrm>
            <a:off x="228600" y="1904999"/>
            <a:ext cx="8686800" cy="4191001"/>
          </a:xfrm>
        </p:spPr>
        <p:txBody>
          <a:bodyPr>
            <a:normAutofit/>
          </a:bodyPr>
          <a:lstStyle/>
          <a:p>
            <a:r>
              <a:rPr lang="en-US" dirty="0" smtClean="0"/>
              <a:t>Diplomacy </a:t>
            </a:r>
            <a:r>
              <a:rPr lang="en-US" dirty="0"/>
              <a:t>is </a:t>
            </a:r>
            <a:r>
              <a:rPr lang="en-US" b="1" dirty="0"/>
              <a:t>most importantly used to complete a specific agenda</a:t>
            </a:r>
            <a:r>
              <a:rPr lang="en-US" dirty="0"/>
              <a:t>. Therefore without diplomacy, much of the world’s affairs would be abolished, international organizations would not exist, and above all the world would be at a constant state of war. It is for diplomacy that certain countries can exist in harmony.</a:t>
            </a:r>
          </a:p>
          <a:p>
            <a:endParaRPr lang="en-US" dirty="0"/>
          </a:p>
        </p:txBody>
      </p:sp>
    </p:spTree>
    <p:extLst>
      <p:ext uri="{BB962C8B-B14F-4D97-AF65-F5344CB8AC3E}">
        <p14:creationId xmlns:p14="http://schemas.microsoft.com/office/powerpoint/2010/main" val="36604311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importance of diplomacy in international relations</a:t>
            </a:r>
            <a:r>
              <a:rPr lang="en-US" b="1" dirty="0" smtClean="0"/>
              <a:t>? CONT…</a:t>
            </a:r>
            <a:endParaRPr lang="en-US" dirty="0"/>
          </a:p>
        </p:txBody>
      </p:sp>
      <p:sp>
        <p:nvSpPr>
          <p:cNvPr id="3" name="Content Placeholder 2"/>
          <p:cNvSpPr>
            <a:spLocks noGrp="1"/>
          </p:cNvSpPr>
          <p:nvPr>
            <p:ph idx="1"/>
          </p:nvPr>
        </p:nvSpPr>
        <p:spPr/>
        <p:txBody>
          <a:bodyPr/>
          <a:lstStyle/>
          <a:p>
            <a:r>
              <a:rPr lang="en-US" dirty="0"/>
              <a:t>Diplomacy is the art and science of maintaining peaceful relationships between nations, groups, or individuals. … </a:t>
            </a:r>
            <a:r>
              <a:rPr lang="en-US" b="1" dirty="0"/>
              <a:t>Diplomats try to help their own country, encourage cooperation between nations, and maintain peace</a:t>
            </a:r>
            <a:r>
              <a:rPr lang="en-US" dirty="0"/>
              <a:t>. A group of diplomats representing one country that lives in another country is called </a:t>
            </a:r>
            <a:r>
              <a:rPr lang="en-US" i="1" dirty="0">
                <a:solidFill>
                  <a:srgbClr val="FF0000"/>
                </a:solidFill>
              </a:rPr>
              <a:t>a diplomatic mission.</a:t>
            </a:r>
          </a:p>
        </p:txBody>
      </p:sp>
    </p:spTree>
    <p:extLst>
      <p:ext uri="{BB962C8B-B14F-4D97-AF65-F5344CB8AC3E}">
        <p14:creationId xmlns:p14="http://schemas.microsoft.com/office/powerpoint/2010/main" val="25091721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1450</TotalTime>
  <Words>1146</Words>
  <Application>Microsoft Office PowerPoint</Application>
  <PresentationFormat>On-screen Show (4:3)</PresentationFormat>
  <Paragraphs>67</Paragraphs>
  <Slides>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Lecture on  international relation </vt:lpstr>
      <vt:lpstr>NATION</vt:lpstr>
      <vt:lpstr>STATE</vt:lpstr>
      <vt:lpstr> Key features of state </vt:lpstr>
      <vt:lpstr>PowerPoint Presentation</vt:lpstr>
      <vt:lpstr>International relation  </vt:lpstr>
      <vt:lpstr>Main spheres of international relations; </vt:lpstr>
      <vt:lpstr>The key players in international relation  </vt:lpstr>
      <vt:lpstr>Theories of International Relations</vt:lpstr>
      <vt:lpstr>Theories of International Relations Cont..</vt:lpstr>
      <vt:lpstr>Realism in International Relations </vt:lpstr>
      <vt:lpstr>Liberalism </vt:lpstr>
      <vt:lpstr>PowerPoint Presentation</vt:lpstr>
      <vt:lpstr>PowerPoint Presentation</vt:lpstr>
      <vt:lpstr>Regional integration  </vt:lpstr>
      <vt:lpstr>Regional integration can be defined along three dimensions: </vt:lpstr>
      <vt:lpstr>Foreign policy </vt:lpstr>
      <vt:lpstr>GOALS Foreign Policy</vt:lpstr>
      <vt:lpstr>How IR and FP connected</vt:lpstr>
      <vt:lpstr>DIPLOMACY</vt:lpstr>
      <vt:lpstr>What is the value of diplomacy? </vt:lpstr>
      <vt:lpstr>What is the importance of diplomacy in International Relations? </vt:lpstr>
      <vt:lpstr>importance of diplomacy in international relations? CONT…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Demography and Population Studies (RD 203)</dc:title>
  <dc:creator>Halima</dc:creator>
  <cp:lastModifiedBy>dell</cp:lastModifiedBy>
  <cp:revision>77</cp:revision>
  <dcterms:created xsi:type="dcterms:W3CDTF">2015-03-25T10:24:29Z</dcterms:created>
  <dcterms:modified xsi:type="dcterms:W3CDTF">2022-02-02T16:38:00Z</dcterms:modified>
</cp:coreProperties>
</file>