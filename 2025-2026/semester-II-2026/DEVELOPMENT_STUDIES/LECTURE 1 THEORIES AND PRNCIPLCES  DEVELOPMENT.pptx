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85"/>
  </p:handoutMasterIdLst>
  <p:sldIdLst>
    <p:sldId id="547" r:id="rId3"/>
    <p:sldId id="549" r:id="rId5"/>
    <p:sldId id="653" r:id="rId6"/>
    <p:sldId id="655" r:id="rId7"/>
    <p:sldId id="654" r:id="rId8"/>
    <p:sldId id="656" r:id="rId9"/>
    <p:sldId id="298" r:id="rId10"/>
    <p:sldId id="304" r:id="rId11"/>
    <p:sldId id="707" r:id="rId12"/>
    <p:sldId id="306" r:id="rId13"/>
    <p:sldId id="299" r:id="rId14"/>
    <p:sldId id="300" r:id="rId15"/>
    <p:sldId id="629" r:id="rId16"/>
    <p:sldId id="631" r:id="rId17"/>
    <p:sldId id="554" r:id="rId18"/>
    <p:sldId id="302" r:id="rId19"/>
    <p:sldId id="627" r:id="rId20"/>
    <p:sldId id="556" r:id="rId21"/>
    <p:sldId id="557" r:id="rId22"/>
    <p:sldId id="623" r:id="rId23"/>
    <p:sldId id="624" r:id="rId24"/>
    <p:sldId id="626" r:id="rId25"/>
    <p:sldId id="658" r:id="rId26"/>
    <p:sldId id="659" r:id="rId27"/>
    <p:sldId id="560" r:id="rId28"/>
    <p:sldId id="561" r:id="rId29"/>
    <p:sldId id="562" r:id="rId30"/>
    <p:sldId id="660" r:id="rId31"/>
    <p:sldId id="661" r:id="rId32"/>
    <p:sldId id="662" r:id="rId33"/>
    <p:sldId id="564" r:id="rId34"/>
    <p:sldId id="565" r:id="rId35"/>
    <p:sldId id="644" r:id="rId36"/>
    <p:sldId id="628" r:id="rId37"/>
    <p:sldId id="632" r:id="rId38"/>
    <p:sldId id="633" r:id="rId39"/>
    <p:sldId id="634" r:id="rId40"/>
    <p:sldId id="641" r:id="rId41"/>
    <p:sldId id="643" r:id="rId42"/>
    <p:sldId id="635" r:id="rId43"/>
    <p:sldId id="636" r:id="rId44"/>
    <p:sldId id="640" r:id="rId45"/>
    <p:sldId id="646" r:id="rId46"/>
    <p:sldId id="647" r:id="rId47"/>
    <p:sldId id="648" r:id="rId48"/>
    <p:sldId id="649" r:id="rId49"/>
    <p:sldId id="650" r:id="rId50"/>
    <p:sldId id="664" r:id="rId51"/>
    <p:sldId id="665" r:id="rId52"/>
    <p:sldId id="667" r:id="rId53"/>
    <p:sldId id="668" r:id="rId54"/>
    <p:sldId id="669" r:id="rId55"/>
    <p:sldId id="670" r:id="rId56"/>
    <p:sldId id="706" r:id="rId57"/>
    <p:sldId id="672" r:id="rId58"/>
    <p:sldId id="674" r:id="rId59"/>
    <p:sldId id="675" r:id="rId60"/>
    <p:sldId id="676" r:id="rId61"/>
    <p:sldId id="677" r:id="rId62"/>
    <p:sldId id="678" r:id="rId63"/>
    <p:sldId id="679" r:id="rId64"/>
    <p:sldId id="680" r:id="rId65"/>
    <p:sldId id="681" r:id="rId66"/>
    <p:sldId id="682" r:id="rId67"/>
    <p:sldId id="683" r:id="rId68"/>
    <p:sldId id="684" r:id="rId69"/>
    <p:sldId id="685" r:id="rId70"/>
    <p:sldId id="686" r:id="rId71"/>
    <p:sldId id="687" r:id="rId72"/>
    <p:sldId id="688" r:id="rId73"/>
    <p:sldId id="689" r:id="rId74"/>
    <p:sldId id="690" r:id="rId75"/>
    <p:sldId id="691" r:id="rId76"/>
    <p:sldId id="698" r:id="rId77"/>
    <p:sldId id="699" r:id="rId78"/>
    <p:sldId id="700" r:id="rId79"/>
    <p:sldId id="701" r:id="rId80"/>
    <p:sldId id="702" r:id="rId81"/>
    <p:sldId id="703" r:id="rId82"/>
    <p:sldId id="704" r:id="rId83"/>
    <p:sldId id="705" r:id="rId84"/>
  </p:sldIdLst>
  <p:sldSz cx="9144000" cy="6858000" type="screen4x3"/>
  <p:notesSz cx="6955155" cy="93091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70"/>
    <p:restoredTop sz="94660"/>
  </p:normalViewPr>
  <p:slideViewPr>
    <p:cSldViewPr showGuides="1">
      <p:cViewPr varScale="1">
        <p:scale>
          <a:sx n="70" d="100"/>
          <a:sy n="70" d="100"/>
        </p:scale>
        <p:origin x="140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handoutMaster" Target="handoutMasters/handoutMaster1.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2818" name="Rectangle 2"/>
          <p:cNvSpPr>
            <a:spLocks noGrp="1" noChangeArrowheads="1"/>
          </p:cNvSpPr>
          <p:nvPr>
            <p:ph type="hdr" sz="quarter"/>
          </p:nvPr>
        </p:nvSpPr>
        <p:spPr bwMode="auto">
          <a:xfrm>
            <a:off x="0" y="0"/>
            <a:ext cx="3013075" cy="465138"/>
          </a:xfrm>
          <a:prstGeom prst="rect">
            <a:avLst/>
          </a:prstGeom>
          <a:noFill/>
          <a:ln w="9525">
            <a:noFill/>
            <a:miter lim="800000"/>
          </a:ln>
          <a:effectLst/>
        </p:spPr>
        <p:txBody>
          <a:bodyPr vert="horz" wrap="square" lIns="92930" tIns="46465" rIns="92930" bIns="46465" numCol="1" anchor="t" anchorCtr="0" compatLnSpc="1"/>
          <a:lstStyle>
            <a:lvl1pPr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62819" name="Rectangle 3"/>
          <p:cNvSpPr>
            <a:spLocks noGrp="1" noChangeArrowheads="1"/>
          </p:cNvSpPr>
          <p:nvPr>
            <p:ph type="dt" sz="quarter" idx="1"/>
          </p:nvPr>
        </p:nvSpPr>
        <p:spPr bwMode="auto">
          <a:xfrm>
            <a:off x="3940175" y="0"/>
            <a:ext cx="3013075" cy="465138"/>
          </a:xfrm>
          <a:prstGeom prst="rect">
            <a:avLst/>
          </a:prstGeom>
          <a:noFill/>
          <a:ln w="9525">
            <a:noFill/>
            <a:miter lim="800000"/>
          </a:ln>
          <a:effectLst/>
        </p:spPr>
        <p:txBody>
          <a:bodyPr vert="horz" wrap="square" lIns="92930" tIns="46465" rIns="92930" bIns="46465" numCol="1" anchor="t" anchorCtr="0" compatLnSpc="1"/>
          <a:lstStyle>
            <a:lvl1pPr algn="r" eaLnBrk="0" hangingPunct="0">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E0253F11-9E0A-4377-8DF4-133D03234FC9}"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62820" name="Rectangle 4"/>
          <p:cNvSpPr>
            <a:spLocks noGrp="1" noChangeArrowheads="1"/>
          </p:cNvSpPr>
          <p:nvPr>
            <p:ph type="ftr" sz="quarter" idx="2"/>
          </p:nvPr>
        </p:nvSpPr>
        <p:spPr bwMode="auto">
          <a:xfrm>
            <a:off x="0" y="8842375"/>
            <a:ext cx="3013075" cy="465138"/>
          </a:xfrm>
          <a:prstGeom prst="rect">
            <a:avLst/>
          </a:prstGeom>
          <a:noFill/>
          <a:ln w="9525">
            <a:noFill/>
            <a:miter lim="800000"/>
          </a:ln>
          <a:effectLst/>
        </p:spPr>
        <p:txBody>
          <a:bodyPr vert="horz" wrap="square" lIns="92930" tIns="46465" rIns="92930" bIns="46465" numCol="1" anchor="b" anchorCtr="0" compatLnSpc="1"/>
          <a:lstStyle>
            <a:lvl1pPr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62821" name="Rectangle 5"/>
          <p:cNvSpPr>
            <a:spLocks noGrp="1" noChangeArrowheads="1"/>
          </p:cNvSpPr>
          <p:nvPr>
            <p:ph type="sldNum" sz="quarter" idx="3"/>
          </p:nvPr>
        </p:nvSpPr>
        <p:spPr bwMode="auto">
          <a:xfrm>
            <a:off x="3940175" y="8842375"/>
            <a:ext cx="3013075" cy="465138"/>
          </a:xfrm>
          <a:prstGeom prst="rect">
            <a:avLst/>
          </a:prstGeom>
          <a:noFill/>
          <a:ln w="9525">
            <a:noFill/>
            <a:miter lim="800000"/>
          </a:ln>
          <a:effectLst/>
        </p:spPr>
        <p:txBody>
          <a:bodyPr vert="horz" wrap="square" lIns="92930" tIns="46465" rIns="92930" bIns="46465" numCol="1" anchor="b" anchorCtr="0" compatLnSpc="1"/>
          <a:lstStyle>
            <a:lvl1pPr algn="r" eaLnBrk="0" hangingPunct="0">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FF97E32F-2D27-4FE7-88FF-582B52BDF1DD}" type="slidenum">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2:30"/>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0.000 65.000,'26.000'0.000,"-26.000"-25.000,53.000 25.000,-27.000 0.000,27.000 0.000,0.000 0.000,0.000 0.000,0.000 0.000,0.000 0.000,26.000 0.000,1.000 0.000,26.000 0.000,-1.000 50.000,54.000-25.000,-27.000 26.000,-52.000-27.000,-1.000 2.000,1.000-1.000,-54.000-25.000,27.000 26.000,0.000-2.000,0.000 2.000,26.000-1.000,1.000 0.000,-28.000 0.000,1.000-25.000,0.000 0.000,27.000 0.000,52.000-25.000,0.000 0.000,1.000 0.000,-1.000-1.000,0.000 2.000,-26.000-2.000,-27.000 1.000,54.000-1.000,-28.000 2.000,1.000-1.000,-27.000-26.000,-26.000 51.000,0.000 0.000,-27.000-25.000,27.000 0.000,-27.000-1.000,1.000 26.000,-1.000 0.000,1.000 0.000,-27.000 0.000,53.000 0.000,-27.000 0.000,1.000 0.000,25.000 0.000,28.000 0.000,-1.000 0.000,54.000 26.000,-1.000 24.000,0.000-25.000,-26.000 26.000,-27.000-51.000,-26.000 24.000,-53.000-24.000,27.000 0.000,-1.000 0.000,1.000 0.000,-1.000 0.000,1.000 0.000,-1.000 0.000,-26.000 0.000,26.000 0.000,1.000 0.000,-1.000 0.000,-26.000 0.000,27.000 0.000,26.000-24.000,-53.000 24.000,53.000 0.000,-27.000 0.000,-26.000 0.000,27.000 0.000,25.000-25.000,-52.000 25.000,27.000 0.000,26.000 0.000,0.000-26.000,0.000 1.000,0.000 25.000,26.000 0.000,53.000 0.000,-26.000 0.000,-27.000 0.000,-52.000 25.000,26.000-25.000,-53.000 26.000,26.000-1.000,27.000-25.000,-53.000 0.000,27.000 24.000,-1.000 2.000,1.000-26.000,26.000 0.000,-27.000 0.000,-26.000 0.000,26.000 0.000,1.000 0.000,-1.000 0.000,1.000-26.000,-1.000 26.000,1.000-24.000,-27.000 24.000,0.000 0.000,26.000 0.000,27.000-25.000,-53.000 25.000,27.000-26.000,-1.000 26.000</inkml:trace>
</inkml:ink>
</file>

<file path=ppt/ink/ink2.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2:37"/>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0.000 0.000,'26.000'0.000,"-26.000"26.000,53.000-26.000,-26.000 24.000,-1.000-24.000,27.000 26.000,-27.000-26.000,27.000 25.000,0.000-1.000,0.000-24.000,0.000 0.000,-27.000 0.000,27.000 0.000,-53.000 0.000,-26.000 0.000,52.000 0.000,54.000 0.000,52.000 25.000,27.000-1.000,26.000 2.000,27.000-1.000,-1.000 0.000,1.000 0.000,-53.000 24.000,-27.000-23.000,0.000-1.000,1.000 0.000,-54.000-25.000,0.000 0.000,-52.000 0.000,26.000 0.000,0.000 0.000,53.000 0.000,-1.000 0.000,1.000 0.000,0.000 0.000,0.000 0.000,26.000 0.000,-52.000 0.000,78.000-25.000,-158.000 0.000,0.000 25.000,53.000 0.000,0.000-26.000,53.000 26.000,0.000 0.000,26.000-23.000,-26.000 23.000,-27.000 0.000,1.000 0.000,-27.000 0.000,-27.000-26.000,53.000 26.000,-52.000 0.000,26.000-50.000,26.000 50.000,-52.000-25.000,-1.000 25.000,1.000 0.000,-27.000 0.000,26.000 0.000,0.000 0.000,1.000 0.000,-27.000 0.000,53.000 0.000,-27.000 0.000,-26.000 0.000,27.000 0.000,26.000 0.000,-27.000-50.000,27.000 25.000,0.000 25.000,0.000 0.000,53.000 49.000,-27.000-23.000,0.000 24.000,27.000-25.000,-53.000 24.000,0.000-23.000,0.000-26.000,-53.000 0.000,53.000 0.000,26.000-26.000,27.000-23.000,-26.000 49.000,-28.000 0.000,-25.000 0.000,26.000 0.000,-27.000 0.000,1.000 0.000,-1.000 0.000,1.000 0.000,-1.000 0.000,1.000 0.000,-1.000 0.000,0.000 0.000,1.000 0.000,-1.000 0.000,-26.000 0.000,27.000 0.000,-1.000 0.000,27.000 0.000,0.000 0.000,0.000 0.000,-26.000 0.000,-1.000 0.000,0.000 0.000,1.000 0.000,-27.000 0.000,53.000 0.000,-27.000 0.000,-26.000 0.000,27.000 0.000,-1.000 0.000,1.000 0.000,-27.000 0.000,26.000 0.000,53.000 0.000,27.000 0.000,27.000 0.000,24.000 0.000,2.000 0.000,0.000 0.000,0.000 26.000,-1.000-26.000,1.000 0.000,0.000 0.000,26.000-26.000,-132.000 26.000,26.000 0.000,27.000 26.000,0.000-3.000,-53.000-23.000,0.000 26.000,0.000-26.000,26.000 0.000,27.000-49.000,26.000 23.000,-52.000 26.000,25.000 0.000,-25.000 0.000,-27.000 0.000,-27.000 0.000,1.000 0.000,-1.000 0.000,-26.000 0.000,27.000 0.000,-1.000-25.000,1.000 25.000,-27.000 0.000,26.000 0.000,106.000-50.000,-52.000 50.000,25.000 0.000,28.000 0.000,26.000-26.000,-27.000 2.000,-26.000 24.000,-1.000 0.000,-25.000 0.000,-1.000 0.000,1.000 0.000,52.000-25.000,27.000-24.000,-133.000 49.000,53.000 0.000,27.000 0.000,27.000 0.000,52.000 0.000,0.000-26.000,-26.000 26.000,-27.000 0.000,-26.000 0.000,-27.000 0.000,1.000 0.000,52.000 0.000,0.000 0.000,27.000 0.000,0.000 26.000,-27.000-1.000,-53.000-25.000,1.000 24.000,-1.000-24.000,-26.000 0.000,-26.000 0.000,52.000 0.000,-26.000 0.000,0.000 0.000,0.000 0.000,26.000-24.000,-26.000-1.000,-27.000-1.000,-26.000 26.000,0.000-24.000,53.000 48.000,-26.000 2.000,26.000 23.000,0.000-24.000,26.000 25.000,-26.000-50.000,0.000 25.000,-27.000 0.000,1.000-25.000,-1.000 0.000,1.000 0.000,-27.000 0.000,26.000 0.000,1.000 0.000,-1.000 0.000,-26.000 0.000</inkml:trace>
</inkml:ink>
</file>

<file path=ppt/ink/ink3.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2:52"/>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-2.000 0.000,'0.000'0.000,"27.000"0.000,26.000 0.000,-53.000 0.000,26.000 0.000,27.000 0.000,0.000 0.000,-26.000 0.000,52.000 27.000,-26.000-27.000,0.000 0.000,26.000 28.000,-26.000-1.000,26.000 1.000,-52.000-1.000,-1.000 1.000,1.000-28.000,52.000 27.000,27.000-27.000,53.000 0.000,52.000 28.000,54.000-1.000,26.000 1.000,-53.000-28.000,-79.000 0.000,0.000-55.000,-80.000 55.000,27.000 0.000,53.000 55.000,52.000-28.000,-25.000 29.000,25.000-29.000,-52.000 1.000,-27.000-1.000,-26.000-54.000,-28.000-28.000,2.000 55.000,26.000 0.000,26.000 0.000,27.000 0.000,52.000 0.000,1.000 0.000,0.000 0.000,26.000 0.000,0.000-83.000,-159.000 55.000,1.000-27.000,78.000 55.000,1.000-27.000,-26.000-1.000,-28.000 28.000,-25.000 0.000,-1.000 0.000,-52.000 0.000,25.000 0.000,-25.000 0.000,26.000 0.000,-27.000 0.000,27.000 0.000,-26.000 28.000,-1.000-1.000,1.000-27.000,-27.000 0.000,26.000 0.000,1.000 0.000,-1.000 0.000,0.000 0.000,1.000 0.000,-1.000 0.000,-26.000 0.000,27.000 0.000,-1.000 0.000,1.000 0.000,-27.000 0.000,26.000 0.000,1.000 0.000,-1.000 0.000,-26.000 0.000,27.000 0.000,-1.000 0.000,0.000 0.000,27.000 0.000,-26.000 0.000,26.000-27.000,-27.000 27.000,27.000 0.000,27.000 0.000,25.000 0.000,-25.000 0.000,-27.000 0.000,-27.000 0.000,-26.000 0.000,0.000 0.000</inkml:trace>
</inkml:ink>
</file>

<file path=ppt/ink/ink4.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2:5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4973.000 286.000,'-26.000'-27.000,"-54.000"27.000,1.000 0.000,-53.000 0.000,-1.000 0.000,1.000 0.000,-53.000 0.000,26.000 0.000,-26.000 0.000,0.000 0.000,26.000 0.000,0.000-52.000,53.000 52.000,27.000-25.000,26.000-2.000,27.000 1.000,26.000 0.000,0.000 0.000,52.000-52.000,-78.000 78.000,-80.000 0.000,-26.000 26.000,-27.000 0.000,-26.000-26.000,27.000 26.000,-1.000-26.000,27.000 0.000,-27.000 0.000,80.000 0.000,-53.000 26.000,26.000 0.000,27.000-26.000,-27.000 26.000,0.000 1.000,26.000-2.000,1.000-25.000,26.000 27.000,0.000-2.000,0.000-25.000,27.000 0.000,-27.000 0.000,27.000 27.000,-27.000-27.000,26.000 0.000,27.000 0.000,-26.000 0.000,-27.000 0.000,53.000 0.000,-27.000 0.000,1.000 0.000,-1.000 0.000,1.000 0.000,-1.000 0.000,1.000 0.000,0.000 0.000,-1.000 0.000,1.000 0.000,-1.000 0.000,1.000 0.000,-1.000 0.000,27.000 0.000,-26.000 0.000,-1.000 0.000,1.000 0.000,26.000 0.000,-27.000 0.000,1.000 0.000,0.000 0.000,26.000 0.000,-27.000 0.000,1.000 26.000,-1.000-26.000,27.000 26.000,0.000-26.000,-26.000 0.000,26.000 26.000,-27.000-26.000,1.000 0.000,26.000 0.000,-27.000 0.000,27.000 0.000,-26.000 0.000,-1.000 0.000,27.000 0.000,-26.000 0.000,26.000 0.000,0.000-26.000</inkml:trace>
</inkml:ink>
</file>

<file path=ppt/ink/ink5.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3:06"/>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0.000 131.000,'26.000'-26.000,"27.000"-1.000,27.000 27.000,-1.000-25.000,0.000 25.000,1.000-27.000,26.000 27.000,26.000 0.000,-53.000 0.000,27.000 0.000,-53.000 0.000,26.000 0.000,1.000 0.000,78.000 27.000,1.000-2.000,132.000 28.000,-26.000-26.000,26.000 26.000,-107.000-1.000,-52.000-26.000,-52.000-26.000,-54.000 0.000,54.000 0.000,25.000 0.000,28.000-26.000,-1.000-26.000,27.000-28.000,-27.000 27.000,0.000 28.000,-52.000 25.000,52.000 0.000,-26.000 0.000,26.000 0.000,-26.000 0.000,0.000 25.000,-27.000-25.000,-26.000 0.000,26.000-25.000,-26.000 25.000,-26.000-27.000,26.000 1.000</inkml:trace>
</inkml:ink>
</file>

<file path=ppt/ink/ink6.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3:16"/>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0.000 0.000,'0.000'0.000</inkml:trace>
</inkml:ink>
</file>

<file path=ppt/ink/ink7.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3:1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0.000 238.000,'26.000'-26.000,"-26.000"26.000,27.000 0.000,26.000-27.000,-27.000 2.000,1.000 25.000,-1.000 0.000,-26.000 0.000,53.000 0.000,-27.000 0.000,-26.000 0.000,53.000 0.000,-26.000 0.000,26.000 0.000,-27.000 0.000,53.000 0.000,-79.000 0.000,53.000 0.000,-26.000 0.000,-1.000 0.000,27.000 0.000,27.000 0.000,-1.000 0.000,0.000 0.000,1.000-53.000,-1.000 27.000,-26.000 26.000,53.000-26.000,-27.000 0.000,54.000-1.000,-1.000 27.000,0.000 0.000,-53.000 0.000,1.000 0.000,-1.000 0.000,-52.000 27.000,26.000-1.000,26.000 0.000,0.000-26.000,1.000 26.000,-27.000-26.000,0.000 0.000,-1.000-26.000,-52.000 0.000,53.000 26.000,27.000 0.000,-27.000 0.000,0.000 26.000,-53.000-26.000,26.000 0.000,1.000 26.000,-1.000-26.000,-26.000 27.000,0.000-1.000,0.000-26.000,26.000 0.000,-26.000 25.000,0.000 2.000,0.000-1.000,0.000-26.000</inkml:trace>
</inkml:ink>
</file>

<file path=ppt/ink/ink8.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3:33"/>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0.000 55.000,'0.000'0.000,"26.000"0.000,1.000 0.000,-1.000 0.000,54.000 0.000,-27.000-25.000,-1.000 25.000,1.000 0.000,27.000-24.000,-1.000 24.000,-26.000 0.000,26.000 0.000,-26.000 0.000,27.000 0.000,-1.000 0.000,-26.000 0.000,0.000 24.000,-27.000-24.000,27.000 25.000,-26.000-25.000,-1.000 0.000,27.000 0.000,-26.000 23.000,25.000-23.000,27.000 0.000,-53.000 0.000,1.000 0.000,-1.000 0.000,-26.000 0.000,106.000 0.000,-53.000 0.000,0.000 0.000,-27.000 0.000,27.000 0.000,-26.000 0.000,-27.000 0.000,0.000 25.000,26.000-25.000,-26.000 24.000,53.000-24.000,0.000 0.000,-27.000 0.000,27.000 0.000,-26.000 0.000,-1.000 0.000,-26.000 24.000,27.000-24.000,-1.000 24.000,-26.000-24.000,27.000 0.000,-1.000 24.000,1.000-24.000,-27.000 0.000,26.000 0.000,-26.000 0.000,27.000 0.000,-1.000 0.000,-26.000 0.000,26.000 0.000,1.000 0.000,-1.000 0.000,-26.000 0.000,27.000 0.000,-1.000 0.000,1.000 0.000,-27.000 0.000,26.000 0.000,1.000 0.000,-1.000 0.000,-26.000 0.000,27.000 0.000,-1.000 0.000</inkml:trace>
</inkml:ink>
</file>

<file path=ppt/ink/ink9.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3:38"/>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0.000 167.000,'0.000'0.000,"26.000"0.000,1.000 0.000,-1.000 0.000,27.000 0.000,-27.000 0.000,27.000 0.000,0.000 0.000,0.000 0.000,27.000 0.000,-1.000 23.000,0.000 0.000,27.000 1.000,-26.000 0.000,-1.000 0.000,-26.000-1.000,0.000-23.000,-27.000 0.000,54.000 0.000,-54.000 0.000,27.000 0.000,0.000 0.000,53.000 0.000,-27.000 0.000,53.000 0.000,-26.000 0.000,0.000 0.000,0.000 0.000,-27.000-23.000,1.000-1.000,-27.000 0.000,-28.000 24.000,1.000 0.000,54.000 0.000,-1.000 0.000,1.000 0.000,78.000 0.000,1.000 0.000,0.000 0.000,26.000 24.000,-53.000-24.000,-52.000 0.000,-1.000 0.000,-26.000 0.000,-27.000-24.000,27.000 0.000,-26.000 24.000,-27.000 0.000,26.000-23.000,1.000 0.000,-1.000 23.000,27.000-23.000,-26.000-25.000,-1.000 48.000,1.000-24.000,-1.000 1.000,-26.000 0.000,26.000 23.000,27.000 0.000,27.000 0.000,-27.000-24.000,0.000 24.000,-1.000 0.000,-52.000 0.000,0.000 0.000,27.000 0.000,-1.000 0.000,1.000 0.000</inkml:trace>
</inkml:ink>
</file>

<file path=ppt/ink/ink10.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3:43"/>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2724.000 41.000,'0.000'0.000,"-27.000"0.000,1.000 0.000,-1.000 0.000,1.000 0.000,-27.000-21.000,-26.000 21.000,-1.000 0.000,1.000 0.000,0.000 0.000,26.000 0.000,0.000 0.000,0.000 0.000,-1.000 0.000,27.000 0.000,-25.000 0.000,25.000 0.000,1.000 0.000,-1.000 0.000,27.000 0.000,-185.000 0.000,53.000 0.000,-1.000 21.000,-25.000 1.000,-1.000-22.000,27.000 24.000,-1.000-24.000,27.000 0.000,0.000 0.000,0.000 0.000,53.000 0.000,0.000 0.000,-26.000 0.000,52.000 0.000,1.000 0.000,-1.000 0.000,1.000 20.000,-1.000-20.000,1.000 0.000,26.000 0.000,-27.000 0.000,1.000 0.000,-1.000 0.000,27.000 0.000,-26.000 0.000,0.000 0.000,-1.000 0.000,27.000 0.000,0.000 23.000,-26.000-23.000,26.000 0.000,26.000 0.000</inkml:trace>
</inkml:ink>
</file>

<file path=ppt/ink/ink11.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3:48"/>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0.000 0.000</inkml:trace>
</inkml:ink>
</file>

<file path=ppt/ink/ink12.xml><?xml version="1.0" encoding="utf-8"?>
<inkml:ink xmlns:inkml="http://www.w3.org/2003/InkML">
  <inkml:definitions>
    <inkml:context xml:id="ctx0">
      <inkml:inkSource xml:id="inkSrc0">
        <inkml:traceFormat>
          <inkml:channel name="X" type="integer" max="1280" units="cm"/>
          <inkml:channel name="Y" type="integer" max="720" units="cm"/>
        </inkml:traceFormat>
        <inkml:channelProperties>
          <inkml:channelProperty channel="X" name="resolution" value="28.31858" units="1/cm"/>
          <inkml:channelProperty channel="Y" name="resolution" value="28.34646" units="1/cm"/>
        </inkml:channelProperties>
      </inkml:inkSource>
      <inkml:timestamp xml:id="ts0" timeString="2012-03-21T17:43:4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
  </inkml:definitions>
  <inkml:trace contextRef="#ctx0" brushRef="#br0">0.000 0.000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3013075" cy="465138"/>
          </a:xfrm>
          <a:prstGeom prst="rect">
            <a:avLst/>
          </a:prstGeom>
        </p:spPr>
        <p:txBody>
          <a:bodyPr vert="horz" lIns="92930" tIns="46465" rIns="92930" bIns="46465" rtlCol="0"/>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Date Placeholder 2"/>
          <p:cNvSpPr>
            <a:spLocks noGrp="1"/>
          </p:cNvSpPr>
          <p:nvPr>
            <p:ph type="dt" idx="1"/>
          </p:nvPr>
        </p:nvSpPr>
        <p:spPr>
          <a:xfrm>
            <a:off x="3940175" y="0"/>
            <a:ext cx="3013075" cy="465138"/>
          </a:xfrm>
          <a:prstGeom prst="rect">
            <a:avLst/>
          </a:prstGeom>
        </p:spPr>
        <p:txBody>
          <a:bodyPr vert="horz" lIns="92930" tIns="46465" rIns="92930" bIns="46465" rtlCol="0"/>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5F7E150-0538-4691-8CC5-9C9130821454}"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1150938" y="698500"/>
            <a:ext cx="4652963" cy="3490913"/>
          </a:xfrm>
          <a:prstGeom prst="rect">
            <a:avLst/>
          </a:prstGeom>
          <a:noFill/>
          <a:ln w="12700">
            <a:solidFill>
              <a:prstClr val="black"/>
            </a:solidFill>
          </a:ln>
        </p:spPr>
        <p:txBody>
          <a:bodyPr vert="horz" lIns="92930" tIns="46465" rIns="92930" bIns="46465"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95325" y="4421188"/>
            <a:ext cx="5564188" cy="4189413"/>
          </a:xfrm>
          <a:prstGeom prst="rect">
            <a:avLst/>
          </a:prstGeom>
        </p:spPr>
        <p:txBody>
          <a:bodyPr vert="horz" lIns="92930" tIns="46465" rIns="92930" bIns="46465"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842375"/>
            <a:ext cx="3013075" cy="465138"/>
          </a:xfrm>
          <a:prstGeom prst="rect">
            <a:avLst/>
          </a:prstGeom>
        </p:spPr>
        <p:txBody>
          <a:bodyPr vert="horz" lIns="92930" tIns="46465" rIns="92930" bIns="46465" rtlCol="0" anchor="b"/>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5"/>
          </p:nvPr>
        </p:nvSpPr>
        <p:spPr>
          <a:xfrm>
            <a:off x="3940175" y="8842375"/>
            <a:ext cx="3013075" cy="465138"/>
          </a:xfrm>
          <a:prstGeom prst="rect">
            <a:avLst/>
          </a:prstGeom>
        </p:spPr>
        <p:txBody>
          <a:bodyPr vert="horz" wrap="square" lIns="92930" tIns="46465" rIns="92930" bIns="46465"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E28CE8AC-D6D4-4C38-84A8-F12B50182AEC}" type="slidenum">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Slide Image Placeholder 1"/>
          <p:cNvSpPr>
            <a:spLocks noGrp="1" noRot="1" noChangeAspect="1" noTextEdit="1"/>
          </p:cNvSpPr>
          <p:nvPr>
            <p:ph type="sldImg"/>
          </p:nvPr>
        </p:nvSpPr>
        <p:spPr>
          <a:xfrm>
            <a:off x="1150938" y="698500"/>
            <a:ext cx="4652962" cy="3490913"/>
          </a:xfrm>
          <a:ln>
            <a:solidFill>
              <a:srgbClr val="000000">
                <a:alpha val="100000"/>
              </a:srgbClr>
            </a:solidFill>
            <a:miter lim="800000"/>
          </a:ln>
        </p:spPr>
      </p:sp>
      <p:sp>
        <p:nvSpPr>
          <p:cNvPr id="11267" name="Notes Placeholder 2"/>
          <p:cNvSpPr>
            <a:spLocks noGrp="1"/>
          </p:cNvSpPr>
          <p:nvPr>
            <p:ph type="body" idx="1"/>
          </p:nvPr>
        </p:nvSpPr>
        <p:spPr>
          <a:xfrm>
            <a:off x="695325" y="4421188"/>
            <a:ext cx="5564188" cy="4189412"/>
          </a:xfrm>
          <a:noFill/>
          <a:ln>
            <a:noFill/>
          </a:ln>
        </p:spPr>
        <p:txBody>
          <a:bodyPr wrap="square" lIns="92930" tIns="46465" rIns="92930" bIns="46465" anchor="t" anchorCtr="0"/>
          <a:p>
            <a:pPr lvl="0"/>
            <a:endParaRPr dirty="0"/>
          </a:p>
        </p:txBody>
      </p:sp>
      <p:sp>
        <p:nvSpPr>
          <p:cNvPr id="11268" name="Slide Number Placeholder 3"/>
          <p:cNvSpPr txBox="1">
            <a:spLocks noGrp="1"/>
          </p:cNvSpPr>
          <p:nvPr>
            <p:ph type="sldNum" sz="quarter"/>
          </p:nvPr>
        </p:nvSpPr>
        <p:spPr>
          <a:xfrm>
            <a:off x="3940175" y="8842375"/>
            <a:ext cx="3013075" cy="465138"/>
          </a:xfrm>
          <a:prstGeom prst="rect">
            <a:avLst/>
          </a:prstGeom>
          <a:noFill/>
          <a:ln w="9525">
            <a:noFill/>
          </a:ln>
        </p:spPr>
        <p:txBody>
          <a:bodyPr lIns="92930" tIns="46465" rIns="92930" bIns="46465" anchor="b" anchorCtr="0"/>
          <a:p>
            <a:pPr lvl="0" algn="r" eaLnBrk="1" hangingPunct="1"/>
            <a:fld id="{9A0DB2DC-4C9A-4742-B13C-FB6460FD3503}" type="slidenum">
              <a:rPr lang="en-US" sz="1200" dirty="0"/>
            </a:fld>
            <a:endParaRPr 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Slide Image Placeholder 1"/>
          <p:cNvSpPr>
            <a:spLocks noGrp="1" noRot="1" noChangeAspect="1" noTextEdit="1"/>
          </p:cNvSpPr>
          <p:nvPr>
            <p:ph type="sldImg"/>
          </p:nvPr>
        </p:nvSpPr>
        <p:spPr>
          <a:xfrm>
            <a:off x="1150938" y="698500"/>
            <a:ext cx="4652962" cy="3490913"/>
          </a:xfrm>
          <a:ln>
            <a:solidFill>
              <a:srgbClr val="000000">
                <a:alpha val="100000"/>
              </a:srgbClr>
            </a:solidFill>
            <a:miter lim="800000"/>
          </a:ln>
        </p:spPr>
      </p:sp>
      <p:sp>
        <p:nvSpPr>
          <p:cNvPr id="13315" name="Notes Placeholder 2"/>
          <p:cNvSpPr>
            <a:spLocks noGrp="1"/>
          </p:cNvSpPr>
          <p:nvPr>
            <p:ph type="body" idx="1"/>
          </p:nvPr>
        </p:nvSpPr>
        <p:spPr>
          <a:xfrm>
            <a:off x="695325" y="4421188"/>
            <a:ext cx="5564188" cy="4189412"/>
          </a:xfrm>
          <a:noFill/>
          <a:ln>
            <a:noFill/>
          </a:ln>
        </p:spPr>
        <p:txBody>
          <a:bodyPr wrap="square" lIns="92930" tIns="46465" rIns="92930" bIns="46465" anchor="t" anchorCtr="0"/>
          <a:p>
            <a:pPr lvl="0"/>
            <a:endParaRPr dirty="0"/>
          </a:p>
        </p:txBody>
      </p:sp>
      <p:sp>
        <p:nvSpPr>
          <p:cNvPr id="13316" name="Slide Number Placeholder 3"/>
          <p:cNvSpPr txBox="1">
            <a:spLocks noGrp="1"/>
          </p:cNvSpPr>
          <p:nvPr>
            <p:ph type="sldNum" sz="quarter"/>
          </p:nvPr>
        </p:nvSpPr>
        <p:spPr>
          <a:xfrm>
            <a:off x="3940175" y="8842375"/>
            <a:ext cx="3013075" cy="465138"/>
          </a:xfrm>
          <a:prstGeom prst="rect">
            <a:avLst/>
          </a:prstGeom>
          <a:noFill/>
          <a:ln w="9525">
            <a:noFill/>
          </a:ln>
        </p:spPr>
        <p:txBody>
          <a:bodyPr lIns="92930" tIns="46465" rIns="92930" bIns="46465" anchor="b" anchorCtr="0"/>
          <a:p>
            <a:pPr lvl="0" algn="r" eaLnBrk="1" hangingPunct="1"/>
            <a:fld id="{9A0DB2DC-4C9A-4742-B13C-FB6460FD3503}" type="slidenum">
              <a:rPr lang="en-US" sz="1200" dirty="0"/>
            </a:fld>
            <a:endParaRPr 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Slide Image Placeholder 1"/>
          <p:cNvSpPr>
            <a:spLocks noGrp="1" noRot="1" noChangeAspect="1" noTextEdit="1"/>
          </p:cNvSpPr>
          <p:nvPr>
            <p:ph type="sldImg"/>
          </p:nvPr>
        </p:nvSpPr>
        <p:spPr>
          <a:xfrm>
            <a:off x="1150938" y="698500"/>
            <a:ext cx="4652962" cy="3490913"/>
          </a:xfrm>
          <a:ln>
            <a:solidFill>
              <a:srgbClr val="000000">
                <a:alpha val="100000"/>
              </a:srgbClr>
            </a:solidFill>
            <a:miter lim="800000"/>
          </a:ln>
        </p:spPr>
      </p:sp>
      <p:sp>
        <p:nvSpPr>
          <p:cNvPr id="47107" name="Notes Placeholder 2"/>
          <p:cNvSpPr>
            <a:spLocks noGrp="1"/>
          </p:cNvSpPr>
          <p:nvPr>
            <p:ph type="body" idx="1"/>
          </p:nvPr>
        </p:nvSpPr>
        <p:spPr>
          <a:xfrm>
            <a:off x="695325" y="4421188"/>
            <a:ext cx="5564188" cy="4189412"/>
          </a:xfrm>
          <a:noFill/>
          <a:ln>
            <a:noFill/>
          </a:ln>
        </p:spPr>
        <p:txBody>
          <a:bodyPr wrap="square" lIns="92930" tIns="46465" rIns="92930" bIns="46465" anchor="t" anchorCtr="0"/>
          <a:p>
            <a:pPr lvl="0"/>
            <a:endParaRPr dirty="0"/>
          </a:p>
        </p:txBody>
      </p:sp>
      <p:sp>
        <p:nvSpPr>
          <p:cNvPr id="47108" name="Slide Number Placeholder 3"/>
          <p:cNvSpPr txBox="1">
            <a:spLocks noGrp="1"/>
          </p:cNvSpPr>
          <p:nvPr>
            <p:ph type="sldNum" sz="quarter"/>
          </p:nvPr>
        </p:nvSpPr>
        <p:spPr>
          <a:xfrm>
            <a:off x="3940175" y="8842375"/>
            <a:ext cx="3013075" cy="465138"/>
          </a:xfrm>
          <a:prstGeom prst="rect">
            <a:avLst/>
          </a:prstGeom>
          <a:noFill/>
          <a:ln w="9525">
            <a:noFill/>
          </a:ln>
        </p:spPr>
        <p:txBody>
          <a:bodyPr lIns="92930" tIns="46465" rIns="92930" bIns="46465" anchor="b" anchorCtr="0"/>
          <a:p>
            <a:pPr lvl="0" algn="r" eaLnBrk="1" hangingPunct="1"/>
            <a:fld id="{9A0DB2DC-4C9A-4742-B13C-FB6460FD3503}" type="slidenum">
              <a:rPr lang="en-US" sz="1200" dirty="0"/>
            </a:fld>
            <a:endParaRPr 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Slide Image Placeholder 1"/>
          <p:cNvSpPr>
            <a:spLocks noGrp="1" noRot="1" noChangeAspect="1" noTextEdit="1"/>
          </p:cNvSpPr>
          <p:nvPr>
            <p:ph type="sldImg"/>
          </p:nvPr>
        </p:nvSpPr>
        <p:spPr>
          <a:xfrm>
            <a:off x="1150938" y="698500"/>
            <a:ext cx="4652962" cy="3490913"/>
          </a:xfrm>
          <a:ln>
            <a:solidFill>
              <a:srgbClr val="000000">
                <a:alpha val="100000"/>
              </a:srgbClr>
            </a:solidFill>
            <a:miter lim="800000"/>
          </a:ln>
        </p:spPr>
      </p:sp>
      <p:sp>
        <p:nvSpPr>
          <p:cNvPr id="61443" name="Notes Placeholder 2"/>
          <p:cNvSpPr>
            <a:spLocks noGrp="1"/>
          </p:cNvSpPr>
          <p:nvPr>
            <p:ph type="body" idx="1"/>
          </p:nvPr>
        </p:nvSpPr>
        <p:spPr>
          <a:xfrm>
            <a:off x="695325" y="4421188"/>
            <a:ext cx="5564188" cy="4189412"/>
          </a:xfrm>
          <a:noFill/>
          <a:ln>
            <a:noFill/>
          </a:ln>
        </p:spPr>
        <p:txBody>
          <a:bodyPr wrap="square" lIns="92930" tIns="46465" rIns="92930" bIns="46465" anchor="t" anchorCtr="0"/>
          <a:p>
            <a:pPr lvl="0"/>
            <a:endParaRPr dirty="0"/>
          </a:p>
        </p:txBody>
      </p:sp>
      <p:sp>
        <p:nvSpPr>
          <p:cNvPr id="61444" name="Slide Number Placeholder 3"/>
          <p:cNvSpPr txBox="1">
            <a:spLocks noGrp="1"/>
          </p:cNvSpPr>
          <p:nvPr>
            <p:ph type="sldNum" sz="quarter"/>
          </p:nvPr>
        </p:nvSpPr>
        <p:spPr>
          <a:xfrm>
            <a:off x="3940175" y="8842375"/>
            <a:ext cx="3013075" cy="465138"/>
          </a:xfrm>
          <a:prstGeom prst="rect">
            <a:avLst/>
          </a:prstGeom>
          <a:noFill/>
          <a:ln w="9525">
            <a:noFill/>
          </a:ln>
        </p:spPr>
        <p:txBody>
          <a:bodyPr lIns="92930" tIns="46465" rIns="92930" bIns="46465" anchor="b" anchorCtr="0"/>
          <a:p>
            <a:pPr lvl="0" algn="r" eaLnBrk="1" hangingPunct="1"/>
            <a:fld id="{9A0DB2DC-4C9A-4742-B13C-FB6460FD3503}" type="slidenum">
              <a:rPr lang="en-US" sz="1200" dirty="0"/>
            </a:fld>
            <a:endParaRPr 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3" name="Rectangle 12"/>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Rectangle 1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Rectangle 16"/>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Rectangle 17"/>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Straight Connector 18"/>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0" name="Straight Connector 19"/>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1" name="Straight Connector 20"/>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4" name="Straight Connector 23"/>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5" name="Straight Connector 2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6" name="Straight Connector 25"/>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Oval 27"/>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Oval 28"/>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Oval 29"/>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1" name="Oval 30"/>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2" name="Oval 31"/>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Title 7"/>
          <p:cNvSpPr>
            <a:spLocks noGrp="1"/>
          </p:cNvSpPr>
          <p:nvPr>
            <p:ph type="ctrTitle"/>
          </p:nvPr>
        </p:nvSpPr>
        <p:spPr>
          <a:xfrm>
            <a:off x="2286000" y="3124200"/>
            <a:ext cx="6172200" cy="1894362"/>
          </a:xfrm>
        </p:spPr>
        <p:txBody>
          <a:bodyPr/>
          <a:lstStyle>
            <a:lvl1pPr>
              <a:defRPr b="1"/>
            </a:lvl1pPr>
          </a:lstStyle>
          <a:p>
            <a:r>
              <a:rPr lang="en-US" smtClean="0"/>
              <a:t>Click to edit Master title style</a:t>
            </a:r>
            <a:endParaRPr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33" name="Date Placeholder 27"/>
          <p:cNvSpPr>
            <a:spLocks noGrp="1"/>
          </p:cNvSpPr>
          <p:nvPr>
            <p:ph type="dt" sz="half" idx="2"/>
          </p:nvPr>
        </p:nvSpPr>
        <p:spPr bwMode="auto">
          <a:xfrm rot="5400000">
            <a:off x="7764463" y="1174750"/>
            <a:ext cx="2286000" cy="381000"/>
          </a:xfrm>
          <a:prstGeom prst="rect">
            <a:avLst/>
          </a:prstGeom>
        </p:spPr>
        <p:txBody>
          <a:bodyPr vert="horz"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01D8BD9E-FB11-4C08-BF5C-31597390FA4B}"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34" name="Footer Placeholder 16"/>
          <p:cNvSpPr>
            <a:spLocks noGrp="1"/>
          </p:cNvSpPr>
          <p:nvPr>
            <p:ph type="ftr" sz="quarter" idx="3"/>
          </p:nvPr>
        </p:nvSpPr>
        <p:spPr bwMode="auto">
          <a:xfrm rot="5400000">
            <a:off x="7077075" y="4181475"/>
            <a:ext cx="3657600" cy="384175"/>
          </a:xfrm>
          <a:prstGeom prst="rect">
            <a:avLst/>
          </a:prstGeom>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
        <p:nvSpPr>
          <p:cNvPr id="35" name="Slide Number Placeholder 28"/>
          <p:cNvSpPr>
            <a:spLocks noGrp="1"/>
          </p:cNvSpPr>
          <p:nvPr>
            <p:ph type="sldNum" sz="quarter" idx="4"/>
          </p:nvPr>
        </p:nvSpPr>
        <p:spPr bwMode="auto">
          <a:xfrm>
            <a:off x="1325563" y="4929188"/>
            <a:ext cx="609600" cy="517525"/>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6CB296A7-A80D-4321-B9ED-312A841FDE8B}"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457200" y="1600200"/>
            <a:ext cx="7467600" cy="487375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3" name="Date Placeholder 6"/>
          <p:cNvSpPr>
            <a:spLocks noGrp="1"/>
          </p:cNvSpPr>
          <p:nvPr>
            <p:ph type="dt" sz="half" idx="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737E4E34-0F50-43E4-BD6C-6CD8C85B4812}"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15" name="Slide Number Placeholder 8"/>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06C551A-99F7-4785-9A43-6E8F00A5B81F}"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
        <p:nvSpPr>
          <p:cNvPr id="17" name="Footer Placeholder 9"/>
          <p:cNvSpPr>
            <a:spLocks noGrp="1"/>
          </p:cNvSpPr>
          <p:nvPr>
            <p:ph type="ftr" sz="quarter" idx="3"/>
          </p:nvPr>
        </p:nvSpPr>
        <p:spPr>
          <a:xfrm rot="5400000">
            <a:off x="6989763" y="3736975"/>
            <a:ext cx="3200400" cy="365125"/>
          </a:xfrm>
          <a:prstGeom prst="rect">
            <a:avLst/>
          </a:prstGeom>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2"/>
      </p:bgRef>
    </p:bg>
    <p:spTree>
      <p:nvGrpSpPr>
        <p:cNvPr id="1" name=""/>
        <p:cNvGrpSpPr/>
        <p:nvPr/>
      </p:nvGrpSpPr>
      <p:grpSpPr>
        <a:xfrm>
          <a:off x="0" y="0"/>
          <a:ext cx="0" cy="0"/>
          <a:chOff x="0" y="0"/>
          <a:chExt cx="0" cy="0"/>
        </a:xfrm>
      </p:grpSpPr>
      <p:sp>
        <p:nvSpPr>
          <p:cNvPr id="13" name="Rectangle 12"/>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Rectangle 1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Rectangle 16"/>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Rectangle 17"/>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Straight Connector 18"/>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0" name="Straight Connector 19"/>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1" name="Straight Connector 20"/>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4" name="Straight Connector 23"/>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5" name="Straight Connector 2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6" name="Rectangle 2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Oval 26"/>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Oval 27"/>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Oval 28"/>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Oval 29"/>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1" name="Oval 30"/>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2" name="Straight Connector 31"/>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smtClean="0"/>
              <a:t>Click to edit Master title style</a:t>
            </a:r>
            <a:endParaRPr lang="en-US"/>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endParaRPr lang="en-US" smtClean="0"/>
          </a:p>
        </p:txBody>
      </p:sp>
      <p:sp>
        <p:nvSpPr>
          <p:cNvPr id="33" name="Date Placeholder 3"/>
          <p:cNvSpPr>
            <a:spLocks noGrp="1"/>
          </p:cNvSpPr>
          <p:nvPr>
            <p:ph type="dt" sz="half" idx="2"/>
          </p:nvPr>
        </p:nvSpPr>
        <p:spPr bwMode="auto">
          <a:xfrm rot="5400000">
            <a:off x="7762875" y="1169988"/>
            <a:ext cx="2286000" cy="381000"/>
          </a:xfrm>
          <a:prstGeom prst="rect">
            <a:avLst/>
          </a:prstGeom>
        </p:spPr>
        <p:txBody>
          <a:bodyPr vert="horz"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9D44243B-8BA8-44C9-A00E-4222982EBC57}"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34" name="Footer Placeholder 4"/>
          <p:cNvSpPr>
            <a:spLocks noGrp="1"/>
          </p:cNvSpPr>
          <p:nvPr>
            <p:ph type="ftr" sz="quarter" idx="3"/>
          </p:nvPr>
        </p:nvSpPr>
        <p:spPr bwMode="auto">
          <a:xfrm rot="5400000">
            <a:off x="7077075" y="4178300"/>
            <a:ext cx="3657600" cy="384175"/>
          </a:xfrm>
          <a:prstGeom prst="rect">
            <a:avLst/>
          </a:prstGeom>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
        <p:nvSpPr>
          <p:cNvPr id="35" name="Slide Number Placeholder 5"/>
          <p:cNvSpPr>
            <a:spLocks noGrp="1"/>
          </p:cNvSpPr>
          <p:nvPr>
            <p:ph type="sldNum" sz="quarter" idx="4"/>
          </p:nvPr>
        </p:nvSpPr>
        <p:spPr bwMode="auto">
          <a:xfrm>
            <a:off x="1339850" y="4929188"/>
            <a:ext cx="609600" cy="517525"/>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6C745DD6-E632-4815-B2E1-D3A482680F2B}"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457200" y="1600200"/>
            <a:ext cx="3657600" cy="4572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1" name="Content Placeholder 10"/>
          <p:cNvSpPr>
            <a:spLocks noGrp="1"/>
          </p:cNvSpPr>
          <p:nvPr>
            <p:ph sz="quarter" idx="2"/>
          </p:nvPr>
        </p:nvSpPr>
        <p:spPr>
          <a:xfrm>
            <a:off x="4270248" y="1600200"/>
            <a:ext cx="3657600" cy="4572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7505CED4-0F54-4086-A419-1E9B81F7D8CB}"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
        <p:nvSpPr>
          <p:cNvPr id="5" name="Slide Number Placeholder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B7497DB-172F-4792-B435-C7932F548FF3}"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smtClean="0"/>
              <a:t>Click to edit Master title style</a:t>
            </a:r>
            <a:endParaRPr lang="en-US"/>
          </a:p>
        </p:txBody>
      </p:sp>
      <p:sp>
        <p:nvSpPr>
          <p:cNvPr id="11" name="Content Placeholder 10"/>
          <p:cNvSpPr>
            <a:spLocks noGrp="1"/>
          </p:cNvSpPr>
          <p:nvPr>
            <p:ph sz="quarter" idx="2"/>
          </p:nvPr>
        </p:nvSpPr>
        <p:spPr>
          <a:xfrm>
            <a:off x="457200" y="2362200"/>
            <a:ext cx="3657600" cy="3886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3" name="Content Placeholder 12"/>
          <p:cNvSpPr>
            <a:spLocks noGrp="1"/>
          </p:cNvSpPr>
          <p:nvPr>
            <p:ph sz="quarter" idx="4"/>
          </p:nvPr>
        </p:nvSpPr>
        <p:spPr>
          <a:xfrm>
            <a:off x="4371975" y="2362200"/>
            <a:ext cx="3657600" cy="3886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smtClean="0"/>
              <a:t>Click to edit Master text styles</a:t>
            </a:r>
            <a:endParaRPr lang="en-US" smtClean="0"/>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smtClean="0"/>
              <a:t>Click to edit Master text styles</a:t>
            </a:r>
            <a:endParaRPr lang="en-US" smtClean="0"/>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7505CED4-0F54-4086-A419-1E9B81F7D8CB}"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
        <p:nvSpPr>
          <p:cNvPr id="5" name="Slide Number Placeholder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B7497DB-172F-4792-B435-C7932F548FF3}"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13" name="Date Placeholder 5"/>
          <p:cNvSpPr>
            <a:spLocks noGrp="1"/>
          </p:cNvSpPr>
          <p:nvPr>
            <p:ph type="dt" sz="half" idx="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B883F87E-5859-46FA-B049-A3A04A5841EB}"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15" name="Slide Number Placeholder 6"/>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0F4FF4AF-8B2A-4E92-B3E9-D35902B6CF21}"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
        <p:nvSpPr>
          <p:cNvPr id="17" name="Footer Placeholder 7"/>
          <p:cNvSpPr>
            <a:spLocks noGrp="1"/>
          </p:cNvSpPr>
          <p:nvPr>
            <p:ph type="ftr" sz="quarter" idx="3"/>
          </p:nvPr>
        </p:nvSpPr>
        <p:spPr>
          <a:xfrm rot="5400000">
            <a:off x="6989763" y="3736975"/>
            <a:ext cx="3200400" cy="365125"/>
          </a:xfrm>
          <a:prstGeom prst="rect">
            <a:avLst/>
          </a:prstGeom>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7505CED4-0F54-4086-A419-1E9B81F7D8CB}"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
        <p:nvSpPr>
          <p:cNvPr id="4" name="Slide Number Placeholder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B7497DB-172F-4792-B435-C7932F548FF3}"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3" name="Straight Connector 12"/>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Straight Connector 14"/>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6148" name="Straight Connector 16"/>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Straight Connector 17"/>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9" name="Rectangle 1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51" name="Straight Connector 19"/>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21" name="Oval 2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smtClean="0"/>
              <a:t>Click to edit Master title style</a:t>
            </a:r>
            <a:endParaRPr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smtClean="0"/>
              <a:t>Click to edit Master text styles</a:t>
            </a:r>
            <a:endParaRPr lang="en-US" smtClean="0"/>
          </a:p>
        </p:txBody>
      </p:sp>
      <p:sp>
        <p:nvSpPr>
          <p:cNvPr id="18" name="Content Placeholder 17"/>
          <p:cNvSpPr>
            <a:spLocks noGrp="1"/>
          </p:cNvSpPr>
          <p:nvPr>
            <p:ph sz="quarter" idx="1"/>
          </p:nvPr>
        </p:nvSpPr>
        <p:spPr>
          <a:xfrm>
            <a:off x="304800" y="274320"/>
            <a:ext cx="5638800" cy="632764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24" name="Date Placeholder 20"/>
          <p:cNvSpPr>
            <a:spLocks noGrp="1"/>
          </p:cNvSpPr>
          <p:nvPr>
            <p:ph type="dt" sz="half" idx="1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75F8B8E-67A8-411E-82AF-9FBDEFE9E1E7}"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25" name="Slide Number Placeholder 21"/>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4D71C1EC-8EE5-4A05-9C8C-9D3C1D7448F2}"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
        <p:nvSpPr>
          <p:cNvPr id="26" name="Footer Placeholder 22"/>
          <p:cNvSpPr>
            <a:spLocks noGrp="1"/>
          </p:cNvSpPr>
          <p:nvPr>
            <p:ph type="ftr" sz="quarter" idx="3"/>
          </p:nvPr>
        </p:nvSpPr>
        <p:spPr>
          <a:xfrm rot="5400000">
            <a:off x="6989763" y="3736975"/>
            <a:ext cx="3200400" cy="365125"/>
          </a:xfrm>
          <a:prstGeom prst="rect">
            <a:avLst/>
          </a:prstGeom>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3" name="Straight Connector 12"/>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5" name="Oval 14"/>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Straight Connector 16"/>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8" name="Rectangle 1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174" name="Straight Connector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20" name="Straight Connector 1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7176" name="Straight Connector 20"/>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3200" b="0" i="0" u="none" strike="noStrike" kern="1200" cap="none" spc="0" normalizeH="0" baseline="0" noProof="0" smtClean="0">
                <a:ln>
                  <a:noFill/>
                </a:ln>
                <a:solidFill>
                  <a:schemeClr val="lt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lt1"/>
              </a:solidFill>
              <a:effectLst/>
              <a:uLnTx/>
              <a:uFillTx/>
              <a:latin typeface="+mn-lt"/>
              <a:ea typeface="+mn-ea"/>
              <a:cs typeface="+mn-cs"/>
            </a:endParaRPr>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smtClean="0"/>
              <a:t>Click to edit Master text styles</a:t>
            </a:r>
            <a:endParaRPr lang="en-US" smtClean="0"/>
          </a:p>
        </p:txBody>
      </p:sp>
      <p:sp>
        <p:nvSpPr>
          <p:cNvPr id="24" name="Date Placeholder 16"/>
          <p:cNvSpPr>
            <a:spLocks noGrp="1"/>
          </p:cNvSpPr>
          <p:nvPr>
            <p:ph type="dt" sz="half" idx="1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6F684005-1F25-4FAD-9675-39A4022636D0}"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25" name="Slide Number Placeholder 17"/>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0E1AE064-EC57-46D7-BEB8-C8991CBE72C2}"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
        <p:nvSpPr>
          <p:cNvPr id="26" name="Footer Placeholder 20"/>
          <p:cNvSpPr>
            <a:spLocks noGrp="1"/>
          </p:cNvSpPr>
          <p:nvPr>
            <p:ph type="ftr" sz="quarter" idx="3"/>
          </p:nvPr>
        </p:nvSpPr>
        <p:spPr>
          <a:xfrm rot="5400000">
            <a:off x="6989763" y="3736975"/>
            <a:ext cx="3200400" cy="365125"/>
          </a:xfrm>
          <a:prstGeom prst="rect">
            <a:avLst/>
          </a:prstGeom>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7505CED4-0F54-4086-A419-1E9B81F7D8CB}"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
        <p:nvSpPr>
          <p:cNvPr id="6" name="Slide Number Placeholder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B7497DB-172F-4792-B435-C7932F548FF3}"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7505CED4-0F54-4086-A419-1E9B81F7D8CB}"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
        <p:nvSpPr>
          <p:cNvPr id="6" name="Slide Number Placeholder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DB7497DB-172F-4792-B435-C7932F548FF3}"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lang="en-US" smtClean="0"/>
              <a:t>Click to edit Master title style</a:t>
            </a:r>
            <a:endParaRPr lang="en-US"/>
          </a:p>
        </p:txBody>
      </p:sp>
      <p:sp>
        <p:nvSpPr>
          <p:cNvPr id="1028" name="Text Placeholder 12"/>
          <p:cNvSpPr>
            <a:spLocks noGrp="1"/>
          </p:cNvSpPr>
          <p:nvPr>
            <p:ph type="body" idx="1"/>
          </p:nvPr>
        </p:nvSpPr>
        <p:spPr>
          <a:xfrm>
            <a:off x="457200" y="1600200"/>
            <a:ext cx="7467600" cy="4873625"/>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14" name="Date Placeholder 13"/>
          <p:cNvSpPr>
            <a:spLocks noGrp="1"/>
          </p:cNvSpPr>
          <p:nvPr>
            <p:ph type="dt" sz="half" idx="2"/>
          </p:nvPr>
        </p:nvSpPr>
        <p:spPr>
          <a:xfrm rot="5400000">
            <a:off x="7589044" y="1081881"/>
            <a:ext cx="2011363" cy="384175"/>
          </a:xfrm>
          <a:prstGeom prst="rect">
            <a:avLst/>
          </a:prstGeom>
        </p:spPr>
        <p:txBody>
          <a:bodyPr vert="horz" anchor="ctr" anchorCtr="0"/>
          <a:lstStyle>
            <a:lvl1pPr algn="r" eaLnBrk="1" fontAlgn="auto" latinLnBrk="0" hangingPunct="1">
              <a:spcBef>
                <a:spcPts val="0"/>
              </a:spcBef>
              <a:spcAft>
                <a:spcPts val="0"/>
              </a:spcAft>
              <a:defRPr kumimoji="0" sz="1200">
                <a:solidFill>
                  <a:schemeClr val="tx2"/>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7505CED4-0F54-4086-A419-1E9B81F7D8CB}" type="datetime1">
              <a:rPr kumimoji="0" lang="en-US" sz="1200" b="0" i="0" u="none" strike="noStrike" kern="1200" cap="none" spc="0" normalizeH="0" baseline="0" noProof="0">
                <a:ln>
                  <a:noFill/>
                </a:ln>
                <a:solidFill>
                  <a:schemeClr val="tx2"/>
                </a:solidFill>
                <a:effectLst/>
                <a:uLnTx/>
                <a:uFillTx/>
                <a:latin typeface="+mn-lt"/>
                <a:ea typeface="+mn-ea"/>
                <a:cs typeface="+mn-cs"/>
              </a:rPr>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3"/>
          </p:nvPr>
        </p:nvSpPr>
        <p:spPr>
          <a:xfrm rot="5400000">
            <a:off x="6989763" y="3736975"/>
            <a:ext cx="3200400" cy="365125"/>
          </a:xfrm>
          <a:prstGeom prst="rect">
            <a:avLst/>
          </a:prstGeom>
        </p:spPr>
        <p:txBody>
          <a:bodyPr vert="horz" wrap="square" lIns="91440" tIns="45720" rIns="91440" bIns="45720" numCol="1" anchor="ctr" anchorCtr="0" compatLnSpc="1"/>
          <a:lstStyle>
            <a:lvl1pPr eaLnBrk="1" hangingPunct="1">
              <a:defRPr sz="1200">
                <a:solidFill>
                  <a:schemeClr val="tx2"/>
                </a:solidFill>
                <a:latin typeface="Century Schoolbook" panose="020406040505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rPr>
              <a:t>DEPARTMENT OF DEVELOPMENT  STUDIES</a:t>
            </a:r>
            <a:endParaRPr kumimoji="0" lang="en-US" sz="1200" b="0" i="0" u="none" strike="noStrike" kern="1200" cap="none" spc="0" normalizeH="0" baseline="0" noProof="0">
              <a:ln>
                <a:noFill/>
              </a:ln>
              <a:solidFill>
                <a:schemeClr val="tx2"/>
              </a:solidFill>
              <a:effectLst/>
              <a:uLnTx/>
              <a:uFillTx/>
              <a:latin typeface="Century Schoolbook" panose="02040604050505020304" pitchFamily="18" charset="0"/>
              <a:ea typeface="+mn-ea"/>
              <a:cs typeface="+mn-cs"/>
            </a:endParaRPr>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032" name="Straight Connector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34" name="Straight Connector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Oval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Slide Number Placeholder 22"/>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lvl1pPr algn="ctr" eaLnBrk="1" hangingPunct="1">
              <a:defRPr sz="1400" b="1">
                <a:solidFill>
                  <a:srgbClr val="FFFFFF"/>
                </a:solidFill>
                <a:latin typeface="Century Schoolbook" panose="02040604050505020304"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DB7497DB-172F-4792-B435-C7932F548FF3}" type="slidenum">
              <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rPr>
            </a:fld>
            <a:endParaRPr kumimoji="0" lang="en-US" sz="1400" b="1" i="0" u="none" strike="noStrike" kern="1200" cap="none" spc="0" normalizeH="0" baseline="0" noProof="0">
              <a:ln>
                <a:noFill/>
              </a:ln>
              <a:solidFill>
                <a:srgbClr val="FFFFFF"/>
              </a:solidFill>
              <a:effectLst/>
              <a:uLnTx/>
              <a:uFillTx/>
              <a:latin typeface="Century Schoolbook" panose="02040604050505020304"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anose="02040604050505020304" pitchFamily="18" charset="0"/>
        </a:defRPr>
      </a:lvl2pPr>
      <a:lvl3pPr algn="l" rtl="0" eaLnBrk="0" fontAlgn="base" hangingPunct="0">
        <a:spcBef>
          <a:spcPct val="0"/>
        </a:spcBef>
        <a:spcAft>
          <a:spcPct val="0"/>
        </a:spcAft>
        <a:defRPr sz="3000">
          <a:solidFill>
            <a:schemeClr val="tx2"/>
          </a:solidFill>
          <a:latin typeface="Century Schoolbook" panose="02040604050505020304" pitchFamily="18" charset="0"/>
        </a:defRPr>
      </a:lvl3pPr>
      <a:lvl4pPr algn="l" rtl="0" eaLnBrk="0" fontAlgn="base" hangingPunct="0">
        <a:spcBef>
          <a:spcPct val="0"/>
        </a:spcBef>
        <a:spcAft>
          <a:spcPct val="0"/>
        </a:spcAft>
        <a:defRPr sz="3000">
          <a:solidFill>
            <a:schemeClr val="tx2"/>
          </a:solidFill>
          <a:latin typeface="Century Schoolbook" panose="02040604050505020304" pitchFamily="18" charset="0"/>
        </a:defRPr>
      </a:lvl4pPr>
      <a:lvl5pPr algn="l" rtl="0" eaLnBrk="0" fontAlgn="base" hangingPunct="0">
        <a:spcBef>
          <a:spcPct val="0"/>
        </a:spcBef>
        <a:spcAft>
          <a:spcPct val="0"/>
        </a:spcAft>
        <a:defRPr sz="3000">
          <a:solidFill>
            <a:schemeClr val="tx2"/>
          </a:solidFill>
          <a:latin typeface="Century Schoolbook" panose="02040604050505020304" pitchFamily="18" charset="0"/>
        </a:defRPr>
      </a:lvl5pPr>
      <a:lvl6pPr marL="457200" algn="l" rtl="0" fontAlgn="base">
        <a:spcBef>
          <a:spcPct val="0"/>
        </a:spcBef>
        <a:spcAft>
          <a:spcPct val="0"/>
        </a:spcAft>
        <a:defRPr sz="3000">
          <a:solidFill>
            <a:schemeClr val="tx2"/>
          </a:solidFill>
          <a:latin typeface="Century Schoolbook" panose="02040604050505020304" pitchFamily="18" charset="0"/>
        </a:defRPr>
      </a:lvl6pPr>
      <a:lvl7pPr marL="914400" algn="l" rtl="0" fontAlgn="base">
        <a:spcBef>
          <a:spcPct val="0"/>
        </a:spcBef>
        <a:spcAft>
          <a:spcPct val="0"/>
        </a:spcAft>
        <a:defRPr sz="3000">
          <a:solidFill>
            <a:schemeClr val="tx2"/>
          </a:solidFill>
          <a:latin typeface="Century Schoolbook" panose="02040604050505020304" pitchFamily="18" charset="0"/>
        </a:defRPr>
      </a:lvl7pPr>
      <a:lvl8pPr marL="1371600" algn="l" rtl="0" fontAlgn="base">
        <a:spcBef>
          <a:spcPct val="0"/>
        </a:spcBef>
        <a:spcAft>
          <a:spcPct val="0"/>
        </a:spcAft>
        <a:defRPr sz="3000">
          <a:solidFill>
            <a:schemeClr val="tx2"/>
          </a:solidFill>
          <a:latin typeface="Century Schoolbook" panose="02040604050505020304" pitchFamily="18" charset="0"/>
        </a:defRPr>
      </a:lvl8pPr>
      <a:lvl9pPr marL="1828800" algn="l" rtl="0" fontAlgn="base">
        <a:spcBef>
          <a:spcPct val="0"/>
        </a:spcBef>
        <a:spcAft>
          <a:spcPct val="0"/>
        </a:spcAft>
        <a:defRPr sz="3000">
          <a:solidFill>
            <a:schemeClr val="tx2"/>
          </a:solidFill>
          <a:latin typeface="Century Schoolbook" panose="020406040505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 Type="http://schemas.openxmlformats.org/officeDocument/2006/relationships/customXml" Target="../ink/ink5.xml"/><Relationship Id="rId8" Type="http://schemas.openxmlformats.org/officeDocument/2006/relationships/image" Target="../media/image5.png"/><Relationship Id="rId7" Type="http://schemas.openxmlformats.org/officeDocument/2006/relationships/customXml" Target="../ink/ink4.xml"/><Relationship Id="rId6" Type="http://schemas.openxmlformats.org/officeDocument/2006/relationships/image" Target="../media/image4.png"/><Relationship Id="rId5" Type="http://schemas.openxmlformats.org/officeDocument/2006/relationships/customXml" Target="../ink/ink3.xml"/><Relationship Id="rId4" Type="http://schemas.openxmlformats.org/officeDocument/2006/relationships/image" Target="../media/image3.png"/><Relationship Id="rId3" Type="http://schemas.openxmlformats.org/officeDocument/2006/relationships/customXml" Target="../ink/ink2.xml"/><Relationship Id="rId24" Type="http://schemas.openxmlformats.org/officeDocument/2006/relationships/slideLayout" Target="../slideLayouts/slideLayout2.xml"/><Relationship Id="rId23" Type="http://schemas.openxmlformats.org/officeDocument/2006/relationships/customXml" Target="../ink/ink12.xml"/><Relationship Id="rId22" Type="http://schemas.openxmlformats.org/officeDocument/2006/relationships/image" Target="../media/image12.png"/><Relationship Id="rId21" Type="http://schemas.openxmlformats.org/officeDocument/2006/relationships/customXml" Target="../ink/ink11.xml"/><Relationship Id="rId20" Type="http://schemas.openxmlformats.org/officeDocument/2006/relationships/image" Target="../media/image11.png"/><Relationship Id="rId2" Type="http://schemas.openxmlformats.org/officeDocument/2006/relationships/image" Target="../media/image2.png"/><Relationship Id="rId19" Type="http://schemas.openxmlformats.org/officeDocument/2006/relationships/customXml" Target="../ink/ink10.xml"/><Relationship Id="rId18" Type="http://schemas.openxmlformats.org/officeDocument/2006/relationships/image" Target="../media/image10.png"/><Relationship Id="rId17" Type="http://schemas.openxmlformats.org/officeDocument/2006/relationships/customXml" Target="../ink/ink9.xml"/><Relationship Id="rId16" Type="http://schemas.openxmlformats.org/officeDocument/2006/relationships/image" Target="../media/image9.png"/><Relationship Id="rId15" Type="http://schemas.openxmlformats.org/officeDocument/2006/relationships/customXml" Target="../ink/ink8.xml"/><Relationship Id="rId14" Type="http://schemas.openxmlformats.org/officeDocument/2006/relationships/image" Target="../media/image8.png"/><Relationship Id="rId13" Type="http://schemas.openxmlformats.org/officeDocument/2006/relationships/customXml" Target="../ink/ink7.xml"/><Relationship Id="rId12" Type="http://schemas.openxmlformats.org/officeDocument/2006/relationships/image" Target="../media/image7.png"/><Relationship Id="rId11" Type="http://schemas.openxmlformats.org/officeDocument/2006/relationships/customXml" Target="../ink/ink6.xml"/><Relationship Id="rId10" Type="http://schemas.openxmlformats.org/officeDocument/2006/relationships/image" Target="../media/image6.png"/><Relationship Id="rId1" Type="http://schemas.openxmlformats.org/officeDocument/2006/relationships/customXml" Target="../ink/ink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a:xfrm>
            <a:off x="457200" y="685800"/>
            <a:ext cx="8281988" cy="5486400"/>
          </a:xfrm>
        </p:spPr>
        <p:txBody>
          <a:bodyPr vert="horz" anchor="b">
            <a:normAutofit fontScale="90000"/>
          </a:body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en-GB" sz="2000" b="1" i="0" u="none" strike="noStrike" kern="1200" cap="small" spc="0" normalizeH="0" baseline="0" noProof="0" dirty="0" smtClean="0">
                <a:ln>
                  <a:noFill/>
                </a:ln>
                <a:solidFill>
                  <a:schemeClr val="tx2"/>
                </a:solidFill>
                <a:effectLst/>
                <a:uLnTx/>
                <a:uFillTx/>
                <a:latin typeface="+mj-lt"/>
                <a:ea typeface="+mj-ea"/>
                <a:cs typeface="+mj-cs"/>
              </a:rPr>
              <a:t>MBEYA UNIVERSITY OF SCIENCE AND TECHNOLOGY</a:t>
            </a:r>
            <a:br>
              <a:rPr kumimoji="0" lang="en-US" sz="3200" b="1" i="0" u="none" strike="noStrike" kern="1200" cap="small" spc="0" normalizeH="0" baseline="0" noProof="0" dirty="0" smtClean="0">
                <a:ln>
                  <a:noFill/>
                </a:ln>
                <a:solidFill>
                  <a:schemeClr val="tx2"/>
                </a:solidFill>
                <a:effectLst/>
                <a:uLnTx/>
                <a:uFillTx/>
                <a:latin typeface="+mj-lt"/>
                <a:ea typeface="+mj-ea"/>
                <a:cs typeface="+mj-cs"/>
              </a:rPr>
            </a:br>
            <a:r>
              <a:rPr kumimoji="0" lang="en-GB" sz="2200" b="0" i="0" u="none" strike="noStrike" kern="1200" cap="small" spc="0" normalizeH="0" baseline="0" noProof="0" dirty="0" smtClean="0">
                <a:ln>
                  <a:noFill/>
                </a:ln>
                <a:solidFill>
                  <a:schemeClr val="tx2"/>
                </a:solidFill>
                <a:effectLst/>
                <a:uLnTx/>
                <a:uFillTx/>
                <a:latin typeface="+mj-lt"/>
                <a:ea typeface="+mj-ea"/>
                <a:cs typeface="+mj-cs"/>
              </a:rPr>
              <a:t>College OF Humanities and Business Studies</a:t>
            </a:r>
            <a:br>
              <a:rPr kumimoji="0" lang="en-US" sz="2200" b="0" i="0" u="none" strike="noStrike" kern="1200" cap="small" spc="0" normalizeH="0" baseline="0" noProof="0" dirty="0" smtClean="0">
                <a:ln>
                  <a:noFill/>
                </a:ln>
                <a:solidFill>
                  <a:schemeClr val="tx2"/>
                </a:solidFill>
                <a:effectLst/>
                <a:uLnTx/>
                <a:uFillTx/>
                <a:latin typeface="+mj-lt"/>
                <a:ea typeface="+mj-ea"/>
                <a:cs typeface="+mj-cs"/>
              </a:rPr>
            </a:br>
            <a:r>
              <a:rPr kumimoji="0" lang="en-GB" sz="2200" b="0" i="0" u="none" strike="noStrike" kern="1200" cap="small" spc="0" normalizeH="0" baseline="0" noProof="0" dirty="0" smtClean="0">
                <a:ln>
                  <a:noFill/>
                </a:ln>
                <a:solidFill>
                  <a:schemeClr val="tx2"/>
                </a:solidFill>
                <a:effectLst/>
                <a:uLnTx/>
                <a:uFillTx/>
                <a:latin typeface="+mj-lt"/>
                <a:ea typeface="+mj-ea"/>
                <a:cs typeface="+mj-cs"/>
              </a:rPr>
              <a:t>Department of Business Management</a:t>
            </a:r>
            <a:br>
              <a:rPr kumimoji="0" lang="en-US" sz="2200" b="0" i="0" u="none" strike="noStrike" kern="1200" cap="small" spc="0" normalizeH="0" baseline="0" noProof="0" dirty="0" smtClean="0">
                <a:ln>
                  <a:noFill/>
                </a:ln>
                <a:solidFill>
                  <a:schemeClr val="tx2"/>
                </a:solidFill>
                <a:effectLst/>
                <a:uLnTx/>
                <a:uFillTx/>
                <a:latin typeface="+mj-lt"/>
                <a:ea typeface="+mj-ea"/>
                <a:cs typeface="+mj-cs"/>
              </a:rPr>
            </a:br>
            <a:br>
              <a:rPr kumimoji="0" lang="en-US" sz="2200" b="0" i="0" u="none" strike="noStrike" kern="1200" cap="small" spc="0" normalizeH="0" baseline="0" noProof="0" dirty="0" smtClean="0">
                <a:ln>
                  <a:noFill/>
                </a:ln>
                <a:solidFill>
                  <a:schemeClr val="tx2"/>
                </a:solidFill>
                <a:effectLst/>
                <a:uLnTx/>
                <a:uFillTx/>
                <a:latin typeface="+mj-lt"/>
                <a:ea typeface="+mj-ea"/>
                <a:cs typeface="+mj-cs"/>
              </a:rPr>
            </a:br>
            <a:br>
              <a:rPr kumimoji="0" lang="en-US" sz="2000" b="0" i="0" u="none" strike="noStrike" kern="1200" cap="small" spc="0" normalizeH="0" baseline="0" noProof="0" dirty="0">
                <a:ln>
                  <a:noFill/>
                </a:ln>
                <a:solidFill>
                  <a:schemeClr val="tx2"/>
                </a:solidFill>
                <a:effectLst/>
                <a:uLnTx/>
                <a:uFillTx/>
                <a:latin typeface="+mj-lt"/>
                <a:ea typeface="+mj-ea"/>
                <a:cs typeface="+mj-cs"/>
              </a:rPr>
            </a:br>
            <a:br>
              <a:rPr kumimoji="0" lang="en-US" sz="2000" b="0" i="0" u="none" strike="noStrike" kern="1200" cap="small" spc="0" normalizeH="0" baseline="0" noProof="0" dirty="0" smtClean="0">
                <a:ln>
                  <a:noFill/>
                </a:ln>
                <a:solidFill>
                  <a:schemeClr val="tx2"/>
                </a:solidFill>
                <a:effectLst/>
                <a:uLnTx/>
                <a:uFillTx/>
                <a:latin typeface="+mj-lt"/>
                <a:ea typeface="+mj-ea"/>
                <a:cs typeface="+mj-cs"/>
              </a:rPr>
            </a:br>
            <a:br>
              <a:rPr kumimoji="0" lang="en-US" sz="2000" b="0" i="0" u="none" strike="noStrike" kern="1200" cap="small" spc="0" normalizeH="0" baseline="0" noProof="0" dirty="0" smtClean="0">
                <a:ln>
                  <a:noFill/>
                </a:ln>
                <a:solidFill>
                  <a:schemeClr val="tx2"/>
                </a:solidFill>
                <a:effectLst/>
                <a:uLnTx/>
                <a:uFillTx/>
                <a:latin typeface="+mj-lt"/>
                <a:ea typeface="+mj-ea"/>
                <a:cs typeface="+mj-cs"/>
              </a:rPr>
            </a:br>
            <a:r>
              <a:rPr kumimoji="0" lang="en-GB" sz="2200" b="1" i="0" u="none" strike="noStrike" kern="1200" cap="small" spc="0" normalizeH="0" baseline="0" noProof="0" dirty="0" smtClean="0">
                <a:ln>
                  <a:noFill/>
                </a:ln>
                <a:solidFill>
                  <a:schemeClr val="tx2"/>
                </a:solidFill>
                <a:effectLst/>
                <a:uLnTx/>
                <a:uFillTx/>
                <a:latin typeface="+mj-lt"/>
                <a:ea typeface="+mj-ea"/>
                <a:cs typeface="+mj-cs"/>
              </a:rPr>
              <a:t>MODULE: </a:t>
            </a:r>
            <a:r>
              <a:rPr kumimoji="0" lang="en-GB" sz="2200" b="0" i="0" u="none" strike="noStrike" kern="1200" cap="small" spc="0" normalizeH="0" baseline="0" noProof="0" dirty="0" smtClean="0">
                <a:ln>
                  <a:noFill/>
                </a:ln>
                <a:solidFill>
                  <a:schemeClr val="tx2"/>
                </a:solidFill>
                <a:effectLst/>
                <a:uLnTx/>
                <a:uFillTx/>
                <a:latin typeface="+mj-lt"/>
                <a:ea typeface="+mj-ea"/>
                <a:cs typeface="+mj-cs"/>
              </a:rPr>
              <a:t>ELEMENTS OF DEVELOPMENT STUDIES</a:t>
            </a:r>
            <a:br>
              <a:rPr kumimoji="0" lang="en-US" sz="2200" b="0" i="0" u="none" strike="noStrike" kern="1200" cap="small" spc="0" normalizeH="0" baseline="0" noProof="0" dirty="0" smtClean="0">
                <a:ln>
                  <a:noFill/>
                </a:ln>
                <a:solidFill>
                  <a:schemeClr val="tx2"/>
                </a:solidFill>
                <a:effectLst/>
                <a:uLnTx/>
                <a:uFillTx/>
                <a:latin typeface="+mj-lt"/>
                <a:ea typeface="+mj-ea"/>
                <a:cs typeface="+mj-cs"/>
              </a:rPr>
            </a:br>
            <a:r>
              <a:rPr kumimoji="0" lang="en-GB" sz="2200" b="1" i="0" u="none" strike="noStrike" kern="1200" cap="small" spc="0" normalizeH="0" baseline="0" noProof="0" dirty="0" smtClean="0">
                <a:ln>
                  <a:noFill/>
                </a:ln>
                <a:solidFill>
                  <a:schemeClr val="tx2"/>
                </a:solidFill>
                <a:effectLst/>
                <a:uLnTx/>
                <a:uFillTx/>
                <a:latin typeface="+mj-lt"/>
                <a:ea typeface="+mj-ea"/>
                <a:cs typeface="+mj-cs"/>
              </a:rPr>
              <a:t>CODE: </a:t>
            </a:r>
            <a:r>
              <a:rPr kumimoji="0" lang="en-US" sz="2200" b="0" i="0" u="none" strike="noStrike" kern="1200" cap="small" spc="0" normalizeH="0" baseline="0" noProof="0" dirty="0" smtClean="0">
                <a:ln>
                  <a:noFill/>
                </a:ln>
                <a:solidFill>
                  <a:schemeClr val="tx2"/>
                </a:solidFill>
                <a:effectLst/>
                <a:uLnTx/>
                <a:uFillTx/>
                <a:latin typeface="+mj-lt"/>
                <a:ea typeface="+mj-ea"/>
                <a:cs typeface="+mj-cs"/>
              </a:rPr>
              <a:t>HS 6116</a:t>
            </a:r>
            <a:br>
              <a:rPr kumimoji="0" lang="en-US" sz="2200" b="0" i="0" u="none" strike="noStrike" kern="1200" cap="small" spc="0" normalizeH="0" baseline="0" noProof="0" dirty="0" smtClean="0">
                <a:ln>
                  <a:noFill/>
                </a:ln>
                <a:solidFill>
                  <a:schemeClr val="tx2"/>
                </a:solidFill>
                <a:effectLst/>
                <a:uLnTx/>
                <a:uFillTx/>
                <a:latin typeface="+mj-lt"/>
                <a:ea typeface="+mj-ea"/>
                <a:cs typeface="+mj-cs"/>
              </a:rPr>
            </a:br>
            <a:r>
              <a:rPr kumimoji="0" lang="en-GB" sz="2200" b="1" i="0" u="none" strike="noStrike" kern="1200" cap="small" spc="0" normalizeH="0" baseline="0" noProof="0" dirty="0" smtClean="0">
                <a:ln>
                  <a:noFill/>
                </a:ln>
                <a:solidFill>
                  <a:schemeClr val="tx2"/>
                </a:solidFill>
                <a:effectLst/>
                <a:uLnTx/>
                <a:uFillTx/>
                <a:latin typeface="+mj-lt"/>
                <a:ea typeface="+mj-ea"/>
                <a:cs typeface="+mj-cs"/>
              </a:rPr>
              <a:t>FACILITATOR: </a:t>
            </a:r>
            <a:r>
              <a:rPr kumimoji="0" lang="en-US" altLang="en-GB" sz="2200" b="1" i="0" u="none" strike="noStrike" kern="1200" cap="small" spc="0" normalizeH="0" baseline="0" noProof="0" dirty="0" smtClean="0">
                <a:ln>
                  <a:noFill/>
                </a:ln>
                <a:solidFill>
                  <a:schemeClr val="tx2"/>
                </a:solidFill>
                <a:effectLst/>
                <a:uLnTx/>
                <a:uFillTx/>
                <a:latin typeface="+mj-lt"/>
                <a:ea typeface="+mj-ea"/>
                <a:cs typeface="+mj-cs"/>
              </a:rPr>
              <a:t>ANNA YASSIN</a:t>
            </a:r>
            <a:br>
              <a:rPr kumimoji="0" lang="en-US" sz="2200" b="0" i="0" u="none" strike="noStrike" kern="1200" cap="small" spc="0" normalizeH="0" baseline="0" noProof="0" dirty="0" smtClean="0">
                <a:ln>
                  <a:noFill/>
                </a:ln>
                <a:solidFill>
                  <a:schemeClr val="tx2"/>
                </a:solidFill>
                <a:effectLst/>
                <a:uLnTx/>
                <a:uFillTx/>
                <a:latin typeface="+mj-lt"/>
                <a:ea typeface="+mj-ea"/>
                <a:cs typeface="+mj-cs"/>
              </a:rPr>
            </a:br>
            <a:br>
              <a:rPr kumimoji="0" lang="en-US" sz="2800" b="0" i="0" u="none" strike="noStrike" kern="1200" cap="small" spc="0" normalizeH="0" baseline="0" noProof="0" dirty="0" smtClean="0">
                <a:ln>
                  <a:noFill/>
                </a:ln>
                <a:solidFill>
                  <a:schemeClr val="tx2"/>
                </a:solidFill>
                <a:effectLst/>
                <a:uLnTx/>
                <a:uFillTx/>
                <a:latin typeface="+mj-lt"/>
                <a:ea typeface="+mj-ea"/>
                <a:cs typeface="+mj-cs"/>
              </a:rPr>
            </a:b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10243" name="Slide Number Placeholder 1"/>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a:xfrm>
            <a:off x="304800" y="1447800"/>
            <a:ext cx="8434388" cy="3276600"/>
          </a:xfrm>
        </p:spPr>
        <p:txBody>
          <a:bodyPr vert="horz" anchor="b">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  LECTURE 1:</a:t>
            </a:r>
            <a:br>
              <a:rPr kumimoji="0" lang="en-US" sz="3000" b="0" i="0" u="none" strike="noStrike" kern="1200" cap="small" spc="0" normalizeH="0" baseline="0" noProof="0" dirty="0">
                <a:ln>
                  <a:noFill/>
                </a:ln>
                <a:solidFill>
                  <a:schemeClr val="tx2"/>
                </a:solidFill>
                <a:effectLst/>
                <a:uLnTx/>
                <a:uFillTx/>
                <a:latin typeface="+mj-lt"/>
                <a:ea typeface="+mj-ea"/>
                <a:cs typeface="+mj-cs"/>
              </a:rPr>
            </a:br>
            <a:r>
              <a:rPr kumimoji="0" lang="en-US" sz="2400" b="0" i="0" u="none" strike="noStrike" kern="1200" cap="small" spc="0" normalizeH="0" baseline="0" noProof="0" dirty="0" smtClean="0">
                <a:ln>
                  <a:noFill/>
                </a:ln>
                <a:solidFill>
                  <a:schemeClr val="tx2"/>
                </a:solidFill>
                <a:effectLst/>
                <a:uLnTx/>
                <a:uFillTx/>
                <a:latin typeface="+mj-lt"/>
                <a:ea typeface="+mj-ea"/>
                <a:cs typeface="+mj-cs"/>
              </a:rPr>
              <a:t>THEORIES AND PRINCIPLES OF DEVELOPMENT</a:t>
            </a:r>
            <a:endParaRPr kumimoji="0" lang="en-US" sz="2400" b="0" i="0" u="none" strike="noStrike" kern="1200" cap="small" spc="0" normalizeH="0" baseline="0" noProof="0" dirty="0">
              <a:ln>
                <a:noFill/>
              </a:ln>
              <a:solidFill>
                <a:schemeClr val="tx2"/>
              </a:solidFill>
              <a:effectLst/>
              <a:uLnTx/>
              <a:uFillTx/>
              <a:latin typeface="+mj-lt"/>
              <a:ea typeface="+mj-ea"/>
              <a:cs typeface="+mj-cs"/>
            </a:endParaRPr>
          </a:p>
        </p:txBody>
      </p:sp>
      <p:sp>
        <p:nvSpPr>
          <p:cNvPr id="12291" name="Slide Number Placeholder 1"/>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81000" y="0"/>
            <a:ext cx="7543800" cy="609600"/>
          </a:xfrm>
        </p:spPr>
        <p:txBody>
          <a:bodyPr vert="horz" anchor="b">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200" b="0" i="0" u="none" strike="noStrike" kern="1200" cap="small" spc="0" normalizeH="0" baseline="0" noProof="0" dirty="0" smtClean="0">
                <a:ln>
                  <a:noFill/>
                </a:ln>
                <a:solidFill>
                  <a:schemeClr val="tx2"/>
                </a:solidFill>
                <a:effectLst/>
                <a:uLnTx/>
                <a:uFillTx/>
                <a:latin typeface="+mj-lt"/>
                <a:ea typeface="+mj-ea"/>
                <a:cs typeface="+mj-cs"/>
              </a:rPr>
              <a:t>Development Studies</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14339" name="Content Placeholder 2"/>
          <p:cNvSpPr>
            <a:spLocks noGrp="1"/>
          </p:cNvSpPr>
          <p:nvPr>
            <p:ph sz="quarter" idx="1"/>
          </p:nvPr>
        </p:nvSpPr>
        <p:spPr>
          <a:xfrm>
            <a:off x="533400" y="609600"/>
            <a:ext cx="7575550" cy="6019800"/>
          </a:xfrm>
          <a:ln/>
        </p:spPr>
        <p:txBody>
          <a:bodyPr vert="horz" wrap="square" lIns="91440" tIns="45720" rIns="91440" bIns="45720" anchor="t" anchorCtr="0"/>
          <a:p>
            <a:pPr algn="just">
              <a:buFont typeface="Wingdings" panose="05000000000000000000" pitchFamily="2" charset="2"/>
              <a:buChar char="q"/>
            </a:pPr>
            <a:r>
              <a:rPr sz="2800" dirty="0"/>
              <a:t>Is a subject, which deals with interdisciplinary disciplines of contemporary issues of development. </a:t>
            </a:r>
            <a:endParaRPr sz="2800" dirty="0"/>
          </a:p>
          <a:p>
            <a:pPr algn="just">
              <a:buFont typeface="Wingdings" panose="05000000000000000000" pitchFamily="2" charset="2"/>
              <a:buChar char="q"/>
            </a:pPr>
            <a:r>
              <a:rPr sz="2800" dirty="0"/>
              <a:t>Despite half a century of development experience millions of Africans continue to live in massive poverty, diseases and ignorance</a:t>
            </a:r>
            <a:endParaRPr sz="2800" dirty="0"/>
          </a:p>
          <a:p>
            <a:pPr algn="just">
              <a:buFont typeface="Wingdings" panose="05000000000000000000" pitchFamily="2" charset="2"/>
              <a:buChar char="q"/>
            </a:pPr>
            <a:r>
              <a:rPr sz="2800" dirty="0"/>
              <a:t>Development has captured the interest of both the economists and politicians alike. This is because development is the very essence of life. However development in the developing countries (3</a:t>
            </a:r>
            <a:r>
              <a:rPr sz="2800" baseline="30000" dirty="0"/>
              <a:t>rd</a:t>
            </a:r>
            <a:r>
              <a:rPr sz="2800" dirty="0"/>
              <a:t> World) has been and still is problematic.</a:t>
            </a:r>
            <a:endParaRPr sz="2800" dirty="0"/>
          </a:p>
          <a:p>
            <a:pPr algn="just">
              <a:buFont typeface="Wingdings" panose="05000000000000000000" pitchFamily="2" charset="2"/>
              <a:buChar char="q"/>
            </a:pPr>
            <a:endParaRPr sz="2800" i="1" dirty="0"/>
          </a:p>
        </p:txBody>
      </p:sp>
      <p:sp>
        <p:nvSpPr>
          <p:cNvPr id="14340"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Introduction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15363" name="Content Placeholder 2"/>
          <p:cNvSpPr>
            <a:spLocks noGrp="1"/>
          </p:cNvSpPr>
          <p:nvPr>
            <p:ph sz="quarter" idx="1"/>
          </p:nvPr>
        </p:nvSpPr>
        <p:spPr>
          <a:ln/>
        </p:spPr>
        <p:txBody>
          <a:bodyPr vert="horz" wrap="square" lIns="91440" tIns="45720" rIns="91440" bIns="45720" anchor="t" anchorCtr="0"/>
          <a:p>
            <a:pPr>
              <a:lnSpc>
                <a:spcPct val="150000"/>
              </a:lnSpc>
              <a:buClr>
                <a:schemeClr val="accent1"/>
              </a:buClr>
              <a:buSzPct val="70000"/>
              <a:buFont typeface="Wingdings" panose="05000000000000000000" pitchFamily="2" charset="2"/>
            </a:pPr>
            <a:r>
              <a:rPr dirty="0"/>
              <a:t>Development Studies (DS) uses interdisciplinary approach to examine the development process; it provides a critical tool of analysis thus will lead to understanding the socio-economic and political development in developing countries</a:t>
            </a:r>
            <a:endParaRPr dirty="0"/>
          </a:p>
        </p:txBody>
      </p:sp>
      <p:sp>
        <p:nvSpPr>
          <p:cNvPr id="15364"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Introduction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16387" name="Content Placeholder 2"/>
          <p:cNvSpPr>
            <a:spLocks noGrp="1"/>
          </p:cNvSpPr>
          <p:nvPr>
            <p:ph sz="quarter" idx="1"/>
          </p:nvPr>
        </p:nvSpPr>
        <p:spPr>
          <a:ln/>
        </p:spPr>
        <p:txBody>
          <a:bodyPr vert="horz" wrap="square" lIns="91440" tIns="45720" rIns="91440" bIns="45720" anchor="t" anchorCtr="0"/>
          <a:p>
            <a:pPr marL="0" indent="0" algn="just">
              <a:lnSpc>
                <a:spcPct val="150000"/>
              </a:lnSpc>
              <a:buClr>
                <a:schemeClr val="accent1"/>
              </a:buClr>
              <a:buSzPct val="70000"/>
              <a:buFont typeface="Wingdings" panose="05000000000000000000" pitchFamily="2" charset="2"/>
              <a:buNone/>
            </a:pPr>
            <a:r>
              <a:rPr dirty="0"/>
              <a:t>The decades of SAPs have made the economy no better, in fact it is even more critical with low per capita income, depressed export sector, debts crisis is growing high population, and low agriculture with increasing dependence on food aid and imports In short, Africa is locked in a vicious circle of dependence and underdevelopment </a:t>
            </a:r>
            <a:endParaRPr dirty="0"/>
          </a:p>
        </p:txBody>
      </p:sp>
      <p:sp>
        <p:nvSpPr>
          <p:cNvPr id="16388"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The aim of studying Development Studies</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17411" name="Content Placeholder 2"/>
          <p:cNvSpPr>
            <a:spLocks noGrp="1"/>
          </p:cNvSpPr>
          <p:nvPr>
            <p:ph sz="quarter" idx="1"/>
          </p:nvPr>
        </p:nvSpPr>
        <p:spPr>
          <a:ln/>
        </p:spPr>
        <p:txBody>
          <a:bodyPr vert="horz" wrap="square" lIns="91440" tIns="45720" rIns="91440" bIns="45720" anchor="t" anchorCtr="0"/>
          <a:p>
            <a:pPr algn="just">
              <a:lnSpc>
                <a:spcPct val="150000"/>
              </a:lnSpc>
              <a:buClr>
                <a:schemeClr val="accent1"/>
              </a:buClr>
              <a:buSzPct val="70000"/>
              <a:buFont typeface="Wingdings" panose="05000000000000000000" pitchFamily="2" charset="2"/>
            </a:pPr>
            <a:r>
              <a:rPr dirty="0"/>
              <a:t>Is to examine and highlight how scholars of different schools of thought tried to explain the process of social development and the lessons they provide for African countries that are desperately in need of a dynamic route to sustainable development.</a:t>
            </a:r>
            <a:endParaRPr dirty="0"/>
          </a:p>
          <a:p>
            <a:pPr algn="just">
              <a:lnSpc>
                <a:spcPct val="150000"/>
              </a:lnSpc>
              <a:buClr>
                <a:schemeClr val="accent1"/>
              </a:buClr>
              <a:buSzPct val="70000"/>
              <a:buFont typeface="Wingdings" panose="05000000000000000000" pitchFamily="2" charset="2"/>
            </a:pPr>
            <a:endParaRPr dirty="0"/>
          </a:p>
        </p:txBody>
      </p:sp>
      <p:sp>
        <p:nvSpPr>
          <p:cNvPr id="17412"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Development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18435" name="Content Placeholder 2"/>
          <p:cNvSpPr>
            <a:spLocks noGrp="1"/>
          </p:cNvSpPr>
          <p:nvPr>
            <p:ph sz="quarter" idx="1"/>
          </p:nvPr>
        </p:nvSpPr>
        <p:spPr>
          <a:xfrm>
            <a:off x="609600" y="1828800"/>
            <a:ext cx="7499350" cy="4800600"/>
          </a:xfrm>
          <a:ln/>
        </p:spPr>
        <p:txBody>
          <a:bodyPr vert="horz" wrap="square" lIns="91440" tIns="45720" rIns="91440" bIns="45720" anchor="t" anchorCtr="0"/>
          <a:p>
            <a:r>
              <a:rPr sz="2800" dirty="0"/>
              <a:t>Multidimensional concept</a:t>
            </a:r>
            <a:endParaRPr sz="2800" dirty="0"/>
          </a:p>
          <a:p>
            <a:r>
              <a:rPr sz="2800" dirty="0"/>
              <a:t>Contextualization is required</a:t>
            </a:r>
            <a:endParaRPr sz="2800" dirty="0"/>
          </a:p>
          <a:p>
            <a:pPr lvl="1"/>
            <a:r>
              <a:rPr sz="2800" dirty="0"/>
              <a:t>economic, social, and political, global </a:t>
            </a:r>
            <a:endParaRPr sz="2800" dirty="0"/>
          </a:p>
          <a:p>
            <a:pPr lvl="1"/>
            <a:r>
              <a:rPr lang="en-IE" altLang="x-none" sz="2800" dirty="0"/>
              <a:t>Development as universal history, economic growth, modernisation, world structural change, free markets</a:t>
            </a:r>
            <a:r>
              <a:rPr sz="2800" dirty="0"/>
              <a:t>, </a:t>
            </a:r>
            <a:r>
              <a:rPr lang="en-IE" altLang="x-none" sz="2800" dirty="0"/>
              <a:t>poverty reduction </a:t>
            </a:r>
            <a:endParaRPr sz="2800" dirty="0"/>
          </a:p>
          <a:p>
            <a:pPr>
              <a:buFont typeface="Wingdings 2" panose="05020102010507070707" pitchFamily="18" charset="2"/>
              <a:buNone/>
            </a:pPr>
            <a:endParaRPr sz="2800" dirty="0"/>
          </a:p>
        </p:txBody>
      </p:sp>
      <p:sp>
        <p:nvSpPr>
          <p:cNvPr id="18436"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Development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19459"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lang="en-GB" altLang="x-none" dirty="0"/>
              <a:t>In all of the efforts to conceptualize development, the tendency has been to view it as positive socio-economic desirable changes in agrarian (rural) and urban sectors (Dale, 2004).</a:t>
            </a:r>
            <a:endParaRPr lang="en-GB" altLang="x-none" dirty="0"/>
          </a:p>
          <a:p>
            <a:pPr>
              <a:buClr>
                <a:schemeClr val="accent1"/>
              </a:buClr>
              <a:buSzPct val="70000"/>
              <a:buFont typeface="Wingdings" panose="05000000000000000000" pitchFamily="2" charset="2"/>
            </a:pPr>
            <a:r>
              <a:rPr lang="en-GB" altLang="x-none" dirty="0"/>
              <a:t> World Bank’s World Development Report 1991; “…, a better quality of life generally calls for higher incomes which encompasses better education, higher standards of health and nutrition, less poverty, a cleaner environment, more equality of opportunity, greater individual freedom, and richer cultural life”</a:t>
            </a:r>
            <a:endParaRPr lang="en-GB" altLang="x-none" dirty="0"/>
          </a:p>
          <a:p>
            <a:pPr>
              <a:buClr>
                <a:schemeClr val="accent1"/>
              </a:buClr>
              <a:buSzPct val="70000"/>
              <a:buFont typeface="Wingdings" panose="05000000000000000000" pitchFamily="2" charset="2"/>
            </a:pPr>
            <a:endParaRPr lang="en-GB" altLang="x-none" dirty="0"/>
          </a:p>
          <a:p>
            <a:pPr>
              <a:buClr>
                <a:schemeClr val="accent1"/>
              </a:buClr>
              <a:buSzPct val="70000"/>
              <a:buFont typeface="Wingdings" panose="05000000000000000000" pitchFamily="2" charset="2"/>
            </a:pPr>
            <a:endParaRPr dirty="0"/>
          </a:p>
        </p:txBody>
      </p:sp>
      <p:sp>
        <p:nvSpPr>
          <p:cNvPr id="19460"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Development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20483" name="Content Placeholder 2"/>
          <p:cNvSpPr>
            <a:spLocks noGrp="1"/>
          </p:cNvSpPr>
          <p:nvPr>
            <p:ph sz="quarter" idx="1"/>
          </p:nvPr>
        </p:nvSpPr>
        <p:spPr>
          <a:ln/>
        </p:spPr>
        <p:txBody>
          <a:bodyPr vert="horz" wrap="square" lIns="91440" tIns="45720" rIns="91440" bIns="45720" anchor="t" anchorCtr="0"/>
          <a:p>
            <a:pPr>
              <a:lnSpc>
                <a:spcPct val="110000"/>
              </a:lnSpc>
              <a:buClr>
                <a:schemeClr val="accent1"/>
              </a:buClr>
              <a:buSzPct val="70000"/>
              <a:buFont typeface="Wingdings" panose="05000000000000000000" pitchFamily="2" charset="2"/>
            </a:pPr>
            <a:r>
              <a:rPr lang="en-GB" altLang="x-none" dirty="0"/>
              <a:t>Amartya Sen 1998 Nobel Laureate in economics:</a:t>
            </a:r>
            <a:r>
              <a:rPr lang="en-GB" altLang="x-none" b="1" dirty="0"/>
              <a:t> </a:t>
            </a:r>
            <a:r>
              <a:rPr lang="en-GB" altLang="x-none" dirty="0"/>
              <a:t>“Development has to be more concerned with enhancing the lives we lead and the freedoms we enjoy”</a:t>
            </a:r>
            <a:endParaRPr lang="en-GB" altLang="x-none" dirty="0"/>
          </a:p>
          <a:p>
            <a:pPr>
              <a:buClr>
                <a:schemeClr val="accent1"/>
              </a:buClr>
              <a:buSzPct val="70000"/>
              <a:buFont typeface="Wingdings" panose="05000000000000000000" pitchFamily="2" charset="2"/>
            </a:pPr>
            <a:r>
              <a:rPr dirty="0">
                <a:cs typeface="Times New Roman" panose="02020603050405020304" pitchFamily="18" charset="0"/>
              </a:rPr>
              <a:t>Ml. J.K Nyerere defined development as a process which frees people from the fear of want and exploitation. It is a movement away from political, economic or social oppression (politician/national leader) </a:t>
            </a:r>
            <a:endParaRPr dirty="0">
              <a:cs typeface="Times New Roman" panose="02020603050405020304" pitchFamily="18" charset="0"/>
            </a:endParaRPr>
          </a:p>
          <a:p>
            <a:pPr>
              <a:buClr>
                <a:schemeClr val="accent1"/>
              </a:buClr>
              <a:buSzPct val="70000"/>
              <a:buFont typeface="Wingdings" panose="05000000000000000000" pitchFamily="2" charset="2"/>
            </a:pPr>
            <a:endParaRPr dirty="0"/>
          </a:p>
        </p:txBody>
      </p:sp>
      <p:sp>
        <p:nvSpPr>
          <p:cNvPr id="20484" name="Footer Placeholder 3"/>
          <p:cNvSpPr txBox="1">
            <a:spLocks noGrp="1"/>
          </p:cNvSpPr>
          <p:nvPr>
            <p:ph type="ftr" sz="quarter" idx="3"/>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buNone/>
            </a:pPr>
            <a:r>
              <a:rPr sz="1200" dirty="0">
                <a:solidFill>
                  <a:schemeClr val="tx2"/>
                </a:solidFill>
                <a:latin typeface="Century Schoolbook" panose="02040604050505020304" pitchFamily="18" charset="0"/>
              </a:rPr>
              <a:t>DEPARTMENT OF DEVELOPMENT  STUDIES</a:t>
            </a:r>
            <a:endParaRPr sz="1200" dirty="0">
              <a:solidFill>
                <a:schemeClr val="tx2"/>
              </a:solidFill>
              <a:latin typeface="Century Schoolbook" panose="020406040505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Development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21507"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lang="en-GB" altLang="x-none" dirty="0"/>
              <a:t>Contemporary thinking of development has now shifted from narrow thinking of economic growth to human welfare and poverty reduction. </a:t>
            </a:r>
            <a:endParaRPr lang="en-GB" altLang="x-none" dirty="0"/>
          </a:p>
          <a:p>
            <a:pPr>
              <a:buClr>
                <a:schemeClr val="accent1"/>
              </a:buClr>
              <a:buSzPct val="70000"/>
              <a:buFont typeface="Wingdings" panose="05000000000000000000" pitchFamily="2" charset="2"/>
            </a:pPr>
            <a:r>
              <a:rPr lang="en-GB" altLang="x-none" dirty="0"/>
              <a:t>In this thinking, both human development and poverty reduction have become central focus in the development discourse.</a:t>
            </a:r>
            <a:endParaRPr dirty="0"/>
          </a:p>
          <a:p>
            <a:pPr>
              <a:buClr>
                <a:schemeClr val="accent1"/>
              </a:buClr>
              <a:buSzPct val="70000"/>
              <a:buFont typeface="Wingdings" panose="05000000000000000000" pitchFamily="2" charset="2"/>
            </a:pPr>
            <a:r>
              <a:rPr lang="en-GB" altLang="x-none" dirty="0"/>
              <a:t>The central idea to the contemporary thinking is that income (economic indicator) is a means to improving human welfare, not an end in itself</a:t>
            </a:r>
            <a:endParaRPr lang="en-GB" altLang="x-none" dirty="0"/>
          </a:p>
        </p:txBody>
      </p:sp>
      <mc:AlternateContent xmlns:mc="http://schemas.openxmlformats.org/markup-compatibility/2006" xmlns:p14="http://schemas.microsoft.com/office/powerpoint/2010/main">
        <mc:Choice Requires="p14">
          <p:contentPart r:id="rId1" p14:bwMode="auto">
            <p14:nvContentPartPr>
              <p14:cNvPr id="2050" name="Ink 1"/>
              <p14:cNvContentPartPr/>
              <p14:nvPr/>
            </p14:nvContentPartPr>
            <p14:xfrm>
              <a:off x="5457825" y="2228850"/>
              <a:ext cx="2190750" cy="142875"/>
            </p14:xfrm>
          </p:contentPart>
        </mc:Choice>
        <mc:Fallback xmlns="">
          <p:pic>
            <p:nvPicPr>
              <p:cNvPr id="2050" name="Ink 1"/>
            </p:nvPicPr>
            <p:blipFill>
              <a:blip r:embed="rId2"/>
            </p:blipFill>
            <p:spPr>
              <a:xfrm>
                <a:off x="5457825" y="2228850"/>
                <a:ext cx="2190750" cy="14287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2051" name="Ink 2"/>
              <p14:cNvContentPartPr/>
              <p14:nvPr/>
            </p14:nvContentPartPr>
            <p14:xfrm>
              <a:off x="1219200" y="2581275"/>
              <a:ext cx="5181600" cy="152400"/>
            </p14:xfrm>
          </p:contentPart>
        </mc:Choice>
        <mc:Fallback xmlns="">
          <p:pic>
            <p:nvPicPr>
              <p:cNvPr id="2051" name="Ink 2"/>
            </p:nvPicPr>
            <p:blipFill>
              <a:blip r:embed="rId4"/>
            </p:blipFill>
            <p:spPr>
              <a:xfrm>
                <a:off x="1219200" y="2581275"/>
                <a:ext cx="5181600" cy="1524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2052" name="Ink 3"/>
              <p14:cNvContentPartPr/>
              <p14:nvPr/>
            </p14:nvContentPartPr>
            <p14:xfrm>
              <a:off x="4000500" y="2990850"/>
              <a:ext cx="2714625" cy="152400"/>
            </p14:xfrm>
          </p:contentPart>
        </mc:Choice>
        <mc:Fallback xmlns="">
          <p:pic>
            <p:nvPicPr>
              <p:cNvPr id="2052" name="Ink 3"/>
            </p:nvPicPr>
            <p:blipFill>
              <a:blip r:embed="rId6"/>
            </p:blipFill>
            <p:spPr>
              <a:xfrm>
                <a:off x="4000500" y="2990850"/>
                <a:ext cx="2714625" cy="1524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053" name="Ink 4"/>
              <p14:cNvContentPartPr/>
              <p14:nvPr/>
            </p14:nvContentPartPr>
            <p14:xfrm>
              <a:off x="1162050" y="3295650"/>
              <a:ext cx="1790700" cy="133350"/>
            </p14:xfrm>
          </p:contentPart>
        </mc:Choice>
        <mc:Fallback xmlns="">
          <p:pic>
            <p:nvPicPr>
              <p:cNvPr id="2053" name="Ink 4"/>
            </p:nvPicPr>
            <p:blipFill>
              <a:blip r:embed="rId8"/>
            </p:blipFill>
            <p:spPr>
              <a:xfrm>
                <a:off x="1162050" y="3295650"/>
                <a:ext cx="1790700" cy="1333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2054" name="Ink 5"/>
              <p14:cNvContentPartPr/>
              <p14:nvPr/>
            </p14:nvContentPartPr>
            <p14:xfrm>
              <a:off x="5400675" y="3324225"/>
              <a:ext cx="1619250" cy="104775"/>
            </p14:xfrm>
          </p:contentPart>
        </mc:Choice>
        <mc:Fallback xmlns="">
          <p:pic>
            <p:nvPicPr>
              <p:cNvPr id="2054" name="Ink 5"/>
            </p:nvPicPr>
            <p:blipFill>
              <a:blip r:embed="rId10"/>
            </p:blipFill>
            <p:spPr>
              <a:xfrm>
                <a:off x="5400675" y="3324225"/>
                <a:ext cx="1619250" cy="10477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055" name="Ink 6"/>
              <p14:cNvContentPartPr/>
              <p14:nvPr/>
            </p14:nvContentPartPr>
            <p14:xfrm>
              <a:off x="1933575" y="4600575"/>
              <a:ext cx="1588" cy="1588"/>
            </p14:xfrm>
          </p:contentPart>
        </mc:Choice>
        <mc:Fallback xmlns="">
          <p:pic>
            <p:nvPicPr>
              <p:cNvPr id="2055" name="Ink 6"/>
            </p:nvPicPr>
            <p:blipFill>
              <a:blip r:embed="rId12"/>
            </p:blipFill>
            <p:spPr>
              <a:xfrm>
                <a:off x="1933575" y="4600575"/>
                <a:ext cx="1588" cy="1588"/>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2056" name="Ink 7"/>
              <p14:cNvContentPartPr/>
              <p14:nvPr/>
            </p14:nvContentPartPr>
            <p14:xfrm>
              <a:off x="1533525" y="4514850"/>
              <a:ext cx="990600" cy="85725"/>
            </p14:xfrm>
          </p:contentPart>
        </mc:Choice>
        <mc:Fallback xmlns="">
          <p:pic>
            <p:nvPicPr>
              <p:cNvPr id="2056" name="Ink 7"/>
            </p:nvPicPr>
            <p:blipFill>
              <a:blip r:embed="rId14"/>
            </p:blipFill>
            <p:spPr>
              <a:xfrm>
                <a:off x="1533525" y="4514850"/>
                <a:ext cx="990600" cy="8572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2057" name="Ink 8"/>
              <p14:cNvContentPartPr/>
              <p14:nvPr/>
            </p14:nvContentPartPr>
            <p14:xfrm>
              <a:off x="6086475" y="4524375"/>
              <a:ext cx="876300" cy="76200"/>
            </p14:xfrm>
          </p:contentPart>
        </mc:Choice>
        <mc:Fallback xmlns="">
          <p:pic>
            <p:nvPicPr>
              <p:cNvPr id="2057" name="Ink 8"/>
            </p:nvPicPr>
            <p:blipFill>
              <a:blip r:embed="rId16"/>
            </p:blipFill>
            <p:spPr>
              <a:xfrm>
                <a:off x="6086475" y="4524375"/>
                <a:ext cx="876300" cy="762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2058" name="Ink 9"/>
              <p14:cNvContentPartPr/>
              <p14:nvPr/>
            </p14:nvContentPartPr>
            <p14:xfrm>
              <a:off x="4629150" y="4905375"/>
              <a:ext cx="1457325" cy="123825"/>
            </p14:xfrm>
          </p:contentPart>
        </mc:Choice>
        <mc:Fallback xmlns="">
          <p:pic>
            <p:nvPicPr>
              <p:cNvPr id="2058" name="Ink 9"/>
            </p:nvPicPr>
            <p:blipFill>
              <a:blip r:embed="rId18"/>
            </p:blipFill>
            <p:spPr>
              <a:xfrm>
                <a:off x="4629150" y="4905375"/>
                <a:ext cx="1457325" cy="12382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2059" name="Ink 10"/>
              <p14:cNvContentPartPr/>
              <p14:nvPr/>
            </p14:nvContentPartPr>
            <p14:xfrm>
              <a:off x="6248400" y="4914900"/>
              <a:ext cx="981075" cy="47625"/>
            </p14:xfrm>
          </p:contentPart>
        </mc:Choice>
        <mc:Fallback xmlns="">
          <p:pic>
            <p:nvPicPr>
              <p:cNvPr id="2059" name="Ink 10"/>
            </p:nvPicPr>
            <p:blipFill>
              <a:blip r:embed="rId20"/>
            </p:blipFill>
            <p:spPr>
              <a:xfrm>
                <a:off x="6248400" y="4914900"/>
                <a:ext cx="981075" cy="4762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2060" name="Ink 11"/>
              <p14:cNvContentPartPr/>
              <p14:nvPr/>
            </p14:nvContentPartPr>
            <p14:xfrm>
              <a:off x="4857750" y="5857875"/>
              <a:ext cx="1588" cy="1588"/>
            </p14:xfrm>
          </p:contentPart>
        </mc:Choice>
        <mc:Fallback xmlns="">
          <p:pic>
            <p:nvPicPr>
              <p:cNvPr id="2060" name="Ink 11"/>
            </p:nvPicPr>
            <p:blipFill>
              <a:blip r:embed="rId22"/>
            </p:blipFill>
            <p:spPr>
              <a:xfrm>
                <a:off x="4857750" y="5857875"/>
                <a:ext cx="1588" cy="1588"/>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2061" name="Ink 12"/>
              <p14:cNvContentPartPr/>
              <p14:nvPr/>
            </p14:nvContentPartPr>
            <p14:xfrm>
              <a:off x="4857750" y="5857875"/>
              <a:ext cx="1588" cy="1588"/>
            </p14:xfrm>
          </p:contentPart>
        </mc:Choice>
        <mc:Fallback xmlns="">
          <p:pic>
            <p:nvPicPr>
              <p:cNvPr id="2061" name="Ink 12"/>
            </p:nvPicPr>
            <p:blipFill>
              <a:blip r:embed="rId22"/>
            </p:blipFill>
            <p:spPr>
              <a:xfrm>
                <a:off x="4857750" y="5857875"/>
                <a:ext cx="1588" cy="1588"/>
              </a:xfrm>
              <a:prstGeom prst="rect"/>
            </p:spPr>
          </p:pic>
        </mc:Fallback>
      </mc:AlternateContent>
      <p:sp>
        <p:nvSpPr>
          <p:cNvPr id="21520"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Development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22531" name="Content Placeholder 2"/>
          <p:cNvSpPr>
            <a:spLocks noGrp="1"/>
          </p:cNvSpPr>
          <p:nvPr>
            <p:ph sz="quarter" idx="1"/>
          </p:nvPr>
        </p:nvSpPr>
        <p:spPr>
          <a:ln/>
        </p:spPr>
        <p:txBody>
          <a:bodyPr vert="horz" wrap="square" lIns="91440" tIns="45720" rIns="91440" bIns="45720" anchor="t" anchorCtr="0"/>
          <a:p>
            <a:pPr algn="just"/>
            <a:r>
              <a:rPr lang="en-GB" altLang="x-none" sz="2800" dirty="0"/>
              <a:t>Development is now considered as a multidimensional process involving changes in structures, attitudes, and institutions as well as in the acceleration of economic growth, eradication of absolute poverty and reduction in inequality. </a:t>
            </a:r>
            <a:endParaRPr sz="2800" dirty="0"/>
          </a:p>
          <a:p>
            <a:endParaRPr dirty="0"/>
          </a:p>
        </p:txBody>
      </p:sp>
      <p:sp>
        <p:nvSpPr>
          <p:cNvPr id="22532"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Development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23555" name="Content Placeholder 2"/>
          <p:cNvSpPr>
            <a:spLocks noGrp="1"/>
          </p:cNvSpPr>
          <p:nvPr>
            <p:ph sz="quarter" idx="1"/>
          </p:nvPr>
        </p:nvSpPr>
        <p:spPr>
          <a:ln/>
        </p:spPr>
        <p:txBody>
          <a:bodyPr vert="horz" wrap="square" lIns="91440" tIns="45720" rIns="91440" bIns="45720" anchor="t" anchorCtr="0"/>
          <a:p>
            <a:r>
              <a:rPr sz="2800" dirty="0"/>
              <a:t>Principally, in describing development, there should be an idea of making comparisons between individuals, households, nations/countries, regions, continents, etc. </a:t>
            </a:r>
            <a:endParaRPr sz="2800" dirty="0"/>
          </a:p>
          <a:p>
            <a:r>
              <a:rPr sz="2800" dirty="0"/>
              <a:t>In making the comparisons, there should also be indicators, which guide the one who makes the comparison in order to draw a conclusion by indicating that either of the side has developed or not. </a:t>
            </a:r>
            <a:endParaRPr sz="2800" dirty="0"/>
          </a:p>
          <a:p>
            <a:endParaRPr sz="2800" dirty="0"/>
          </a:p>
        </p:txBody>
      </p:sp>
      <p:sp>
        <p:nvSpPr>
          <p:cNvPr id="23556"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a:ln>
                  <a:noFill/>
                </a:ln>
                <a:solidFill>
                  <a:schemeClr val="tx2"/>
                </a:solidFill>
                <a:effectLst/>
                <a:uLnTx/>
                <a:uFillTx/>
                <a:latin typeface="+mj-lt"/>
                <a:ea typeface="+mj-ea"/>
                <a:cs typeface="+mj-cs"/>
              </a:rPr>
              <a:t>Term “development” according to different perspectives</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24579" name="Content Placeholder 2"/>
          <p:cNvSpPr>
            <a:spLocks noGrp="1"/>
          </p:cNvSpPr>
          <p:nvPr>
            <p:ph sz="quarter" idx="1"/>
          </p:nvPr>
        </p:nvSpPr>
        <p:spPr>
          <a:ln/>
        </p:spPr>
        <p:txBody>
          <a:bodyPr vert="horz" wrap="square" lIns="91440" tIns="45720" rIns="91440" bIns="45720" anchor="t" anchorCtr="0"/>
          <a:p>
            <a:pPr algn="just">
              <a:buClr>
                <a:schemeClr val="accent1"/>
              </a:buClr>
              <a:buSzPct val="70000"/>
              <a:buFont typeface="Wingdings" panose="05000000000000000000" pitchFamily="2" charset="2"/>
            </a:pPr>
            <a:r>
              <a:rPr b="1" dirty="0"/>
              <a:t>Social aspect, </a:t>
            </a:r>
            <a:r>
              <a:rPr dirty="0"/>
              <a:t>the term development is understood as a social condition within a nation, in which the authentic needs of its population are satisfied by the rational and sustainable use of natural resources and systems.  This utilization of natural resources is based on a technology, which respects the cultural features of the population of a given country</a:t>
            </a:r>
            <a:endParaRPr dirty="0"/>
          </a:p>
        </p:txBody>
      </p:sp>
      <p:sp>
        <p:nvSpPr>
          <p:cNvPr id="24580"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25603"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buChar char="q"/>
            </a:pPr>
            <a:r>
              <a:rPr b="1" dirty="0"/>
              <a:t>In economic terms</a:t>
            </a:r>
            <a:r>
              <a:rPr dirty="0"/>
              <a:t>, the above-mentioned definition indicates that for the population of a country, there are employment opportunities, satisfaction -at least- of basic needs, and the achievement of a positive rate of distribution and redistribution of national wealth. </a:t>
            </a:r>
            <a:endParaRPr dirty="0"/>
          </a:p>
          <a:p>
            <a:pPr>
              <a:buClr>
                <a:schemeClr val="accent1"/>
              </a:buClr>
              <a:buSzPct val="70000"/>
              <a:buFont typeface="Wingdings" panose="05000000000000000000" pitchFamily="2" charset="2"/>
              <a:buChar char="q"/>
            </a:pPr>
            <a:r>
              <a:rPr b="1" dirty="0"/>
              <a:t>In a political </a:t>
            </a:r>
            <a:r>
              <a:rPr dirty="0"/>
              <a:t>sense this definition emphasizes that governmental systems have legitimacy not only in terms of the law, but also in terms of providing social benefits for the majority of the population.</a:t>
            </a:r>
            <a:endParaRPr dirty="0"/>
          </a:p>
          <a:p>
            <a:pPr>
              <a:buClr>
                <a:schemeClr val="accent1"/>
              </a:buClr>
              <a:buSzPct val="70000"/>
              <a:buFont typeface="Wingdings" panose="05000000000000000000" pitchFamily="2" charset="2"/>
              <a:buChar char=""/>
            </a:pPr>
            <a:endParaRPr dirty="0"/>
          </a:p>
          <a:p>
            <a:pPr>
              <a:buClr>
                <a:schemeClr val="accent1"/>
              </a:buClr>
              <a:buSzPct val="70000"/>
              <a:buFont typeface="Wingdings" panose="05000000000000000000" pitchFamily="2" charset="2"/>
              <a:buChar char=""/>
            </a:pPr>
            <a:endParaRPr dirty="0"/>
          </a:p>
        </p:txBody>
      </p:sp>
      <p:sp>
        <p:nvSpPr>
          <p:cNvPr id="25604"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a:ln>
                  <a:noFill/>
                </a:ln>
                <a:solidFill>
                  <a:schemeClr val="tx2"/>
                </a:solidFill>
                <a:effectLst/>
                <a:uLnTx/>
                <a:uFillTx/>
                <a:latin typeface="+mj-lt"/>
                <a:ea typeface="+mj-ea"/>
                <a:cs typeface="+mj-cs"/>
              </a:rPr>
              <a:t>Objectives of Development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26627" name="Content Placeholder 2"/>
          <p:cNvSpPr>
            <a:spLocks noGrp="1"/>
          </p:cNvSpPr>
          <p:nvPr>
            <p:ph sz="quarter" idx="1"/>
          </p:nvPr>
        </p:nvSpPr>
        <p:spPr>
          <a:ln/>
        </p:spPr>
        <p:txBody>
          <a:bodyPr vert="horz" wrap="square" lIns="91440" tIns="45720" rIns="91440" bIns="45720" anchor="t" anchorCtr="0"/>
          <a:p>
            <a:pPr algn="just" eaLnBrk="1" hangingPunct="1">
              <a:buClr>
                <a:schemeClr val="accent1"/>
              </a:buClr>
              <a:buSzPct val="70000"/>
              <a:buFont typeface="Wingdings" panose="05000000000000000000" pitchFamily="2" charset="2"/>
            </a:pPr>
            <a:r>
              <a:rPr lang="en-US" altLang="en-US" dirty="0"/>
              <a:t>To increase the availability and widen the distribution of basic needs like food, shelter, clothes, health</a:t>
            </a:r>
            <a:endParaRPr lang="en-US" altLang="en-US" dirty="0"/>
          </a:p>
          <a:p>
            <a:pPr algn="just" eaLnBrk="1" hangingPunct="1">
              <a:buClr>
                <a:schemeClr val="accent1"/>
              </a:buClr>
              <a:buSzPct val="70000"/>
              <a:buFont typeface="Wingdings" panose="05000000000000000000" pitchFamily="2" charset="2"/>
            </a:pPr>
            <a:r>
              <a:rPr lang="en-US" altLang="en-US" dirty="0"/>
              <a:t>To raise the level of living including higher income, provision of employment and opportunities, better education and cultural value</a:t>
            </a:r>
            <a:endParaRPr lang="en-US" altLang="en-US" dirty="0"/>
          </a:p>
          <a:p>
            <a:pPr algn="just" eaLnBrk="1" hangingPunct="1">
              <a:buClr>
                <a:schemeClr val="accent1"/>
              </a:buClr>
              <a:buSzPct val="70000"/>
              <a:buFont typeface="Wingdings" panose="05000000000000000000" pitchFamily="2" charset="2"/>
            </a:pPr>
            <a:r>
              <a:rPr lang="en-US" altLang="en-US" dirty="0"/>
              <a:t>To expand the range of economic and social choice to individual and nation by freeing them from dependence </a:t>
            </a:r>
            <a:endParaRPr lang="en-US" altLang="en-US" dirty="0"/>
          </a:p>
        </p:txBody>
      </p:sp>
      <p:sp>
        <p:nvSpPr>
          <p:cNvPr id="26628"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Development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27651" name="Content Placeholder 2"/>
          <p:cNvSpPr>
            <a:spLocks noGrp="1"/>
          </p:cNvSpPr>
          <p:nvPr>
            <p:ph sz="quarter" idx="1"/>
          </p:nvPr>
        </p:nvSpPr>
        <p:spPr>
          <a:ln/>
        </p:spPr>
        <p:txBody>
          <a:bodyPr vert="horz" wrap="square" lIns="91440" tIns="45720" rIns="91440" bIns="45720" anchor="t" anchorCtr="0"/>
          <a:p>
            <a:pPr>
              <a:buFont typeface="Wingdings 2" panose="05020102010507070707" pitchFamily="18" charset="2"/>
              <a:buNone/>
            </a:pPr>
            <a:r>
              <a:rPr dirty="0"/>
              <a:t>Some indicators include; </a:t>
            </a:r>
            <a:endParaRPr dirty="0"/>
          </a:p>
          <a:p>
            <a:pPr>
              <a:buFont typeface="Wingdings" panose="05000000000000000000" pitchFamily="2" charset="2"/>
              <a:buChar char=""/>
            </a:pPr>
            <a:r>
              <a:rPr dirty="0"/>
              <a:t>Income, </a:t>
            </a:r>
            <a:endParaRPr dirty="0"/>
          </a:p>
          <a:p>
            <a:pPr>
              <a:buFont typeface="Wingdings" panose="05000000000000000000" pitchFamily="2" charset="2"/>
              <a:buChar char=""/>
            </a:pPr>
            <a:r>
              <a:rPr dirty="0"/>
              <a:t>GDP, </a:t>
            </a:r>
            <a:endParaRPr dirty="0"/>
          </a:p>
          <a:p>
            <a:pPr>
              <a:buFont typeface="Wingdings" panose="05000000000000000000" pitchFamily="2" charset="2"/>
              <a:buChar char=""/>
            </a:pPr>
            <a:r>
              <a:rPr dirty="0"/>
              <a:t>Social services, </a:t>
            </a:r>
            <a:endParaRPr dirty="0"/>
          </a:p>
          <a:p>
            <a:pPr>
              <a:buFont typeface="Wingdings" panose="05000000000000000000" pitchFamily="2" charset="2"/>
              <a:buChar char=""/>
            </a:pPr>
            <a:r>
              <a:rPr dirty="0"/>
              <a:t>Infrastructure, </a:t>
            </a:r>
            <a:endParaRPr dirty="0"/>
          </a:p>
          <a:p>
            <a:pPr>
              <a:buFont typeface="Wingdings" panose="05000000000000000000" pitchFamily="2" charset="2"/>
              <a:buChar char=""/>
            </a:pPr>
            <a:r>
              <a:rPr dirty="0"/>
              <a:t>Political stability, </a:t>
            </a:r>
            <a:endParaRPr dirty="0"/>
          </a:p>
          <a:p>
            <a:pPr>
              <a:buFont typeface="Wingdings" panose="05000000000000000000" pitchFamily="2" charset="2"/>
              <a:buChar char=""/>
            </a:pPr>
            <a:r>
              <a:rPr dirty="0"/>
              <a:t>Food security, etc.</a:t>
            </a:r>
            <a:endParaRPr dirty="0"/>
          </a:p>
          <a:p>
            <a:pPr>
              <a:buFont typeface="Wingdings" panose="05000000000000000000" pitchFamily="2" charset="2"/>
              <a:buChar char=""/>
            </a:pPr>
            <a:r>
              <a:rPr dirty="0"/>
              <a:t>Technology  </a:t>
            </a:r>
            <a:endParaRPr dirty="0"/>
          </a:p>
        </p:txBody>
      </p:sp>
      <p:sp>
        <p:nvSpPr>
          <p:cNvPr id="27652"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62000" y="0"/>
            <a:ext cx="7162800" cy="762000"/>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2800" b="0" i="0" u="none" strike="noStrike" kern="1200" cap="small" spc="0" normalizeH="0" baseline="0" noProof="0" dirty="0" smtClean="0">
                <a:ln>
                  <a:noFill/>
                </a:ln>
                <a:solidFill>
                  <a:schemeClr val="tx2"/>
                </a:solidFill>
                <a:effectLst/>
                <a:uLnTx/>
                <a:uFillTx/>
                <a:latin typeface="+mj-lt"/>
                <a:ea typeface="+mj-ea"/>
                <a:cs typeface="+mj-cs"/>
              </a:rPr>
              <a:t>Indicators OF DEVELOPMENT</a:t>
            </a:r>
            <a:endParaRPr kumimoji="0" lang="en-US"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381000" y="762000"/>
            <a:ext cx="7543800" cy="5711825"/>
          </a:xfrm>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q"/>
              <a:defRPr/>
            </a:pPr>
            <a:r>
              <a:rPr kumimoji="0" lang="en-US" sz="2400" b="1" i="0" u="none" strike="noStrike" kern="1200" cap="none" spc="0" normalizeH="0" baseline="0" noProof="0" dirty="0">
                <a:ln>
                  <a:noFill/>
                </a:ln>
                <a:solidFill>
                  <a:schemeClr val="tx1"/>
                </a:solidFill>
                <a:effectLst/>
                <a:uLnTx/>
                <a:uFillTx/>
                <a:latin typeface="+mn-lt"/>
                <a:ea typeface="+mn-ea"/>
                <a:cs typeface="+mn-cs"/>
              </a:rPr>
              <a:t>In order for a country to be called as a developed/developing state, there are several indicators to be taken into consideration</a:t>
            </a:r>
            <a:endParaRPr kumimoji="0" lang="en-US" sz="2400" b="1"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Economic Indicators Gross:  Domestic Product (GDP) Types of Work (Economic Sectors)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Social Indicators:  Education and Literacy, Health and Welfare,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Demographic Indicators: Life Expectancy, Infant Mortality, and Natural Increase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therefore: Human Development Index (HDI),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Gender Development Index (GDI),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Human Poverty Index (HPI)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28676"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a:ln>
                  <a:noFill/>
                </a:ln>
                <a:solidFill>
                  <a:schemeClr val="tx2"/>
                </a:solidFill>
                <a:effectLst/>
                <a:uLnTx/>
                <a:uFillTx/>
                <a:latin typeface="+mj-lt"/>
                <a:ea typeface="+mj-ea"/>
                <a:cs typeface="+mj-cs"/>
              </a:rPr>
              <a:t>Principle of development:</a:t>
            </a:r>
            <a:br>
              <a:rPr kumimoji="0" lang="en-US" sz="3000" b="0" i="0" u="none" strike="noStrike" kern="1200" cap="small" spc="0" normalizeH="0" baseline="0" noProof="0" dirty="0">
                <a:ln>
                  <a:noFill/>
                </a:ln>
                <a:solidFill>
                  <a:schemeClr val="tx2"/>
                </a:solidFill>
                <a:effectLst/>
                <a:uLnTx/>
                <a:uFillTx/>
                <a:latin typeface="+mj-lt"/>
                <a:ea typeface="+mj-ea"/>
                <a:cs typeface="+mj-cs"/>
              </a:rPr>
            </a:b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1" i="0" u="none" strike="noStrike" kern="1200" cap="none" spc="0" normalizeH="0" baseline="0" noProof="0" dirty="0">
                <a:ln>
                  <a:noFill/>
                </a:ln>
                <a:solidFill>
                  <a:schemeClr val="tx1"/>
                </a:solidFill>
                <a:effectLst/>
                <a:uLnTx/>
                <a:uFillTx/>
                <a:latin typeface="+mn-lt"/>
                <a:ea typeface="+mn-ea"/>
                <a:cs typeface="+mn-cs"/>
              </a:rPr>
              <a:t>Development is Continuous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a:ln>
                  <a:noFill/>
                </a:ln>
                <a:solidFill>
                  <a:schemeClr val="tx1"/>
                </a:solidFill>
                <a:effectLst/>
                <a:uLnTx/>
                <a:uFillTx/>
                <a:latin typeface="+mn-lt"/>
                <a:ea typeface="+mn-ea"/>
                <a:cs typeface="+mn-cs"/>
              </a:rPr>
              <a:t>The process of development goes on continuously throughout life.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1" i="0" u="none" strike="noStrike" kern="1200" cap="none" spc="0" normalizeH="0" baseline="0" noProof="0" dirty="0">
                <a:ln>
                  <a:noFill/>
                </a:ln>
                <a:solidFill>
                  <a:schemeClr val="tx1"/>
                </a:solidFill>
                <a:effectLst/>
                <a:uLnTx/>
                <a:uFillTx/>
                <a:latin typeface="+mn-lt"/>
                <a:ea typeface="+mn-ea"/>
                <a:cs typeface="+mn-cs"/>
              </a:rPr>
              <a:t>Development is Gradual:</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It </a:t>
            </a:r>
            <a:r>
              <a:rPr kumimoji="0" lang="en-US" sz="2400" b="0" i="0" u="none" strike="noStrike" kern="1200" cap="none" spc="0" normalizeH="0" baseline="0" noProof="0" dirty="0">
                <a:ln>
                  <a:noFill/>
                </a:ln>
                <a:solidFill>
                  <a:schemeClr val="tx1"/>
                </a:solidFill>
                <a:effectLst/>
                <a:uLnTx/>
                <a:uFillTx/>
                <a:latin typeface="+mn-lt"/>
                <a:ea typeface="+mn-ea"/>
                <a:cs typeface="+mn-cs"/>
              </a:rPr>
              <a:t>does not come all on a sudden. It is also cumulative in nature.</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1" i="0" u="none" strike="noStrike" kern="1200" cap="none" spc="0" normalizeH="0" baseline="0" noProof="0" dirty="0">
                <a:ln>
                  <a:noFill/>
                </a:ln>
                <a:solidFill>
                  <a:schemeClr val="tx1"/>
                </a:solidFill>
                <a:effectLst/>
                <a:uLnTx/>
                <a:uFillTx/>
                <a:latin typeface="+mn-lt"/>
                <a:ea typeface="+mn-ea"/>
                <a:cs typeface="+mn-cs"/>
              </a:rPr>
              <a:t>Development is Sequential:</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Most </a:t>
            </a:r>
            <a:r>
              <a:rPr kumimoji="0" lang="en-US" sz="2400" b="0" i="0" u="none" strike="noStrike" kern="1200" cap="none" spc="0" normalizeH="0" baseline="0" noProof="0" dirty="0">
                <a:ln>
                  <a:noFill/>
                </a:ln>
                <a:solidFill>
                  <a:schemeClr val="tx1"/>
                </a:solidFill>
                <a:effectLst/>
                <a:uLnTx/>
                <a:uFillTx/>
                <a:latin typeface="+mn-lt"/>
                <a:ea typeface="+mn-ea"/>
                <a:cs typeface="+mn-cs"/>
              </a:rPr>
              <a:t>psychologists agree that development is sequential or orderly. It follows a pattern of development peculiar to it.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29700"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tx2"/>
                </a:solidFill>
                <a:effectLst/>
                <a:uLnTx/>
                <a:uFillTx/>
                <a:latin typeface="+mj-lt"/>
                <a:ea typeface="+mj-ea"/>
                <a:cs typeface="+mj-cs"/>
              </a:rPr>
              <a:t>Principle of development </a:t>
            </a:r>
            <a:r>
              <a:rPr kumimoji="0" lang="en-US" sz="3000" b="1" i="0" u="none" strike="noStrike" kern="1200" cap="small" spc="0" normalizeH="0" baseline="0" noProof="0" dirty="0" err="1" smtClean="0">
                <a:ln>
                  <a:noFill/>
                </a:ln>
                <a:solidFill>
                  <a:schemeClr val="tx2"/>
                </a:solidFill>
                <a:effectLst/>
                <a:uLnTx/>
                <a:uFillTx/>
                <a:latin typeface="+mj-lt"/>
                <a:ea typeface="+mj-ea"/>
                <a:cs typeface="+mj-cs"/>
              </a:rPr>
              <a:t>cont</a:t>
            </a:r>
            <a:r>
              <a:rPr kumimoji="0" lang="en-US" sz="3000" b="1" i="0" u="none" strike="noStrike" kern="1200" cap="small" spc="0" normalizeH="0" baseline="0" noProof="0" dirty="0" smtClean="0">
                <a:ln>
                  <a:noFill/>
                </a:ln>
                <a:solidFill>
                  <a:schemeClr val="tx2"/>
                </a:solidFill>
                <a:effectLst/>
                <a:uLnTx/>
                <a:uFillTx/>
                <a:latin typeface="+mj-lt"/>
                <a:ea typeface="+mj-ea"/>
                <a:cs typeface="+mj-cs"/>
              </a:rPr>
              <a:t>…</a:t>
            </a:r>
            <a:br>
              <a:rPr kumimoji="0" lang="en-US" sz="3000" b="0" i="0" u="none" strike="noStrike" kern="1200" cap="small" spc="0" normalizeH="0" baseline="0" noProof="0" dirty="0" smtClean="0">
                <a:ln>
                  <a:noFill/>
                </a:ln>
                <a:solidFill>
                  <a:schemeClr val="tx2"/>
                </a:solidFill>
                <a:effectLst/>
                <a:uLnTx/>
                <a:uFillTx/>
                <a:latin typeface="+mj-lt"/>
                <a:ea typeface="+mj-ea"/>
                <a:cs typeface="+mj-cs"/>
              </a:rPr>
            </a:b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1" i="0" u="none" strike="noStrike" kern="1200" cap="none" spc="0" normalizeH="0" baseline="0" noProof="0" dirty="0">
                <a:ln>
                  <a:noFill/>
                </a:ln>
                <a:solidFill>
                  <a:schemeClr val="tx1"/>
                </a:solidFill>
                <a:effectLst/>
                <a:uLnTx/>
                <a:uFillTx/>
                <a:latin typeface="+mn-lt"/>
                <a:ea typeface="+mn-ea"/>
                <a:cs typeface="+mn-cs"/>
              </a:rPr>
              <a:t>Development Proceeds from General to Specific:</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a:ln>
                  <a:noFill/>
                </a:ln>
                <a:solidFill>
                  <a:schemeClr val="tx1"/>
                </a:solidFill>
                <a:effectLst/>
                <a:uLnTx/>
                <a:uFillTx/>
                <a:latin typeface="+mn-lt"/>
                <a:ea typeface="+mn-ea"/>
                <a:cs typeface="+mn-cs"/>
              </a:rPr>
              <a:t>Development proceeds from general to specific. In all areas of development, general activity always precedes specific activity.</a:t>
            </a:r>
            <a:r>
              <a:rPr kumimoji="0" lang="en-US" sz="2400" b="1" i="0" u="none" strike="noStrike" kern="1200" cap="none" spc="0" normalizeH="0" baseline="0" noProof="0" dirty="0">
                <a:ln>
                  <a:noFill/>
                </a:ln>
                <a:solidFill>
                  <a:schemeClr val="tx1"/>
                </a:solidFill>
                <a:effectLst/>
                <a:uLnTx/>
                <a:uFillTx/>
                <a:latin typeface="+mn-lt"/>
                <a:ea typeface="+mn-ea"/>
                <a:cs typeface="+mn-cs"/>
              </a:rPr>
              <a:t>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1" i="0" u="none" strike="noStrike" kern="1200" cap="none" spc="0" normalizeH="0" baseline="0" noProof="0" dirty="0">
                <a:ln>
                  <a:noFill/>
                </a:ln>
                <a:solidFill>
                  <a:schemeClr val="tx1"/>
                </a:solidFill>
                <a:effectLst/>
                <a:uLnTx/>
                <a:uFillTx/>
                <a:latin typeface="+mn-lt"/>
                <a:ea typeface="+mn-ea"/>
                <a:cs typeface="+mn-cs"/>
              </a:rPr>
              <a:t>Development brings about both structural and functional changes.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1" i="0" u="none" strike="noStrike" kern="1200" cap="none" spc="0" normalizeH="0" baseline="0" noProof="0" dirty="0">
                <a:ln>
                  <a:noFill/>
                </a:ln>
                <a:solidFill>
                  <a:schemeClr val="tx1"/>
                </a:solidFill>
                <a:effectLst/>
                <a:uLnTx/>
                <a:uFillTx/>
                <a:latin typeface="+mn-lt"/>
                <a:ea typeface="+mn-ea"/>
                <a:cs typeface="+mn-cs"/>
              </a:rPr>
              <a:t>Constant Interaction Between All Factors of Development: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a:ln>
                  <a:noFill/>
                </a:ln>
                <a:solidFill>
                  <a:schemeClr val="tx1"/>
                </a:solidFill>
                <a:effectLst/>
                <a:uLnTx/>
                <a:uFillTx/>
                <a:latin typeface="+mn-lt"/>
                <a:ea typeface="+mn-ea"/>
                <a:cs typeface="+mn-cs"/>
              </a:rPr>
              <a:t>Development in one area is highly related to development in other areas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30724"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itle 1"/>
          <p:cNvSpPr>
            <a:spLocks noGrp="1"/>
          </p:cNvSpPr>
          <p:nvPr>
            <p:ph type="title"/>
          </p:nvPr>
        </p:nvSpPr>
        <p:spPr>
          <a:xfrm>
            <a:off x="457200" y="274638"/>
            <a:ext cx="8229600" cy="868363"/>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000" b="1" i="0" u="none" strike="noStrike" kern="1200" cap="small" spc="0" normalizeH="0" baseline="0" noProof="0" smtClean="0">
                <a:ln>
                  <a:noFill/>
                </a:ln>
                <a:solidFill>
                  <a:schemeClr val="tx2"/>
                </a:solidFill>
                <a:effectLst/>
                <a:uLnTx/>
                <a:uFillTx/>
                <a:latin typeface="+mj-lt"/>
                <a:ea typeface="+mj-ea"/>
                <a:cs typeface="+mj-cs"/>
              </a:rPr>
              <a:t>Core values of development</a:t>
            </a:r>
            <a:endParaRPr kumimoji="0" lang="en-US" altLang="en-US" sz="3000" b="1" i="0" u="none" strike="noStrike" kern="1200" cap="small" spc="0" normalizeH="0" baseline="0" noProof="0" smtClean="0">
              <a:ln>
                <a:noFill/>
              </a:ln>
              <a:solidFill>
                <a:schemeClr val="tx2"/>
              </a:solidFill>
              <a:effectLst/>
              <a:uLnTx/>
              <a:uFillTx/>
              <a:latin typeface="+mj-lt"/>
              <a:ea typeface="+mj-ea"/>
              <a:cs typeface="+mj-cs"/>
            </a:endParaRPr>
          </a:p>
        </p:txBody>
      </p:sp>
      <p:sp>
        <p:nvSpPr>
          <p:cNvPr id="34819" name="Content Placeholder 2"/>
          <p:cNvSpPr>
            <a:spLocks noGrp="1"/>
          </p:cNvSpPr>
          <p:nvPr>
            <p:ph sz="quarter" idx="1"/>
          </p:nvPr>
        </p:nvSpPr>
        <p:spPr>
          <a:xfrm>
            <a:off x="304800" y="1600200"/>
            <a:ext cx="8458200" cy="4525963"/>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When conceptualizing development as the sustained elevation of an entire society and social system towards better/good human life</a:t>
            </a:r>
            <a:endParaRPr kumimoji="0" lang="en-US"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This good life should be based on at least three basic components </a:t>
            </a:r>
            <a:endParaRPr kumimoji="0" lang="en-US"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q"/>
              <a:defRPr/>
            </a:pPr>
            <a:r>
              <a:rPr kumimoji="0" lang="en-US" altLang="en-US" sz="2400" b="1" i="0" u="none" strike="noStrike" kern="1200" cap="none" spc="0" normalizeH="0" baseline="0" noProof="0" dirty="0" smtClean="0">
                <a:ln>
                  <a:noFill/>
                </a:ln>
                <a:solidFill>
                  <a:schemeClr val="tx1"/>
                </a:solidFill>
                <a:effectLst/>
                <a:uLnTx/>
                <a:uFillTx/>
                <a:latin typeface="+mn-lt"/>
                <a:ea typeface="+mn-ea"/>
                <a:cs typeface="+mn-cs"/>
              </a:rPr>
              <a:t>Life sustenance</a:t>
            </a: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 the ability to provide basic needs like food, shelter, health, </a:t>
            </a:r>
            <a:r>
              <a:rPr kumimoji="0" lang="en-US" altLang="en-US" sz="2400" b="0" i="0" u="none" strike="noStrike" kern="1200" cap="none" spc="0" normalizeH="0" baseline="0" noProof="0" dirty="0" err="1" smtClean="0">
                <a:ln>
                  <a:noFill/>
                </a:ln>
                <a:solidFill>
                  <a:schemeClr val="tx1"/>
                </a:solidFill>
                <a:effectLst/>
                <a:uLnTx/>
                <a:uFillTx/>
                <a:latin typeface="+mn-lt"/>
                <a:ea typeface="+mn-ea"/>
                <a:cs typeface="+mn-cs"/>
              </a:rPr>
              <a:t>proctection</a:t>
            </a: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en-US" sz="2400" b="0" i="0" u="none" strike="noStrike" kern="1200" cap="none" spc="0" normalizeH="0" baseline="0" noProof="0" dirty="0" err="1" smtClean="0">
                <a:ln>
                  <a:noFill/>
                </a:ln>
                <a:solidFill>
                  <a:schemeClr val="tx1"/>
                </a:solidFill>
                <a:effectLst/>
                <a:uLnTx/>
                <a:uFillTx/>
                <a:latin typeface="+mn-lt"/>
                <a:ea typeface="+mn-ea"/>
                <a:cs typeface="+mn-cs"/>
              </a:rPr>
              <a:t>etc</a:t>
            </a:r>
            <a:endParaRPr kumimoji="0" lang="en-US" alt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1748" name="Slide Number Placeholder 1"/>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itle 1"/>
          <p:cNvSpPr>
            <a:spLocks noGrp="1"/>
          </p:cNvSpPr>
          <p:nvPr>
            <p:ph type="title"/>
          </p:nvPr>
        </p:nvSpPr>
        <p:spPr>
          <a:xfrm>
            <a:off x="457200" y="0"/>
            <a:ext cx="8229600" cy="11430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000" b="1" i="0" u="none" strike="noStrike" kern="1200" cap="small" spc="0" normalizeH="0" baseline="0" noProof="0" dirty="0" smtClean="0">
                <a:ln>
                  <a:noFill/>
                </a:ln>
                <a:solidFill>
                  <a:schemeClr val="tx2"/>
                </a:solidFill>
                <a:effectLst/>
                <a:uLnTx/>
                <a:uFillTx/>
                <a:latin typeface="+mj-lt"/>
                <a:ea typeface="+mj-ea"/>
                <a:cs typeface="+mj-cs"/>
              </a:rPr>
              <a:t>Core values of development CONT ….</a:t>
            </a:r>
            <a:endParaRPr kumimoji="0" lang="en-US" altLang="en-US" sz="3000" b="0" i="0" u="none" strike="noStrike" kern="1200" cap="small" spc="0" normalizeH="0" baseline="0" noProof="0" dirty="0" smtClean="0">
              <a:ln>
                <a:noFill/>
              </a:ln>
              <a:solidFill>
                <a:schemeClr val="tx2"/>
              </a:solidFill>
              <a:effectLst/>
              <a:uLnTx/>
              <a:uFillTx/>
              <a:latin typeface="+mj-lt"/>
              <a:ea typeface="+mj-ea"/>
              <a:cs typeface="+mj-cs"/>
            </a:endParaRPr>
          </a:p>
        </p:txBody>
      </p:sp>
      <p:sp>
        <p:nvSpPr>
          <p:cNvPr id="35843" name="Content Placeholder 3"/>
          <p:cNvSpPr>
            <a:spLocks noGrp="1"/>
          </p:cNvSpPr>
          <p:nvPr>
            <p:ph sz="quarter" idx="1"/>
          </p:nvPr>
        </p:nvSpPr>
        <p:spPr>
          <a:xfrm>
            <a:off x="457200" y="1066800"/>
            <a:ext cx="8382000" cy="5562600"/>
          </a:xfrm>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600"/>
              </a:spcBef>
              <a:spcAft>
                <a:spcPct val="0"/>
              </a:spcAft>
              <a:buClr>
                <a:schemeClr val="accent1"/>
              </a:buClr>
              <a:buSzPct val="70000"/>
              <a:buFontTx/>
              <a:buChar char="-"/>
              <a:defRPr/>
            </a:pPr>
            <a:endParaRPr kumimoji="0" lang="en-US" altLang="en-US" sz="24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q"/>
              <a:defRPr/>
            </a:pPr>
            <a:r>
              <a:rPr kumimoji="0" lang="en-US" altLang="en-US" sz="2400" b="1" i="0" u="none" strike="noStrike" kern="1200" cap="none" spc="0" normalizeH="0" baseline="0" noProof="0" dirty="0" smtClean="0">
                <a:ln>
                  <a:noFill/>
                </a:ln>
                <a:solidFill>
                  <a:schemeClr val="tx1"/>
                </a:solidFill>
                <a:effectLst/>
                <a:uLnTx/>
                <a:uFillTx/>
                <a:latin typeface="+mn-lt"/>
                <a:ea typeface="+mn-ea"/>
                <a:cs typeface="+mn-cs"/>
              </a:rPr>
              <a:t>Self-esteem: </a:t>
            </a:r>
            <a:endParaRPr kumimoji="0" lang="en-US" altLang="en-US" sz="2400" b="1"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to be a person; a sense of worth and self respect, of not been used as a tool by others for their own needs</a:t>
            </a:r>
            <a:endParaRPr kumimoji="0" lang="en-US"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All people and societies seek some basic form of self-esteem</a:t>
            </a:r>
            <a:endParaRPr kumimoji="0" lang="en-US"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This can be called identity, dignity, respect, honor and recognition</a:t>
            </a:r>
            <a:endParaRPr kumimoji="0" lang="en-US"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q"/>
              <a:defRPr/>
            </a:pPr>
            <a:r>
              <a:rPr kumimoji="0" lang="en-US" altLang="en-US" sz="2400" b="1" i="0" u="none" strike="noStrike" kern="1200" cap="none" spc="0" normalizeH="0" baseline="0" noProof="0" dirty="0" smtClean="0">
                <a:ln>
                  <a:noFill/>
                </a:ln>
                <a:solidFill>
                  <a:schemeClr val="tx1"/>
                </a:solidFill>
                <a:effectLst/>
                <a:uLnTx/>
                <a:uFillTx/>
                <a:latin typeface="+mn-lt"/>
                <a:ea typeface="+mn-ea"/>
                <a:cs typeface="+mn-cs"/>
              </a:rPr>
              <a:t>Freedom from servitude; </a:t>
            </a: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freedom from being a slave/ forced to obey  another person and be able to choose</a:t>
            </a:r>
            <a:endParaRPr kumimoji="0" lang="en-US" altLang="en-US" sz="24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alt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2772" name="Slide Number Placeholder 1"/>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638"/>
            <a:ext cx="7950200" cy="1096963"/>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3000" b="1" i="0" u="none" strike="noStrike" kern="1200" cap="small" spc="0" normalizeH="0" baseline="0" noProof="0" dirty="0" smtClean="0">
                <a:ln>
                  <a:noFill/>
                </a:ln>
                <a:solidFill>
                  <a:schemeClr val="tx2"/>
                </a:solidFill>
                <a:effectLst/>
                <a:uLnTx/>
                <a:uFillTx/>
                <a:latin typeface="+mj-lt"/>
                <a:ea typeface="+mj-ea"/>
                <a:cs typeface="+mj-cs"/>
              </a:rPr>
              <a:t>Core values of development CONT…. </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q"/>
              <a:defRPr/>
            </a:pPr>
            <a:r>
              <a:rPr kumimoji="0" lang="en-US" altLang="en-US" sz="2400" b="1" i="0" u="none" strike="noStrike" kern="1200" cap="none" spc="0" normalizeH="0" baseline="0" noProof="0" dirty="0">
                <a:ln>
                  <a:noFill/>
                </a:ln>
                <a:solidFill>
                  <a:schemeClr val="tx1"/>
                </a:solidFill>
                <a:effectLst/>
                <a:uLnTx/>
                <a:uFillTx/>
                <a:latin typeface="+mn-lt"/>
                <a:ea typeface="+mn-ea"/>
                <a:cs typeface="+mn-cs"/>
              </a:rPr>
              <a:t>Freedom from servitude; </a:t>
            </a:r>
            <a:r>
              <a:rPr kumimoji="0" lang="en-US" altLang="en-US" sz="2400" b="0" i="0" u="none" strike="noStrike" kern="1200" cap="none" spc="0" normalizeH="0" baseline="0" noProof="0" dirty="0">
                <a:ln>
                  <a:noFill/>
                </a:ln>
                <a:solidFill>
                  <a:schemeClr val="tx1"/>
                </a:solidFill>
                <a:effectLst/>
                <a:uLnTx/>
                <a:uFillTx/>
                <a:latin typeface="+mn-lt"/>
                <a:ea typeface="+mn-ea"/>
                <a:cs typeface="+mn-cs"/>
              </a:rPr>
              <a:t>freedom from being a slave/ forced to obey  another person and be able to choose</a:t>
            </a:r>
            <a:endParaRPr kumimoji="0" lang="en-US" altLang="en-US"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Free from alienating material condition of life and from social servitude to nature</a:t>
            </a:r>
            <a:endParaRPr kumimoji="0" lang="en-US"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altLang="en-US" sz="2400" b="0" i="0" u="none" strike="noStrike" kern="1200" cap="none" spc="0" normalizeH="0" baseline="0" noProof="0" dirty="0" smtClean="0">
                <a:ln>
                  <a:noFill/>
                </a:ln>
                <a:solidFill>
                  <a:schemeClr val="tx1"/>
                </a:solidFill>
                <a:effectLst/>
                <a:uLnTx/>
                <a:uFillTx/>
                <a:latin typeface="+mn-lt"/>
                <a:ea typeface="+mn-ea"/>
                <a:cs typeface="+mn-cs"/>
              </a:rPr>
              <a:t>Freedom involves the expanded range of choices for societies and their members</a:t>
            </a:r>
            <a:endParaRPr kumimoji="0" lang="en-US"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altLang="en-US" sz="2400" b="0" i="0" u="none" strike="noStrike" kern="1200" cap="none" spc="0" normalizeH="0" baseline="0" noProof="0" dirty="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33796"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000" b="1" i="0" u="none" strike="noStrike" kern="1200" cap="small" spc="0" normalizeH="0" baseline="0" noProof="0" smtClean="0">
                <a:ln>
                  <a:noFill/>
                </a:ln>
                <a:solidFill>
                  <a:schemeClr val="tx2"/>
                </a:solidFill>
                <a:effectLst/>
                <a:uLnTx/>
                <a:uFillTx/>
                <a:latin typeface="+mj-lt"/>
                <a:ea typeface="+mj-ea"/>
                <a:cs typeface="+mj-cs"/>
              </a:rPr>
              <a:t>Political development</a:t>
            </a:r>
            <a:endParaRPr kumimoji="0" lang="en-US" altLang="en-US" sz="3000" b="1" i="0" u="none" strike="noStrike" kern="1200" cap="small" spc="0" normalizeH="0" baseline="0" noProof="0" smtClean="0">
              <a:ln>
                <a:noFill/>
              </a:ln>
              <a:solidFill>
                <a:schemeClr val="tx2"/>
              </a:solidFill>
              <a:effectLst/>
              <a:uLnTx/>
              <a:uFillTx/>
              <a:latin typeface="+mj-lt"/>
              <a:ea typeface="+mj-ea"/>
              <a:cs typeface="+mj-cs"/>
            </a:endParaRPr>
          </a:p>
        </p:txBody>
      </p:sp>
      <p:sp>
        <p:nvSpPr>
          <p:cNvPr id="34819" name="Content Placeholder 2"/>
          <p:cNvSpPr>
            <a:spLocks noGrp="1"/>
          </p:cNvSpPr>
          <p:nvPr>
            <p:ph sz="quarter" idx="1"/>
          </p:nvPr>
        </p:nvSpPr>
        <p:spPr>
          <a:ln/>
        </p:spPr>
        <p:txBody>
          <a:bodyPr vert="horz" wrap="square" lIns="91440" tIns="45720" rIns="91440" bIns="45720" anchor="t" anchorCtr="0"/>
          <a:p>
            <a:pPr eaLnBrk="1" hangingPunct="1"/>
            <a:r>
              <a:rPr lang="en-US" altLang="en-US" dirty="0"/>
              <a:t>Involves democracy and freedom of the individual to participate in politics</a:t>
            </a:r>
            <a:endParaRPr lang="en-US" altLang="en-US" dirty="0"/>
          </a:p>
        </p:txBody>
      </p:sp>
      <p:sp>
        <p:nvSpPr>
          <p:cNvPr id="34820" name="Slide Number Placeholder 1"/>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a:ln>
                  <a:noFill/>
                </a:ln>
                <a:solidFill>
                  <a:schemeClr val="tx2"/>
                </a:solidFill>
                <a:effectLst/>
                <a:uLnTx/>
                <a:uFillTx/>
                <a:latin typeface="+mj-lt"/>
                <a:ea typeface="+mj-ea"/>
                <a:cs typeface="+mj-cs"/>
              </a:rPr>
              <a:t>social development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35843"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dirty="0"/>
              <a:t>Social development is about improving the well-being of every individual in society so they can reach their full potential. The success of society is linked to the well-being of each and every citizen. </a:t>
            </a:r>
            <a:br>
              <a:rPr dirty="0"/>
            </a:br>
            <a:br>
              <a:rPr dirty="0"/>
            </a:br>
            <a:r>
              <a:rPr dirty="0"/>
              <a:t>Social development means investing in people. It requires the removal of barriers so that all citizens can journey toward their dreams with confidence and dignity. It is about refusing to accept that people who live in poverty will always be poor. It is about helping people so they can move forward on their path to self-sufficiency. </a:t>
            </a:r>
            <a:endParaRPr dirty="0"/>
          </a:p>
          <a:p>
            <a:pPr>
              <a:buClr>
                <a:schemeClr val="accent1"/>
              </a:buClr>
              <a:buSzPct val="70000"/>
              <a:buFont typeface="Wingdings" panose="05000000000000000000" pitchFamily="2" charset="2"/>
            </a:pPr>
            <a:endParaRPr dirty="0"/>
          </a:p>
        </p:txBody>
      </p:sp>
      <p:sp>
        <p:nvSpPr>
          <p:cNvPr id="35844"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000" b="1" i="0" u="none" strike="noStrike" kern="1200" cap="small" spc="0" normalizeH="0" baseline="0" noProof="0" dirty="0" smtClean="0">
                <a:ln>
                  <a:noFill/>
                </a:ln>
                <a:solidFill>
                  <a:schemeClr val="tx2"/>
                </a:solidFill>
                <a:effectLst/>
                <a:uLnTx/>
                <a:uFillTx/>
                <a:latin typeface="+mj-lt"/>
                <a:ea typeface="+mj-ea"/>
                <a:cs typeface="+mj-cs"/>
              </a:rPr>
              <a:t>Economic Growth</a:t>
            </a:r>
            <a:endParaRPr kumimoji="0" lang="en-US" altLang="en-US" sz="3000" b="1" i="0" u="none" strike="noStrike" kern="1200" cap="small" spc="0" normalizeH="0" baseline="0" noProof="0" dirty="0" smtClean="0">
              <a:ln>
                <a:noFill/>
              </a:ln>
              <a:solidFill>
                <a:schemeClr val="tx2"/>
              </a:solidFill>
              <a:effectLst/>
              <a:uLnTx/>
              <a:uFillTx/>
              <a:latin typeface="+mj-lt"/>
              <a:ea typeface="+mj-ea"/>
              <a:cs typeface="+mj-cs"/>
            </a:endParaRPr>
          </a:p>
        </p:txBody>
      </p:sp>
      <p:sp>
        <p:nvSpPr>
          <p:cNvPr id="36867" name="Content Placeholder 2"/>
          <p:cNvSpPr>
            <a:spLocks noGrp="1"/>
          </p:cNvSpPr>
          <p:nvPr>
            <p:ph sz="quarter" idx="1"/>
          </p:nvPr>
        </p:nvSpPr>
        <p:spPr>
          <a:ln/>
        </p:spPr>
        <p:txBody>
          <a:bodyPr vert="horz" wrap="square" lIns="91440" tIns="45720" rIns="91440" bIns="45720" anchor="t" anchorCtr="0"/>
          <a:p>
            <a:pPr eaLnBrk="1" hangingPunct="1"/>
            <a:r>
              <a:rPr lang="en-US" altLang="en-US" dirty="0"/>
              <a:t>is the capacity of a national economy to generate and sustain an annual increase in its gross national product (GNP)</a:t>
            </a:r>
            <a:endParaRPr lang="en-US" altLang="en-US" dirty="0"/>
          </a:p>
          <a:p>
            <a:pPr eaLnBrk="1" hangingPunct="1"/>
            <a:r>
              <a:rPr dirty="0"/>
              <a:t>Economic Growth is the positive change in the real output of the country in a particular span of time. </a:t>
            </a:r>
            <a:endParaRPr dirty="0"/>
          </a:p>
          <a:p>
            <a:pPr eaLnBrk="1" hangingPunct="1"/>
            <a:r>
              <a:rPr dirty="0"/>
              <a:t>“Economic growth is a straight forward measurement of actual economic output — things like gross domestic product (GDP) fall into this measurement. It’s a pure numbers game.</a:t>
            </a:r>
            <a:endParaRPr dirty="0"/>
          </a:p>
          <a:p>
            <a:pPr eaLnBrk="1" hangingPunct="1"/>
            <a:endParaRPr lang="en-US" altLang="en-US" dirty="0"/>
          </a:p>
        </p:txBody>
      </p:sp>
      <p:sp>
        <p:nvSpPr>
          <p:cNvPr id="36868" name="Slide Number Placeholder 1"/>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itle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000" b="1" i="0" u="none" strike="noStrike" kern="1200" cap="small" spc="0" normalizeH="0" baseline="0" noProof="0" smtClean="0">
                <a:ln>
                  <a:noFill/>
                </a:ln>
                <a:solidFill>
                  <a:schemeClr val="tx2"/>
                </a:solidFill>
                <a:effectLst/>
                <a:uLnTx/>
                <a:uFillTx/>
                <a:latin typeface="+mj-lt"/>
                <a:ea typeface="+mj-ea"/>
                <a:cs typeface="+mj-cs"/>
              </a:rPr>
              <a:t>Economic development</a:t>
            </a:r>
            <a:endParaRPr kumimoji="0" lang="en-US" altLang="en-US" sz="3000" b="1" i="0" u="none" strike="noStrike" kern="1200" cap="small" spc="0" normalizeH="0" baseline="0" noProof="0" smtClean="0">
              <a:ln>
                <a:noFill/>
              </a:ln>
              <a:solidFill>
                <a:schemeClr val="tx2"/>
              </a:solidFill>
              <a:effectLst/>
              <a:uLnTx/>
              <a:uFillTx/>
              <a:latin typeface="+mj-lt"/>
              <a:ea typeface="+mj-ea"/>
              <a:cs typeface="+mj-cs"/>
            </a:endParaRPr>
          </a:p>
        </p:txBody>
      </p:sp>
      <p:sp>
        <p:nvSpPr>
          <p:cNvPr id="37891" name="Content Placeholder 3"/>
          <p:cNvSpPr>
            <a:spLocks noGrp="1"/>
          </p:cNvSpPr>
          <p:nvPr>
            <p:ph sz="quarter" idx="1"/>
          </p:nvPr>
        </p:nvSpPr>
        <p:spPr>
          <a:xfrm>
            <a:off x="152400" y="1600200"/>
            <a:ext cx="8763000" cy="4648200"/>
          </a:xfrm>
          <a:ln/>
        </p:spPr>
        <p:txBody>
          <a:bodyPr vert="horz" wrap="square" lIns="91440" tIns="45720" rIns="91440" bIns="45720" anchor="t" anchorCtr="0"/>
          <a:p>
            <a:r>
              <a:rPr lang="en-US" altLang="en-US" dirty="0"/>
              <a:t>Refers to long-term changes in system of production and distribution of goods and services affecting human welfare</a:t>
            </a:r>
            <a:endParaRPr lang="en-US" altLang="en-US" dirty="0"/>
          </a:p>
          <a:p>
            <a:r>
              <a:rPr lang="en-US" altLang="en-US" dirty="0"/>
              <a:t>It involves changes in forms as well as the scale of economic activities</a:t>
            </a:r>
            <a:endParaRPr lang="en-US" altLang="en-US" dirty="0"/>
          </a:p>
          <a:p>
            <a:r>
              <a:rPr lang="en-US" altLang="en-US" dirty="0"/>
              <a:t>It is fundamentally about enhancing the factors of productive capacity, labour capital and technology</a:t>
            </a:r>
            <a:endParaRPr lang="en-US" altLang="en-US" dirty="0"/>
          </a:p>
        </p:txBody>
      </p:sp>
      <p:sp>
        <p:nvSpPr>
          <p:cNvPr id="37892" name="Slide Number Placeholder 1"/>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1"/>
          <p:cNvSpPr>
            <a:spLocks noGrp="1"/>
          </p:cNvSpPr>
          <p:nvPr>
            <p:ph type="title"/>
          </p:nvPr>
        </p:nvSpPr>
        <p:spPr>
          <a:xfrm>
            <a:off x="457200" y="0"/>
            <a:ext cx="8229600" cy="9144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000" b="1" i="0" u="none" strike="noStrike" kern="1200" cap="small" spc="0" normalizeH="0" baseline="0" noProof="0" dirty="0" smtClean="0">
                <a:ln>
                  <a:noFill/>
                </a:ln>
                <a:solidFill>
                  <a:schemeClr val="tx2"/>
                </a:solidFill>
                <a:effectLst/>
                <a:uLnTx/>
                <a:uFillTx/>
                <a:latin typeface="+mj-lt"/>
                <a:ea typeface="+mj-ea"/>
                <a:cs typeface="+mj-cs"/>
              </a:rPr>
              <a:t>Economic development CONT….</a:t>
            </a:r>
            <a:endParaRPr kumimoji="0" lang="en-US" altLang="en-US" sz="3000" b="0" i="0" u="none" strike="noStrike" kern="1200" cap="small" spc="0" normalizeH="0" baseline="0" noProof="0" dirty="0" smtClean="0">
              <a:ln>
                <a:noFill/>
              </a:ln>
              <a:solidFill>
                <a:schemeClr val="tx2"/>
              </a:solidFill>
              <a:effectLst/>
              <a:uLnTx/>
              <a:uFillTx/>
              <a:latin typeface="+mj-lt"/>
              <a:ea typeface="+mj-ea"/>
              <a:cs typeface="+mj-cs"/>
            </a:endParaRPr>
          </a:p>
        </p:txBody>
      </p:sp>
      <p:sp>
        <p:nvSpPr>
          <p:cNvPr id="38915" name="Content Placeholder 2"/>
          <p:cNvSpPr>
            <a:spLocks noGrp="1"/>
          </p:cNvSpPr>
          <p:nvPr>
            <p:ph sz="quarter" idx="1"/>
          </p:nvPr>
        </p:nvSpPr>
        <p:spPr>
          <a:xfrm>
            <a:off x="152400" y="990600"/>
            <a:ext cx="8839200" cy="5715000"/>
          </a:xfrm>
          <a:ln/>
        </p:spPr>
        <p:txBody>
          <a:bodyPr vert="horz" wrap="square" lIns="91440" tIns="45720" rIns="91440" bIns="45720" anchor="t" anchorCtr="0"/>
          <a:p>
            <a:pPr eaLnBrk="1" hangingPunct="1"/>
            <a:r>
              <a:rPr lang="en-US" altLang="en-US" dirty="0"/>
              <a:t>A society develops economically as its members increase (jointly) their capacity to deal with their environment</a:t>
            </a:r>
            <a:endParaRPr lang="en-US" altLang="en-US" dirty="0"/>
          </a:p>
          <a:p>
            <a:pPr eaLnBrk="1" hangingPunct="1"/>
            <a:r>
              <a:rPr lang="en-US" altLang="en-US" dirty="0"/>
              <a:t>Economic development process should </a:t>
            </a:r>
            <a:endParaRPr lang="en-US" altLang="en-US" dirty="0"/>
          </a:p>
          <a:p>
            <a:pPr eaLnBrk="1" hangingPunct="1">
              <a:buFontTx/>
              <a:buChar char="-"/>
            </a:pPr>
            <a:r>
              <a:rPr lang="en-US" altLang="en-US" dirty="0"/>
              <a:t>ideal/ ultimate yield economic growth;</a:t>
            </a:r>
            <a:endParaRPr lang="en-US" altLang="en-US" dirty="0"/>
          </a:p>
          <a:p>
            <a:pPr eaLnBrk="1" hangingPunct="1">
              <a:buFontTx/>
              <a:buChar char="-"/>
            </a:pPr>
            <a:r>
              <a:rPr lang="en-US" altLang="en-US" dirty="0"/>
              <a:t>Improve quality of life and an equitable distribution of resources</a:t>
            </a:r>
            <a:endParaRPr lang="en-US" altLang="en-US" dirty="0"/>
          </a:p>
          <a:p>
            <a:pPr eaLnBrk="1" hangingPunct="1">
              <a:buFontTx/>
              <a:buChar char="-"/>
            </a:pPr>
            <a:r>
              <a:rPr lang="en-US" altLang="en-US" dirty="0"/>
              <a:t>Increase the capacity of economy to deal with its socio-economic and environmental problems</a:t>
            </a:r>
            <a:endParaRPr lang="en-US" altLang="en-US" dirty="0"/>
          </a:p>
          <a:p>
            <a:pPr eaLnBrk="1" hangingPunct="1">
              <a:buFontTx/>
              <a:buChar char="-"/>
            </a:pPr>
            <a:endParaRPr lang="en-US" altLang="en-US" dirty="0"/>
          </a:p>
        </p:txBody>
      </p:sp>
      <p:sp>
        <p:nvSpPr>
          <p:cNvPr id="38916" name="Slide Number Placeholder 1"/>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3000" b="1" i="0" u="none" strike="noStrike" kern="1200" cap="small" spc="0" normalizeH="0" baseline="0" noProof="0" dirty="0" smtClean="0">
                <a:ln>
                  <a:noFill/>
                </a:ln>
                <a:solidFill>
                  <a:schemeClr val="tx2"/>
                </a:solidFill>
                <a:effectLst/>
                <a:uLnTx/>
                <a:uFillTx/>
                <a:latin typeface="+mj-lt"/>
                <a:ea typeface="+mj-ea"/>
                <a:cs typeface="+mj-cs"/>
              </a:rPr>
              <a:t>Economic development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39939"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dirty="0"/>
              <a:t>Economic development is a necessary condition for the improvement in the quality of life that is development. Without sustained and continuous economic progress at the individual as well as the societal level, the realization of the human potential would not be possible. Raising per capita incomes, the elimination of absolute poverty, greater employment opportunities and lessening income inequalities constitute the necessary, but not the sufficient conditions for development.</a:t>
            </a:r>
            <a:endParaRPr dirty="0"/>
          </a:p>
          <a:p>
            <a:pPr>
              <a:buClr>
                <a:schemeClr val="accent1"/>
              </a:buClr>
              <a:buSzPct val="70000"/>
              <a:buFont typeface="Wingdings" panose="05000000000000000000" pitchFamily="2" charset="2"/>
            </a:pPr>
            <a:endParaRPr dirty="0"/>
          </a:p>
        </p:txBody>
      </p:sp>
      <p:sp>
        <p:nvSpPr>
          <p:cNvPr id="39940"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a:ln>
                  <a:noFill/>
                </a:ln>
                <a:solidFill>
                  <a:schemeClr val="tx2"/>
                </a:solidFill>
                <a:effectLst/>
                <a:uLnTx/>
                <a:uFillTx/>
                <a:latin typeface="+mj-lt"/>
                <a:ea typeface="+mj-ea"/>
                <a:cs typeface="+mj-cs"/>
              </a:rPr>
              <a:t>Principles of economic development</a:t>
            </a:r>
            <a:br>
              <a:rPr kumimoji="0" lang="en-US" sz="3000" b="0" i="0" u="none" strike="noStrike" kern="1200" cap="small" spc="0" normalizeH="0" baseline="0" noProof="0" dirty="0">
                <a:ln>
                  <a:noFill/>
                </a:ln>
                <a:solidFill>
                  <a:schemeClr val="tx2"/>
                </a:solidFill>
                <a:effectLst/>
                <a:uLnTx/>
                <a:uFillTx/>
                <a:latin typeface="+mj-lt"/>
                <a:ea typeface="+mj-ea"/>
                <a:cs typeface="+mj-cs"/>
              </a:rPr>
            </a:b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40963"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b="1" dirty="0"/>
              <a:t>Set the right goals.</a:t>
            </a:r>
            <a:r>
              <a:rPr dirty="0"/>
              <a:t> “Leaders at the forefront of remaking economic development … set long-term goals that go beyond traditional headline economic indicators to achieve more robust measures of regional growth, productivity, and inclusion while also setting shorter-term metrics to monitor progress.”  </a:t>
            </a:r>
            <a:endParaRPr dirty="0"/>
          </a:p>
          <a:p>
            <a:pPr>
              <a:buClr>
                <a:schemeClr val="accent1"/>
              </a:buClr>
              <a:buSzPct val="70000"/>
              <a:buFont typeface="Wingdings" panose="05000000000000000000" pitchFamily="2" charset="2"/>
            </a:pPr>
            <a:r>
              <a:rPr b="1" dirty="0"/>
              <a:t>Growth from within. </a:t>
            </a:r>
            <a:r>
              <a:rPr dirty="0"/>
              <a:t>Leaders in new approaches to economic development focus on strengthening assets that enable their distinctive industries to flourish and grow from within, rather than rely primarily on marketing to recruit individual firms from elsewhere.”</a:t>
            </a:r>
            <a:endParaRPr dirty="0"/>
          </a:p>
          <a:p>
            <a:pPr>
              <a:buClr>
                <a:schemeClr val="accent1"/>
              </a:buClr>
              <a:buSzPct val="70000"/>
              <a:buFont typeface="Wingdings" panose="05000000000000000000" pitchFamily="2" charset="2"/>
            </a:pPr>
            <a:endParaRPr dirty="0"/>
          </a:p>
        </p:txBody>
      </p:sp>
      <p:sp>
        <p:nvSpPr>
          <p:cNvPr id="40964"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7315200" cy="914400"/>
          </a:xfrm>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tx2"/>
                </a:solidFill>
                <a:effectLst/>
                <a:uLnTx/>
                <a:uFillTx/>
                <a:latin typeface="+mj-lt"/>
                <a:ea typeface="+mj-ea"/>
                <a:cs typeface="+mj-cs"/>
              </a:rPr>
              <a:t>Principles of economic development </a:t>
            </a:r>
            <a:r>
              <a:rPr kumimoji="0" lang="en-US" sz="3000" b="1" i="0" u="none" strike="noStrike" kern="1200" cap="small" spc="0" normalizeH="0" baseline="0" noProof="0" dirty="0" err="1" smtClean="0">
                <a:ln>
                  <a:noFill/>
                </a:ln>
                <a:solidFill>
                  <a:schemeClr val="tx2"/>
                </a:solidFill>
                <a:effectLst/>
                <a:uLnTx/>
                <a:uFillTx/>
                <a:latin typeface="+mj-lt"/>
                <a:ea typeface="+mj-ea"/>
                <a:cs typeface="+mj-cs"/>
              </a:rPr>
              <a:t>cont</a:t>
            </a:r>
            <a:r>
              <a:rPr kumimoji="0" lang="en-US" sz="3000" b="1" i="0" u="none" strike="noStrike" kern="1200" cap="small" spc="0" normalizeH="0" baseline="0" noProof="0" dirty="0" smtClean="0">
                <a:ln>
                  <a:noFill/>
                </a:ln>
                <a:solidFill>
                  <a:schemeClr val="tx2"/>
                </a:solidFill>
                <a:effectLst/>
                <a:uLnTx/>
                <a:uFillTx/>
                <a:latin typeface="+mj-lt"/>
                <a:ea typeface="+mj-ea"/>
                <a:cs typeface="+mj-cs"/>
              </a:rPr>
              <a: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41987" name="Content Placeholder 2"/>
          <p:cNvSpPr>
            <a:spLocks noGrp="1"/>
          </p:cNvSpPr>
          <p:nvPr>
            <p:ph sz="quarter" idx="1"/>
          </p:nvPr>
        </p:nvSpPr>
        <p:spPr>
          <a:xfrm>
            <a:off x="381000" y="1143000"/>
            <a:ext cx="7543800" cy="5330825"/>
          </a:xfrm>
          <a:ln/>
        </p:spPr>
        <p:txBody>
          <a:bodyPr vert="horz" wrap="square" lIns="91440" tIns="45720" rIns="91440" bIns="45720" anchor="t" anchorCtr="0"/>
          <a:p>
            <a:pPr>
              <a:buClr>
                <a:schemeClr val="accent1"/>
              </a:buClr>
              <a:buSzPct val="70000"/>
              <a:buFont typeface="Wingdings" panose="05000000000000000000" pitchFamily="2" charset="2"/>
            </a:pPr>
            <a:r>
              <a:rPr b="1" dirty="0"/>
              <a:t>Boost trade. </a:t>
            </a:r>
            <a:r>
              <a:rPr dirty="0"/>
              <a:t>Contemporary economic development leaders actively support and promote export growth and trade with other markets in the United States and around the world to deepen their industry clusters and bring new resources and income into the region. </a:t>
            </a:r>
            <a:endParaRPr dirty="0"/>
          </a:p>
          <a:p>
            <a:pPr>
              <a:buClr>
                <a:schemeClr val="accent1"/>
              </a:buClr>
              <a:buSzPct val="70000"/>
              <a:buFont typeface="Wingdings" panose="05000000000000000000" pitchFamily="2" charset="2"/>
            </a:pPr>
            <a:r>
              <a:rPr b="1" dirty="0"/>
              <a:t>Invest in people and skills.</a:t>
            </a:r>
            <a:r>
              <a:rPr dirty="0"/>
              <a:t> “With waves of retirements in the baby boom generation already underway—and increasing diversity amongst the youngest cohorts of workers—the economic potential of every metro region depends on its effectiveness at mobilizing talent and equipping workers with the skills demanded by the leading industries in their community.” </a:t>
            </a:r>
            <a:endParaRPr dirty="0"/>
          </a:p>
          <a:p>
            <a:pPr>
              <a:buClr>
                <a:schemeClr val="accent1"/>
              </a:buClr>
              <a:buSzPct val="70000"/>
              <a:buFont typeface="Wingdings" panose="05000000000000000000" pitchFamily="2" charset="2"/>
            </a:pPr>
            <a:endParaRPr dirty="0"/>
          </a:p>
        </p:txBody>
      </p:sp>
      <p:sp>
        <p:nvSpPr>
          <p:cNvPr id="41988"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1"/>
          <p:cNvSpPr>
            <a:spLocks noGrp="1"/>
          </p:cNvSpPr>
          <p:nvPr>
            <p:ph type="title"/>
          </p:nvPr>
        </p:nvSpPr>
        <p:spPr>
          <a:xfrm>
            <a:off x="457200" y="274638"/>
            <a:ext cx="8229600" cy="792163"/>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000" b="1" i="0" u="none" strike="noStrike" kern="1200" cap="small" spc="0" normalizeH="0" baseline="0" noProof="0" dirty="0" smtClean="0">
                <a:ln>
                  <a:noFill/>
                </a:ln>
                <a:solidFill>
                  <a:schemeClr val="tx2"/>
                </a:solidFill>
                <a:effectLst/>
                <a:uLnTx/>
                <a:uFillTx/>
                <a:latin typeface="+mj-lt"/>
                <a:ea typeface="+mj-ea"/>
                <a:cs typeface="+mj-cs"/>
              </a:rPr>
              <a:t>Human development</a:t>
            </a:r>
            <a:endParaRPr kumimoji="0" lang="en-US" altLang="en-US" sz="3000" b="1" i="0" u="none" strike="noStrike" kern="1200" cap="small" spc="0" normalizeH="0" baseline="0" noProof="0" dirty="0" smtClean="0">
              <a:ln>
                <a:noFill/>
              </a:ln>
              <a:solidFill>
                <a:schemeClr val="tx2"/>
              </a:solidFill>
              <a:effectLst/>
              <a:uLnTx/>
              <a:uFillTx/>
              <a:latin typeface="+mj-lt"/>
              <a:ea typeface="+mj-ea"/>
              <a:cs typeface="+mj-cs"/>
            </a:endParaRPr>
          </a:p>
        </p:txBody>
      </p:sp>
      <p:sp>
        <p:nvSpPr>
          <p:cNvPr id="43011" name="Content Placeholder 2"/>
          <p:cNvSpPr>
            <a:spLocks noGrp="1"/>
          </p:cNvSpPr>
          <p:nvPr>
            <p:ph sz="quarter" idx="1"/>
          </p:nvPr>
        </p:nvSpPr>
        <p:spPr>
          <a:xfrm>
            <a:off x="457200" y="1371600"/>
            <a:ext cx="8229600" cy="5105400"/>
          </a:xfrm>
          <a:ln/>
        </p:spPr>
        <p:txBody>
          <a:bodyPr vert="horz" wrap="square" lIns="91440" tIns="45720" rIns="91440" bIns="45720" anchor="t" anchorCtr="0"/>
          <a:p>
            <a:pPr eaLnBrk="1" hangingPunct="1"/>
            <a:r>
              <a:rPr lang="en-US" altLang="en-US" dirty="0"/>
              <a:t>Is the process of enlarging peoples’ choices</a:t>
            </a:r>
            <a:endParaRPr lang="en-US" altLang="en-US" dirty="0"/>
          </a:p>
          <a:p>
            <a:pPr eaLnBrk="1" hangingPunct="1"/>
            <a:r>
              <a:rPr lang="en-US" altLang="en-US" dirty="0"/>
              <a:t>These choices in principle can be infinite and can change over time</a:t>
            </a:r>
            <a:endParaRPr lang="en-US" altLang="en-US" dirty="0"/>
          </a:p>
          <a:p>
            <a:pPr eaLnBrk="1" hangingPunct="1"/>
            <a:r>
              <a:rPr lang="en-US" altLang="en-US" dirty="0"/>
              <a:t>At all levels of development, essentials ones for people are to:</a:t>
            </a:r>
            <a:endParaRPr lang="en-US" altLang="en-US" dirty="0"/>
          </a:p>
          <a:p>
            <a:pPr eaLnBrk="1" hangingPunct="1">
              <a:buFontTx/>
              <a:buChar char="-"/>
            </a:pPr>
            <a:r>
              <a:rPr lang="en-US" altLang="en-US" dirty="0"/>
              <a:t>Leave a long and healthy life</a:t>
            </a:r>
            <a:endParaRPr lang="en-US" altLang="en-US" dirty="0"/>
          </a:p>
          <a:p>
            <a:pPr eaLnBrk="1" hangingPunct="1">
              <a:buFontTx/>
              <a:buChar char="-"/>
            </a:pPr>
            <a:r>
              <a:rPr lang="en-US" altLang="en-US" dirty="0"/>
              <a:t>Acquire knowledge and skills to adapt to their surroundings</a:t>
            </a:r>
            <a:endParaRPr lang="en-US" altLang="en-US" dirty="0"/>
          </a:p>
          <a:p>
            <a:pPr eaLnBrk="1" hangingPunct="1"/>
            <a:endParaRPr lang="en-US" altLang="en-US" dirty="0"/>
          </a:p>
        </p:txBody>
      </p:sp>
      <p:sp>
        <p:nvSpPr>
          <p:cNvPr id="43012" name="Slide Number Placeholder 1"/>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itle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000" b="1" i="0" u="none" strike="noStrike" kern="1200" cap="small" spc="0" normalizeH="0" baseline="0" noProof="0" dirty="0" smtClean="0">
                <a:ln>
                  <a:noFill/>
                </a:ln>
                <a:solidFill>
                  <a:schemeClr val="tx2"/>
                </a:solidFill>
                <a:effectLst/>
                <a:uLnTx/>
                <a:uFillTx/>
                <a:latin typeface="+mj-lt"/>
                <a:ea typeface="+mj-ea"/>
                <a:cs typeface="+mj-cs"/>
              </a:rPr>
              <a:t>Human development CONT…</a:t>
            </a:r>
            <a:endParaRPr kumimoji="0" lang="en-US" altLang="en-US" sz="3000" b="0" i="0" u="none" strike="noStrike" kern="1200" cap="small" spc="0" normalizeH="0" baseline="0" noProof="0" dirty="0" smtClean="0">
              <a:ln>
                <a:noFill/>
              </a:ln>
              <a:solidFill>
                <a:schemeClr val="tx2"/>
              </a:solidFill>
              <a:effectLst/>
              <a:uLnTx/>
              <a:uFillTx/>
              <a:latin typeface="+mj-lt"/>
              <a:ea typeface="+mj-ea"/>
              <a:cs typeface="+mj-cs"/>
            </a:endParaRPr>
          </a:p>
        </p:txBody>
      </p:sp>
      <p:sp>
        <p:nvSpPr>
          <p:cNvPr id="44035" name="Content Placeholder 2"/>
          <p:cNvSpPr>
            <a:spLocks noGrp="1"/>
          </p:cNvSpPr>
          <p:nvPr>
            <p:ph sz="quarter" idx="1"/>
          </p:nvPr>
        </p:nvSpPr>
        <p:spPr>
          <a:xfrm>
            <a:off x="457200" y="1600200"/>
            <a:ext cx="8458200" cy="5257800"/>
          </a:xfrm>
          <a:ln/>
        </p:spPr>
        <p:txBody>
          <a:bodyPr vert="horz" wrap="square" lIns="91440" tIns="45720" rIns="91440" bIns="45720" anchor="t" anchorCtr="0"/>
          <a:p>
            <a:pPr eaLnBrk="1" hangingPunct="1"/>
            <a:r>
              <a:rPr lang="en-US" altLang="en-US" sz="2800" dirty="0"/>
              <a:t>Have access to the resources needed for decent standard of living</a:t>
            </a:r>
            <a:endParaRPr lang="en-US" altLang="en-US" sz="2800" dirty="0"/>
          </a:p>
          <a:p>
            <a:pPr eaLnBrk="1" hangingPunct="1"/>
            <a:r>
              <a:rPr lang="en-US" altLang="en-US" sz="2800" dirty="0"/>
              <a:t>Acquire political, economic and social freedom to opportunities for being creative and productive and</a:t>
            </a:r>
            <a:endParaRPr lang="en-US" altLang="en-US" sz="2800" dirty="0"/>
          </a:p>
          <a:p>
            <a:pPr eaLnBrk="1" hangingPunct="1"/>
            <a:r>
              <a:rPr lang="en-US" altLang="en-US" sz="2800" dirty="0"/>
              <a:t>Enjoying personal self respect and guaranteed human rights </a:t>
            </a:r>
            <a:endParaRPr lang="en-US" altLang="en-US" sz="2800" dirty="0"/>
          </a:p>
        </p:txBody>
      </p:sp>
      <p:sp>
        <p:nvSpPr>
          <p:cNvPr id="44036" name="Slide Number Placeholder 1"/>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3000" b="1" i="0" u="none" strike="noStrike" kern="1200" cap="small" spc="0" normalizeH="0" baseline="0" noProof="0" dirty="0" smtClean="0">
                <a:ln>
                  <a:noFill/>
                </a:ln>
                <a:solidFill>
                  <a:schemeClr val="tx2"/>
                </a:solidFill>
                <a:effectLst/>
                <a:uLnTx/>
                <a:uFillTx/>
                <a:latin typeface="+mj-lt"/>
                <a:ea typeface="+mj-ea"/>
                <a:cs typeface="+mj-cs"/>
              </a:rPr>
              <a:t>Human development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45059"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dirty="0"/>
              <a:t>In a simplified way, Human development index measures a country’s average achievements in three basic dimensions of human development namely: Life expectancy, educational attainment and adjusted real income (PPP$ per person).</a:t>
            </a:r>
            <a:endParaRPr dirty="0"/>
          </a:p>
          <a:p>
            <a:pPr>
              <a:buClr>
                <a:schemeClr val="accent1"/>
              </a:buClr>
              <a:buSzPct val="70000"/>
              <a:buFont typeface="Wingdings" panose="05000000000000000000" pitchFamily="2" charset="2"/>
            </a:pPr>
            <a:endParaRPr dirty="0"/>
          </a:p>
        </p:txBody>
      </p:sp>
      <p:sp>
        <p:nvSpPr>
          <p:cNvPr id="45060"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0"/>
            <a:ext cx="7467600" cy="1417638"/>
          </a:xfrm>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a:ln>
                  <a:noFill/>
                </a:ln>
                <a:solidFill>
                  <a:schemeClr val="tx2"/>
                </a:solidFill>
                <a:effectLst/>
                <a:uLnTx/>
                <a:uFillTx/>
                <a:latin typeface="+mj-lt"/>
                <a:ea typeface="+mj-ea"/>
                <a:cs typeface="+mj-cs"/>
              </a:rPr>
              <a:t>To achieve human development, the following components are essential:</a:t>
            </a:r>
            <a:br>
              <a:rPr kumimoji="0" lang="en-US" sz="3000" b="0" i="0" u="none" strike="noStrike" kern="1200" cap="small" spc="0" normalizeH="0" baseline="0" noProof="0" dirty="0">
                <a:ln>
                  <a:noFill/>
                </a:ln>
                <a:solidFill>
                  <a:schemeClr val="tx2"/>
                </a:solidFill>
                <a:effectLst/>
                <a:uLnTx/>
                <a:uFillTx/>
                <a:latin typeface="+mj-lt"/>
                <a:ea typeface="+mj-ea"/>
                <a:cs typeface="+mj-cs"/>
              </a:rPr>
            </a:b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46083" name="Content Placeholder 2"/>
          <p:cNvSpPr>
            <a:spLocks noGrp="1"/>
          </p:cNvSpPr>
          <p:nvPr>
            <p:ph sz="quarter" idx="1"/>
          </p:nvPr>
        </p:nvSpPr>
        <p:spPr>
          <a:xfrm>
            <a:off x="457200" y="1143000"/>
            <a:ext cx="7467600" cy="5330825"/>
          </a:xfrm>
          <a:ln/>
        </p:spPr>
        <p:txBody>
          <a:bodyPr vert="horz" wrap="square" lIns="91440" tIns="45720" rIns="91440" bIns="45720" anchor="t" anchorCtr="0"/>
          <a:p>
            <a:pPr>
              <a:lnSpc>
                <a:spcPct val="150000"/>
              </a:lnSpc>
              <a:buClr>
                <a:schemeClr val="accent1"/>
              </a:buClr>
              <a:buSzPct val="70000"/>
              <a:buFont typeface="Wingdings" panose="05000000000000000000" pitchFamily="2" charset="2"/>
              <a:buChar char="q"/>
            </a:pPr>
            <a:r>
              <a:rPr b="1" dirty="0"/>
              <a:t>Productivity: </a:t>
            </a:r>
            <a:r>
              <a:rPr dirty="0"/>
              <a:t>People must be enable to increase their productivity and to participate fully in the process of income generation and remunerative employment Economic growth is, therefore a subset of human development models</a:t>
            </a:r>
            <a:endParaRPr dirty="0"/>
          </a:p>
          <a:p>
            <a:pPr>
              <a:lnSpc>
                <a:spcPct val="150000"/>
              </a:lnSpc>
              <a:buClr>
                <a:schemeClr val="accent1"/>
              </a:buClr>
              <a:buSzPct val="70000"/>
              <a:buFont typeface="Wingdings" panose="05000000000000000000" pitchFamily="2" charset="2"/>
              <a:buChar char="q"/>
            </a:pPr>
            <a:r>
              <a:rPr b="1" dirty="0"/>
              <a:t>Equity: </a:t>
            </a:r>
            <a:r>
              <a:rPr dirty="0"/>
              <a:t>People must have access to equal opportunities. All barriers to economic and political opportunities must be eliminated so that people can participate in, and benefit from these opportunities.</a:t>
            </a:r>
            <a:endParaRPr dirty="0"/>
          </a:p>
          <a:p>
            <a:pPr>
              <a:buClr>
                <a:schemeClr val="accent1"/>
              </a:buClr>
              <a:buSzPct val="70000"/>
              <a:buFont typeface="Wingdings" panose="05000000000000000000" pitchFamily="2" charset="2"/>
              <a:buChar char="q"/>
            </a:pPr>
            <a:endParaRPr dirty="0"/>
          </a:p>
          <a:p>
            <a:pPr>
              <a:buClr>
                <a:schemeClr val="accent1"/>
              </a:buClr>
              <a:buSzPct val="70000"/>
              <a:buFont typeface="Wingdings" panose="05000000000000000000" pitchFamily="2" charset="2"/>
              <a:buChar char="q"/>
            </a:pPr>
            <a:endParaRPr dirty="0"/>
          </a:p>
          <a:p>
            <a:pPr>
              <a:buClr>
                <a:schemeClr val="accent1"/>
              </a:buClr>
              <a:buSzPct val="70000"/>
              <a:buFont typeface="Wingdings" panose="05000000000000000000" pitchFamily="2" charset="2"/>
              <a:buChar char=""/>
            </a:pPr>
            <a:endParaRPr dirty="0"/>
          </a:p>
        </p:txBody>
      </p:sp>
      <p:sp>
        <p:nvSpPr>
          <p:cNvPr id="46084"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Human dev.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48131" name="Content Placeholder 2"/>
          <p:cNvSpPr>
            <a:spLocks noGrp="1"/>
          </p:cNvSpPr>
          <p:nvPr>
            <p:ph sz="quarter" idx="1"/>
          </p:nvPr>
        </p:nvSpPr>
        <p:spPr>
          <a:ln/>
        </p:spPr>
        <p:txBody>
          <a:bodyPr vert="horz" wrap="square" lIns="91440" tIns="45720" rIns="91440" bIns="45720" anchor="t" anchorCtr="0"/>
          <a:p>
            <a:pPr>
              <a:lnSpc>
                <a:spcPct val="150000"/>
              </a:lnSpc>
              <a:buClr>
                <a:schemeClr val="accent1"/>
              </a:buClr>
              <a:buSzPct val="70000"/>
              <a:buFont typeface="Wingdings" panose="05000000000000000000" pitchFamily="2" charset="2"/>
              <a:buChar char="q"/>
            </a:pPr>
            <a:r>
              <a:rPr b="1" dirty="0"/>
              <a:t>Sustainability: </a:t>
            </a:r>
            <a:r>
              <a:rPr dirty="0"/>
              <a:t>Access to opportunities must be ensured not only for the present generation but for future generations as well. All forms of capital-physical, human, environmental should be replenished.</a:t>
            </a:r>
            <a:endParaRPr dirty="0"/>
          </a:p>
          <a:p>
            <a:pPr>
              <a:lnSpc>
                <a:spcPct val="150000"/>
              </a:lnSpc>
              <a:buClr>
                <a:schemeClr val="accent1"/>
              </a:buClr>
              <a:buSzPct val="70000"/>
              <a:buFont typeface="Wingdings" panose="05000000000000000000" pitchFamily="2" charset="2"/>
              <a:buChar char=""/>
            </a:pPr>
            <a:r>
              <a:rPr b="1" dirty="0"/>
              <a:t>Empowerment: </a:t>
            </a:r>
            <a:r>
              <a:rPr dirty="0"/>
              <a:t>Development must be by people not only for them. People must participate fully in their decisions and processes that shape their lives.</a:t>
            </a:r>
            <a:endParaRPr dirty="0"/>
          </a:p>
          <a:p>
            <a:pPr>
              <a:buClr>
                <a:schemeClr val="accent1"/>
              </a:buClr>
              <a:buSzPct val="70000"/>
              <a:buFont typeface="Wingdings" panose="05000000000000000000" pitchFamily="2" charset="2"/>
              <a:buChar char=""/>
            </a:pPr>
            <a:endParaRPr dirty="0"/>
          </a:p>
        </p:txBody>
      </p:sp>
      <p:sp>
        <p:nvSpPr>
          <p:cNvPr id="48132"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Human dev.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49155" name="Content Placeholder 2"/>
          <p:cNvSpPr>
            <a:spLocks noGrp="1"/>
          </p:cNvSpPr>
          <p:nvPr>
            <p:ph sz="quarter" idx="1"/>
          </p:nvPr>
        </p:nvSpPr>
        <p:spPr>
          <a:ln/>
        </p:spPr>
        <p:txBody>
          <a:bodyPr vert="horz" wrap="square" lIns="91440" tIns="45720" rIns="91440" bIns="45720" anchor="t" anchorCtr="0"/>
          <a:p>
            <a:pPr algn="just">
              <a:buClr>
                <a:schemeClr val="accent1"/>
              </a:buClr>
              <a:buSzPct val="70000"/>
              <a:buFont typeface="Wingdings" panose="05000000000000000000" pitchFamily="2" charset="2"/>
            </a:pPr>
            <a:r>
              <a:rPr dirty="0"/>
              <a:t>Through enhanced capabilities, the creativity and productivity of people must be increased so that they become effective agent or growth. Economic growth must be combined with equitable distribution of its benefits. Equitable opportunities must also be available. </a:t>
            </a:r>
            <a:endParaRPr dirty="0"/>
          </a:p>
          <a:p>
            <a:pPr algn="just">
              <a:buClr>
                <a:schemeClr val="accent1"/>
              </a:buClr>
              <a:buSzPct val="70000"/>
              <a:buFont typeface="Wingdings" panose="05000000000000000000" pitchFamily="2" charset="2"/>
            </a:pPr>
            <a:r>
              <a:rPr dirty="0"/>
              <a:t>To quantify human development, the human development index (HDI) was constructed to reflect the most important dimensions of human development. A composite index, the </a:t>
            </a:r>
            <a:r>
              <a:rPr b="1" dirty="0"/>
              <a:t>HDI contains the following indicators:</a:t>
            </a:r>
            <a:endParaRPr b="1" dirty="0"/>
          </a:p>
          <a:p>
            <a:pPr algn="just">
              <a:buClr>
                <a:schemeClr val="accent1"/>
              </a:buClr>
              <a:buSzPct val="70000"/>
              <a:buFont typeface="Wingdings" panose="05000000000000000000" pitchFamily="2" charset="2"/>
            </a:pPr>
            <a:endParaRPr dirty="0"/>
          </a:p>
        </p:txBody>
      </p:sp>
      <p:sp>
        <p:nvSpPr>
          <p:cNvPr id="49156"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tx2"/>
                </a:solidFill>
                <a:effectLst/>
                <a:uLnTx/>
                <a:uFillTx/>
                <a:latin typeface="+mj-lt"/>
                <a:ea typeface="+mj-ea"/>
                <a:cs typeface="+mj-cs"/>
              </a:rPr>
              <a:t>HDI contains the following indicators:</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50179" name="Content Placeholder 2"/>
          <p:cNvSpPr>
            <a:spLocks noGrp="1"/>
          </p:cNvSpPr>
          <p:nvPr>
            <p:ph sz="quarter" idx="1"/>
          </p:nvPr>
        </p:nvSpPr>
        <p:spPr>
          <a:ln/>
        </p:spPr>
        <p:txBody>
          <a:bodyPr vert="horz" wrap="square" lIns="91440" tIns="45720" rIns="91440" bIns="45720" anchor="t" anchorCtr="0"/>
          <a:p>
            <a:pPr algn="just">
              <a:buClr>
                <a:schemeClr val="accent1"/>
              </a:buClr>
              <a:buSzPct val="70000"/>
              <a:buFont typeface="Wingdings" panose="05000000000000000000" pitchFamily="2" charset="2"/>
            </a:pPr>
            <a:r>
              <a:rPr b="1" dirty="0"/>
              <a:t>Life expectancy</a:t>
            </a:r>
            <a:r>
              <a:rPr dirty="0"/>
              <a:t>, representing long and healthy life involving reduced maternal mortality rate, birth mortality rate, and infant mortality rate.</a:t>
            </a:r>
            <a:endParaRPr dirty="0"/>
          </a:p>
          <a:p>
            <a:pPr algn="just">
              <a:buClr>
                <a:schemeClr val="accent1"/>
              </a:buClr>
              <a:buSzPct val="70000"/>
              <a:buFont typeface="Wingdings" panose="05000000000000000000" pitchFamily="2" charset="2"/>
            </a:pPr>
            <a:r>
              <a:rPr b="1" dirty="0"/>
              <a:t>Educational attainment, </a:t>
            </a:r>
            <a:r>
              <a:rPr dirty="0"/>
              <a:t>representing knowledge and skills, that is human capacity building for enhancing the capabilities, the creativity and productivity of people must be increased so that they become effective agents of growth. Improved literacy both to women and men.</a:t>
            </a:r>
            <a:endParaRPr dirty="0"/>
          </a:p>
          <a:p>
            <a:pPr>
              <a:buClr>
                <a:schemeClr val="accent1"/>
              </a:buClr>
              <a:buSzPct val="70000"/>
              <a:buFont typeface="Wingdings" panose="05000000000000000000" pitchFamily="2" charset="2"/>
            </a:pPr>
            <a:endParaRPr dirty="0"/>
          </a:p>
        </p:txBody>
      </p:sp>
      <p:sp>
        <p:nvSpPr>
          <p:cNvPr id="50180"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tx2"/>
                </a:solidFill>
                <a:effectLst/>
                <a:uLnTx/>
                <a:uFillTx/>
                <a:latin typeface="+mj-lt"/>
                <a:ea typeface="+mj-ea"/>
                <a:cs typeface="+mj-cs"/>
              </a:rPr>
              <a:t>Indicators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51203"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dirty="0"/>
              <a:t>Adequate infrastructure, representing availability of communication facilities such as good roads, telephone and electricity.</a:t>
            </a:r>
            <a:endParaRPr dirty="0"/>
          </a:p>
          <a:p>
            <a:pPr>
              <a:buClr>
                <a:schemeClr val="accent1"/>
              </a:buClr>
              <a:buSzPct val="70000"/>
              <a:buFont typeface="Wingdings" panose="05000000000000000000" pitchFamily="2" charset="2"/>
            </a:pPr>
            <a:r>
              <a:rPr dirty="0"/>
              <a:t>Democracy and good governance, participation in decision making by both women and men, and accountability by leadership.</a:t>
            </a:r>
            <a:endParaRPr dirty="0"/>
          </a:p>
          <a:p>
            <a:pPr>
              <a:buClr>
                <a:schemeClr val="accent1"/>
              </a:buClr>
              <a:buSzPct val="70000"/>
              <a:buFont typeface="Wingdings" panose="05000000000000000000" pitchFamily="2" charset="2"/>
            </a:pPr>
            <a:r>
              <a:rPr dirty="0"/>
              <a:t>Good environment (Natural resources)-ecologically better environment</a:t>
            </a:r>
            <a:endParaRPr dirty="0"/>
          </a:p>
          <a:p>
            <a:pPr>
              <a:buClr>
                <a:schemeClr val="accent1"/>
              </a:buClr>
              <a:buSzPct val="70000"/>
              <a:buFont typeface="Wingdings" panose="05000000000000000000" pitchFamily="2" charset="2"/>
            </a:pPr>
            <a:endParaRPr dirty="0"/>
          </a:p>
        </p:txBody>
      </p:sp>
      <p:sp>
        <p:nvSpPr>
          <p:cNvPr id="51204"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tx2"/>
                </a:solidFill>
                <a:effectLst/>
                <a:uLnTx/>
                <a:uFillTx/>
                <a:latin typeface="+mj-lt"/>
                <a:ea typeface="+mj-ea"/>
                <a:cs typeface="+mj-cs"/>
              </a:rPr>
              <a:t>Indicators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52227"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dirty="0"/>
              <a:t>Health services, representing accessibility by all people at all times to better medical care and services.</a:t>
            </a:r>
            <a:endParaRPr dirty="0"/>
          </a:p>
          <a:p>
            <a:pPr>
              <a:buClr>
                <a:schemeClr val="accent1"/>
              </a:buClr>
              <a:buSzPct val="70000"/>
              <a:buFont typeface="Wingdings" panose="05000000000000000000" pitchFamily="2" charset="2"/>
            </a:pPr>
            <a:r>
              <a:rPr dirty="0"/>
              <a:t>Access and supply of clean water, supply of clean water to all people at all times required.</a:t>
            </a:r>
            <a:endParaRPr dirty="0"/>
          </a:p>
          <a:p>
            <a:pPr>
              <a:buClr>
                <a:schemeClr val="accent1"/>
              </a:buClr>
              <a:buSzPct val="70000"/>
              <a:buFont typeface="Wingdings" panose="05000000000000000000" pitchFamily="2" charset="2"/>
            </a:pPr>
            <a:r>
              <a:rPr dirty="0"/>
              <a:t>Better housing, good shelter by all people</a:t>
            </a:r>
            <a:endParaRPr dirty="0"/>
          </a:p>
          <a:p>
            <a:pPr>
              <a:buClr>
                <a:schemeClr val="accent1"/>
              </a:buClr>
              <a:buSzPct val="70000"/>
              <a:buFont typeface="Wingdings" panose="05000000000000000000" pitchFamily="2" charset="2"/>
            </a:pPr>
            <a:endParaRPr dirty="0"/>
          </a:p>
        </p:txBody>
      </p:sp>
      <p:sp>
        <p:nvSpPr>
          <p:cNvPr id="52228"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tx2"/>
                </a:solidFill>
                <a:effectLst/>
                <a:uLnTx/>
                <a:uFillTx/>
                <a:latin typeface="+mj-lt"/>
                <a:ea typeface="+mj-ea"/>
                <a:cs typeface="+mj-cs"/>
              </a:rPr>
              <a:t>Indicators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53251"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b="1" dirty="0"/>
              <a:t>Per capita income growth, </a:t>
            </a:r>
            <a:r>
              <a:rPr dirty="0"/>
              <a:t>which is a manifestation of the purchasing power, representing a decent standard of living. This involves the enabling of people to improved production and consumption. That is physical and economic access of all people to basic needs.</a:t>
            </a:r>
            <a:endParaRPr dirty="0"/>
          </a:p>
          <a:p>
            <a:pPr>
              <a:buClr>
                <a:schemeClr val="accent1"/>
              </a:buClr>
              <a:buSzPct val="70000"/>
              <a:buFont typeface="Wingdings" panose="05000000000000000000" pitchFamily="2" charset="2"/>
            </a:pPr>
            <a:r>
              <a:rPr b="1" dirty="0"/>
              <a:t>Food security</a:t>
            </a:r>
            <a:r>
              <a:rPr dirty="0"/>
              <a:t>-representing access by all people at all times to the food needed for healthy life (an access of enough food to every individual at any place and time). Achieving food security has three dimensions:</a:t>
            </a:r>
            <a:endParaRPr dirty="0"/>
          </a:p>
          <a:p>
            <a:pPr>
              <a:buClr>
                <a:schemeClr val="accent1"/>
              </a:buClr>
              <a:buSzPct val="70000"/>
              <a:buFont typeface="Wingdings" panose="05000000000000000000" pitchFamily="2" charset="2"/>
            </a:pPr>
            <a:endParaRPr dirty="0"/>
          </a:p>
          <a:p>
            <a:pPr>
              <a:buClr>
                <a:schemeClr val="accent1"/>
              </a:buClr>
              <a:buSzPct val="70000"/>
              <a:buFont typeface="Wingdings" panose="05000000000000000000" pitchFamily="2" charset="2"/>
            </a:pPr>
            <a:endParaRPr dirty="0"/>
          </a:p>
        </p:txBody>
      </p:sp>
      <p:sp>
        <p:nvSpPr>
          <p:cNvPr id="53252"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food </a:t>
            </a:r>
            <a:r>
              <a:rPr kumimoji="0" lang="en-US" sz="3000" b="0" i="0" u="none" strike="noStrike" kern="1200" cap="small" spc="0" normalizeH="0" baseline="0" noProof="0" dirty="0">
                <a:ln>
                  <a:noFill/>
                </a:ln>
                <a:solidFill>
                  <a:schemeClr val="tx2"/>
                </a:solidFill>
                <a:effectLst/>
                <a:uLnTx/>
                <a:uFillTx/>
                <a:latin typeface="+mj-lt"/>
                <a:ea typeface="+mj-ea"/>
                <a:cs typeface="+mj-cs"/>
              </a:rPr>
              <a:t>security has three dimensions</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54275"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pPr>
            <a:r>
              <a:rPr dirty="0"/>
              <a:t>It is necessary to ensure a safe and nutritionally adequate food supply both at national and at the household level.</a:t>
            </a:r>
            <a:endParaRPr dirty="0"/>
          </a:p>
          <a:p>
            <a:pPr>
              <a:buClr>
                <a:schemeClr val="accent1"/>
              </a:buClr>
              <a:buSzPct val="70000"/>
              <a:buFont typeface="Wingdings" panose="05000000000000000000" pitchFamily="2" charset="2"/>
            </a:pPr>
            <a:r>
              <a:rPr dirty="0"/>
              <a:t>It is necessary to have a reasonable degree of stability in the supply of food both from one year to the other and during the year.</a:t>
            </a:r>
            <a:endParaRPr dirty="0"/>
          </a:p>
          <a:p>
            <a:pPr>
              <a:buClr>
                <a:schemeClr val="accent1"/>
              </a:buClr>
              <a:buSzPct val="70000"/>
              <a:buFont typeface="Wingdings" panose="05000000000000000000" pitchFamily="2" charset="2"/>
            </a:pPr>
            <a:r>
              <a:rPr dirty="0"/>
              <a:t>Most critical, is the need to ensure that each household has physical, social and economic access to enough food to meet its needs. This that each household must have the knowledge and ability to produce of procure the food that it needs on a sustainable basis.</a:t>
            </a:r>
            <a:endParaRPr dirty="0"/>
          </a:p>
          <a:p>
            <a:pPr>
              <a:buClr>
                <a:schemeClr val="accent1"/>
              </a:buClr>
              <a:buSzPct val="70000"/>
              <a:buFont typeface="Wingdings" panose="05000000000000000000" pitchFamily="2" charset="2"/>
            </a:pPr>
            <a:endParaRPr dirty="0"/>
          </a:p>
        </p:txBody>
      </p:sp>
      <p:sp>
        <p:nvSpPr>
          <p:cNvPr id="54276"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tx2"/>
                </a:solidFill>
                <a:effectLst/>
                <a:uLnTx/>
                <a:uFillTx/>
                <a:latin typeface="+mj-lt"/>
                <a:ea typeface="+mj-ea"/>
                <a:cs typeface="+mj-cs"/>
              </a:rPr>
              <a:t>Development theories of </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55299" name="Content Placeholder 2"/>
          <p:cNvSpPr>
            <a:spLocks noGrp="1"/>
          </p:cNvSpPr>
          <p:nvPr>
            <p:ph sz="quarter" idx="1"/>
          </p:nvPr>
        </p:nvSpPr>
        <p:spPr>
          <a:ln/>
        </p:spPr>
        <p:txBody>
          <a:bodyPr vert="horz" wrap="square" lIns="91440" tIns="45720" rIns="91440" bIns="45720" anchor="t" anchorCtr="0"/>
          <a:p>
            <a:pPr>
              <a:buClr>
                <a:schemeClr val="accent1"/>
              </a:buClr>
              <a:buSzPct val="70000"/>
              <a:buFont typeface="Wingdings" panose="05000000000000000000" pitchFamily="2" charset="2"/>
              <a:buChar char="q"/>
            </a:pPr>
            <a:r>
              <a:rPr dirty="0"/>
              <a:t>Is a collection of ideas and  about how desirable change in society is best achieved.</a:t>
            </a:r>
            <a:endParaRPr dirty="0"/>
          </a:p>
          <a:p>
            <a:pPr>
              <a:buClr>
                <a:schemeClr val="accent1"/>
              </a:buClr>
              <a:buSzPct val="70000"/>
              <a:buFont typeface="Wingdings" panose="05000000000000000000" pitchFamily="2" charset="2"/>
              <a:buChar char="q"/>
            </a:pPr>
            <a:endParaRPr dirty="0"/>
          </a:p>
          <a:p>
            <a:pPr>
              <a:buClr>
                <a:schemeClr val="accent1"/>
              </a:buClr>
              <a:buSzPct val="70000"/>
              <a:buFont typeface="Wingdings" panose="05000000000000000000" pitchFamily="2" charset="2"/>
              <a:buChar char="q"/>
            </a:pPr>
            <a:r>
              <a:rPr dirty="0"/>
              <a:t>There are four theories of development:</a:t>
            </a:r>
            <a:endParaRPr dirty="0"/>
          </a:p>
          <a:p>
            <a:pPr>
              <a:buClr>
                <a:schemeClr val="accent1"/>
              </a:buClr>
              <a:buSzPct val="70000"/>
              <a:buFont typeface="Wingdings" panose="05000000000000000000" pitchFamily="2" charset="2"/>
              <a:buChar char=""/>
            </a:pPr>
            <a:r>
              <a:rPr dirty="0"/>
              <a:t>Modernization theory</a:t>
            </a:r>
            <a:endParaRPr dirty="0"/>
          </a:p>
          <a:p>
            <a:pPr>
              <a:buClr>
                <a:schemeClr val="accent1"/>
              </a:buClr>
              <a:buSzPct val="70000"/>
              <a:buFont typeface="Wingdings" panose="05000000000000000000" pitchFamily="2" charset="2"/>
              <a:buChar char=""/>
            </a:pPr>
            <a:r>
              <a:rPr dirty="0"/>
              <a:t>Dependency theory</a:t>
            </a:r>
            <a:endParaRPr dirty="0"/>
          </a:p>
          <a:p>
            <a:pPr>
              <a:buClr>
                <a:schemeClr val="accent1"/>
              </a:buClr>
              <a:buSzPct val="70000"/>
              <a:buFont typeface="Wingdings" panose="05000000000000000000" pitchFamily="2" charset="2"/>
              <a:buChar char=""/>
            </a:pPr>
            <a:r>
              <a:rPr dirty="0"/>
              <a:t>The world system theory</a:t>
            </a:r>
            <a:endParaRPr dirty="0"/>
          </a:p>
          <a:p>
            <a:pPr>
              <a:buClr>
                <a:schemeClr val="accent1"/>
              </a:buClr>
              <a:buSzPct val="70000"/>
              <a:buFont typeface="Wingdings" panose="05000000000000000000" pitchFamily="2" charset="2"/>
              <a:buChar char=""/>
            </a:pPr>
            <a:r>
              <a:rPr dirty="0"/>
              <a:t>Globalization theory</a:t>
            </a:r>
            <a:endParaRPr dirty="0"/>
          </a:p>
          <a:p>
            <a:pPr>
              <a:buClr>
                <a:schemeClr val="accent1"/>
              </a:buClr>
              <a:buSzPct val="70000"/>
              <a:buFont typeface="Wingdings" panose="05000000000000000000" pitchFamily="2" charset="2"/>
              <a:buChar char="q"/>
            </a:pPr>
            <a:endParaRPr dirty="0"/>
          </a:p>
          <a:p>
            <a:pPr>
              <a:buClr>
                <a:schemeClr val="accent1"/>
              </a:buClr>
              <a:buSzPct val="70000"/>
              <a:buFont typeface="Wingdings" panose="05000000000000000000" pitchFamily="2" charset="2"/>
              <a:buChar char=""/>
            </a:pPr>
            <a:endParaRPr dirty="0"/>
          </a:p>
        </p:txBody>
      </p:sp>
      <p:sp>
        <p:nvSpPr>
          <p:cNvPr id="55300"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Modernization theory</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56323" name="Content Placeholder 2"/>
          <p:cNvSpPr>
            <a:spLocks noGrp="1"/>
          </p:cNvSpPr>
          <p:nvPr>
            <p:ph sz="quarter" idx="1"/>
          </p:nvPr>
        </p:nvSpPr>
        <p:spPr>
          <a:ln/>
        </p:spPr>
        <p:txBody>
          <a:bodyPr vert="horz" wrap="square" lIns="91440" tIns="45720" rIns="91440" bIns="45720" anchor="t" anchorCtr="0"/>
          <a:p>
            <a:pPr algn="just"/>
            <a:r>
              <a:rPr dirty="0"/>
              <a:t>Suggests that traditional societies will </a:t>
            </a:r>
            <a:r>
              <a:rPr b="1" dirty="0"/>
              <a:t>develop</a:t>
            </a:r>
            <a:r>
              <a:rPr dirty="0"/>
              <a:t> as they adopt more modern practices. </a:t>
            </a:r>
            <a:endParaRPr dirty="0"/>
          </a:p>
          <a:p>
            <a:pPr algn="just"/>
            <a:r>
              <a:rPr dirty="0"/>
              <a:t>This theory also states that technological advancements and economic changes can lead to changes in moral and cultural values.</a:t>
            </a:r>
            <a:endParaRPr dirty="0"/>
          </a:p>
          <a:p>
            <a:pPr algn="just"/>
            <a:r>
              <a:rPr dirty="0"/>
              <a:t>According to the modernization theory, modern societies are more productive, children are better educated, and the needy receive more welfare. </a:t>
            </a:r>
            <a:endParaRPr dirty="0"/>
          </a:p>
          <a:p>
            <a:pPr algn="just"/>
            <a:r>
              <a:rPr dirty="0"/>
              <a:t>modern societies have the particular feature of social structural differentiation, that is to say a clear definition of functions and political roles from national institutions. </a:t>
            </a:r>
            <a:endParaRPr dirty="0"/>
          </a:p>
        </p:txBody>
      </p:sp>
      <p:sp>
        <p:nvSpPr>
          <p:cNvPr id="56324"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err="1" smtClean="0">
                <a:ln>
                  <a:noFill/>
                </a:ln>
                <a:solidFill>
                  <a:schemeClr val="tx2"/>
                </a:solidFill>
                <a:effectLst/>
                <a:uLnTx/>
                <a:uFillTx/>
                <a:latin typeface="+mj-lt"/>
                <a:ea typeface="+mj-ea"/>
                <a:cs typeface="+mj-cs"/>
              </a:rPr>
              <a:t>Rostow’s</a:t>
            </a:r>
            <a:r>
              <a:rPr kumimoji="0" lang="en-US" sz="3000" b="0" i="0" u="none" strike="noStrike" kern="1200" cap="small" spc="0" normalizeH="0" baseline="0" noProof="0" dirty="0" smtClean="0">
                <a:ln>
                  <a:noFill/>
                </a:ln>
                <a:solidFill>
                  <a:schemeClr val="tx2"/>
                </a:solidFill>
                <a:effectLst/>
                <a:uLnTx/>
                <a:uFillTx/>
                <a:latin typeface="+mj-lt"/>
                <a:ea typeface="+mj-ea"/>
                <a:cs typeface="+mj-cs"/>
              </a:rPr>
              <a:t> model of development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57347" name="Content Placeholder 2"/>
          <p:cNvSpPr>
            <a:spLocks noGrp="1"/>
          </p:cNvSpPr>
          <p:nvPr>
            <p:ph sz="quarter" idx="1"/>
          </p:nvPr>
        </p:nvSpPr>
        <p:spPr>
          <a:ln/>
        </p:spPr>
        <p:txBody>
          <a:bodyPr vert="horz" wrap="square" lIns="91440" tIns="45720" rIns="91440" bIns="45720" anchor="t" anchorCtr="0"/>
          <a:p>
            <a:r>
              <a:rPr dirty="0"/>
              <a:t>According to Walt W. Rostow, modernization is a phased process: he divided development into 5 stages:</a:t>
            </a:r>
            <a:endParaRPr dirty="0"/>
          </a:p>
          <a:p>
            <a:r>
              <a:rPr dirty="0"/>
              <a:t>Also Rostow took an historical approach in suggesting that developed countries have tended to pass through 5stages to reach their current degree of Economic development </a:t>
            </a:r>
            <a:endParaRPr dirty="0"/>
          </a:p>
          <a:p>
            <a:pPr>
              <a:buFont typeface="Wingdings" panose="05000000000000000000" pitchFamily="2" charset="2"/>
              <a:buChar char="Ø"/>
            </a:pPr>
            <a:r>
              <a:rPr dirty="0"/>
              <a:t>traditional society, </a:t>
            </a:r>
            <a:endParaRPr dirty="0"/>
          </a:p>
          <a:p>
            <a:pPr>
              <a:buFont typeface="Wingdings" panose="05000000000000000000" pitchFamily="2" charset="2"/>
              <a:buChar char="Ø"/>
            </a:pPr>
            <a:r>
              <a:rPr dirty="0"/>
              <a:t>precondition for takeoff, </a:t>
            </a:r>
            <a:endParaRPr dirty="0"/>
          </a:p>
          <a:p>
            <a:pPr>
              <a:buFont typeface="Wingdings" panose="05000000000000000000" pitchFamily="2" charset="2"/>
              <a:buChar char="Ø"/>
            </a:pPr>
            <a:r>
              <a:rPr dirty="0"/>
              <a:t>the takeoff process, </a:t>
            </a:r>
            <a:endParaRPr dirty="0"/>
          </a:p>
          <a:p>
            <a:pPr>
              <a:buFont typeface="Wingdings" panose="05000000000000000000" pitchFamily="2" charset="2"/>
              <a:buChar char="Ø"/>
            </a:pPr>
            <a:r>
              <a:rPr dirty="0"/>
              <a:t>the drive to maturity, and </a:t>
            </a:r>
            <a:endParaRPr dirty="0"/>
          </a:p>
          <a:p>
            <a:pPr>
              <a:buFont typeface="Wingdings" panose="05000000000000000000" pitchFamily="2" charset="2"/>
              <a:buChar char="Ø"/>
            </a:pPr>
            <a:r>
              <a:rPr dirty="0"/>
              <a:t>high mass consumption society. </a:t>
            </a:r>
            <a:endParaRPr dirty="0"/>
          </a:p>
          <a:p>
            <a:endParaRPr dirty="0"/>
          </a:p>
        </p:txBody>
      </p:sp>
      <p:sp>
        <p:nvSpPr>
          <p:cNvPr id="57348"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Dependency theory</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58371" name="Content Placeholder 2"/>
          <p:cNvSpPr>
            <a:spLocks noGrp="1"/>
          </p:cNvSpPr>
          <p:nvPr>
            <p:ph sz="quarter" idx="1"/>
          </p:nvPr>
        </p:nvSpPr>
        <p:spPr>
          <a:ln/>
        </p:spPr>
        <p:txBody>
          <a:bodyPr vert="horz" wrap="square" lIns="91440" tIns="45720" rIns="91440" bIns="45720" anchor="t" anchorCtr="0"/>
          <a:p>
            <a:r>
              <a:rPr dirty="0"/>
              <a:t>Dependency theory states that poor nations provide </a:t>
            </a:r>
            <a:r>
              <a:rPr u="sng" dirty="0"/>
              <a:t>natural resource </a:t>
            </a:r>
            <a:r>
              <a:rPr dirty="0"/>
              <a:t> and cheap </a:t>
            </a:r>
            <a:r>
              <a:rPr u="sng" dirty="0"/>
              <a:t>labor</a:t>
            </a:r>
            <a:r>
              <a:rPr dirty="0"/>
              <a:t> for </a:t>
            </a:r>
            <a:r>
              <a:rPr u="sng" dirty="0"/>
              <a:t>developed nations</a:t>
            </a:r>
            <a:r>
              <a:rPr dirty="0"/>
              <a:t>, without which the developed nations could not have the </a:t>
            </a:r>
            <a:r>
              <a:rPr u="sng" dirty="0"/>
              <a:t>standard of living</a:t>
            </a:r>
            <a:r>
              <a:rPr dirty="0"/>
              <a:t> which they enjoy</a:t>
            </a:r>
            <a:endParaRPr dirty="0"/>
          </a:p>
          <a:p>
            <a:r>
              <a:rPr dirty="0"/>
              <a:t>This means that </a:t>
            </a:r>
            <a:r>
              <a:rPr u="sng" dirty="0"/>
              <a:t>poverty</a:t>
            </a:r>
            <a:r>
              <a:rPr dirty="0"/>
              <a:t> of developing nations is not the result of the disintegration of these countries in the </a:t>
            </a:r>
            <a:r>
              <a:rPr u="sng" dirty="0"/>
              <a:t>world system</a:t>
            </a:r>
            <a:r>
              <a:rPr dirty="0"/>
              <a:t>, but because of the way in which they are integrated into this system.</a:t>
            </a:r>
            <a:endParaRPr dirty="0"/>
          </a:p>
          <a:p>
            <a:endParaRPr dirty="0"/>
          </a:p>
        </p:txBody>
      </p:sp>
      <p:sp>
        <p:nvSpPr>
          <p:cNvPr id="58372"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World system theory</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59395" name="Content Placeholder 2"/>
          <p:cNvSpPr>
            <a:spLocks noGrp="1"/>
          </p:cNvSpPr>
          <p:nvPr>
            <p:ph sz="quarter" idx="1"/>
          </p:nvPr>
        </p:nvSpPr>
        <p:spPr>
          <a:ln/>
        </p:spPr>
        <p:txBody>
          <a:bodyPr vert="horz" wrap="square" lIns="91440" tIns="45720" rIns="91440" bIns="45720" anchor="t" anchorCtr="0"/>
          <a:p>
            <a:r>
              <a:rPr dirty="0"/>
              <a:t>also known as </a:t>
            </a:r>
            <a:r>
              <a:rPr b="1" dirty="0"/>
              <a:t>world-systems analysis</a:t>
            </a:r>
            <a:r>
              <a:rPr dirty="0"/>
              <a:t> or </a:t>
            </a:r>
            <a:r>
              <a:rPr b="1" dirty="0"/>
              <a:t>the world-systems perspective</a:t>
            </a:r>
            <a:endParaRPr b="1" dirty="0"/>
          </a:p>
          <a:p>
            <a:r>
              <a:rPr dirty="0"/>
              <a:t>"World-system" refers to the inter-regional and transnational </a:t>
            </a:r>
            <a:r>
              <a:rPr u="sng" dirty="0"/>
              <a:t>division of labor</a:t>
            </a:r>
            <a:r>
              <a:rPr dirty="0"/>
              <a:t>, which divides the world into </a:t>
            </a:r>
            <a:r>
              <a:rPr u="sng" dirty="0"/>
              <a:t>core countries</a:t>
            </a:r>
            <a:r>
              <a:rPr dirty="0"/>
              <a:t>, </a:t>
            </a:r>
            <a:r>
              <a:rPr u="sng" dirty="0"/>
              <a:t>semi-periphery countries</a:t>
            </a:r>
            <a:r>
              <a:rPr dirty="0"/>
              <a:t>, and the </a:t>
            </a:r>
            <a:r>
              <a:rPr u="sng" dirty="0"/>
              <a:t>periphery countries.</a:t>
            </a:r>
            <a:endParaRPr u="sng" dirty="0"/>
          </a:p>
          <a:p>
            <a:r>
              <a:rPr dirty="0"/>
              <a:t>This was the period of capitalism, new conditions were related to the fact that the international financial and trade systems began to have a more flexible character.</a:t>
            </a:r>
            <a:endParaRPr dirty="0"/>
          </a:p>
          <a:p>
            <a:endParaRPr dirty="0"/>
          </a:p>
        </p:txBody>
      </p:sp>
      <p:sp>
        <p:nvSpPr>
          <p:cNvPr id="59396"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Globalization theory</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60419" name="Content Placeholder 2"/>
          <p:cNvSpPr>
            <a:spLocks noGrp="1"/>
          </p:cNvSpPr>
          <p:nvPr>
            <p:ph sz="quarter" idx="1"/>
          </p:nvPr>
        </p:nvSpPr>
        <p:spPr>
          <a:ln/>
        </p:spPr>
        <p:txBody>
          <a:bodyPr vert="horz" wrap="square" lIns="91440" tIns="45720" rIns="91440" bIns="45720" anchor="t" anchorCtr="0"/>
          <a:p>
            <a:r>
              <a:rPr dirty="0"/>
              <a:t>Process of </a:t>
            </a:r>
            <a:r>
              <a:rPr u="sng" dirty="0"/>
              <a:t>interaction</a:t>
            </a:r>
            <a:r>
              <a:rPr dirty="0"/>
              <a:t> and integration among people, companies, and governments </a:t>
            </a:r>
            <a:r>
              <a:rPr u="sng" dirty="0"/>
              <a:t>worldwide.</a:t>
            </a:r>
            <a:endParaRPr u="sng" dirty="0"/>
          </a:p>
          <a:p>
            <a:r>
              <a:rPr dirty="0"/>
              <a:t>Globalization is primarily an economic process of interaction and integration that is associated with social and cultural aspects. </a:t>
            </a:r>
            <a:endParaRPr dirty="0"/>
          </a:p>
          <a:p>
            <a:r>
              <a:rPr dirty="0"/>
              <a:t>Conflicts and </a:t>
            </a:r>
            <a:r>
              <a:rPr u="sng" dirty="0"/>
              <a:t>diplomacy</a:t>
            </a:r>
            <a:r>
              <a:rPr dirty="0"/>
              <a:t> are also large parts of the </a:t>
            </a:r>
            <a:r>
              <a:rPr u="sng" dirty="0"/>
              <a:t>history of globalization</a:t>
            </a:r>
            <a:r>
              <a:rPr dirty="0"/>
              <a:t>, and of modern globalization.</a:t>
            </a:r>
            <a:endParaRPr dirty="0"/>
          </a:p>
          <a:p>
            <a:r>
              <a:rPr dirty="0"/>
              <a:t>The expansion of global markets liberalizes the economic activities of the exchange of goods and funds. Removal of cross-border trade barriers has made the formation of global markets more feasible.</a:t>
            </a:r>
            <a:endParaRPr dirty="0"/>
          </a:p>
          <a:p>
            <a:endParaRPr dirty="0"/>
          </a:p>
          <a:p>
            <a:endParaRPr dirty="0"/>
          </a:p>
        </p:txBody>
      </p:sp>
      <p:sp>
        <p:nvSpPr>
          <p:cNvPr id="60420" name="Slide Number Placeholder 2"/>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33400" y="228600"/>
            <a:ext cx="7467600" cy="1143000"/>
          </a:xfrm>
        </p:spPr>
        <p:txBody>
          <a:bodyPr vert="horz" anchor="b">
            <a:normAutofit fontScale="90000"/>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700" b="1"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DEVELOPMENT PLANNING  </a:t>
            </a:r>
            <a:r>
              <a:rPr kumimoji="0" lang="en-US" sz="2700" b="1" i="0" u="none" strike="noStrike" kern="1200" cap="small" spc="0" normalizeH="0" baseline="0" noProof="0" dirty="0" smtClean="0">
                <a:ln>
                  <a:noFill/>
                </a:ln>
                <a:solidFill>
                  <a:schemeClr val="tx2"/>
                </a:solidFill>
                <a:effectLst/>
                <a:uLnTx/>
                <a:uFillTx/>
                <a:latin typeface="+mj-lt"/>
                <a:ea typeface="Times New Roman" panose="02020603050405020304" pitchFamily="18" charset="0"/>
                <a:cs typeface="Arial" panose="020B0604020202020204" pitchFamily="34" charset="0"/>
              </a:rPr>
              <a:t>IN</a:t>
            </a:r>
            <a:r>
              <a:rPr kumimoji="0" lang="en-US" sz="27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Arial" panose="020B0604020202020204" pitchFamily="34" charset="0"/>
              </a:rPr>
              <a:t> </a:t>
            </a:r>
            <a:r>
              <a:rPr kumimoji="0" lang="en-US" sz="2700" b="1"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DEVELOPING COUNTRIES </a:t>
            </a:r>
            <a:br>
              <a:rPr kumimoji="0" lang="en-US" sz="3200" b="1"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Arial" panose="020B0604020202020204" pitchFamily="34" charset="0"/>
              </a:rPr>
            </a:b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62467" name="Content Placeholder 2"/>
          <p:cNvSpPr>
            <a:spLocks noGrp="1"/>
          </p:cNvSpPr>
          <p:nvPr>
            <p:ph sz="quarter" idx="1"/>
          </p:nvPr>
        </p:nvSpPr>
        <p:spPr>
          <a:xfrm>
            <a:off x="533400" y="1066800"/>
            <a:ext cx="7874000" cy="5334000"/>
          </a:xfrm>
          <a:ln/>
        </p:spPr>
        <p:txBody>
          <a:bodyPr vert="horz" wrap="square" lIns="91440" tIns="45720" rIns="91440" bIns="45720" anchor="t" anchorCtr="0"/>
          <a:p>
            <a:pPr marL="0" indent="0" algn="just">
              <a:spcBef>
                <a:spcPct val="0"/>
              </a:spcBef>
              <a:buClr>
                <a:schemeClr val="accent1"/>
              </a:buClr>
              <a:buSzPct val="70000"/>
              <a:buFont typeface="Wingdings" panose="05000000000000000000" pitchFamily="2" charset="2"/>
              <a:buNone/>
            </a:pPr>
            <a:r>
              <a:rPr b="1" dirty="0">
                <a:cs typeface="Times New Roman" panose="02020603050405020304" pitchFamily="18" charset="0"/>
              </a:rPr>
              <a:t>What is planning?</a:t>
            </a:r>
            <a:endParaRPr b="1" dirty="0">
              <a:cs typeface="Times New Roman" panose="02020603050405020304" pitchFamily="18" charset="0"/>
            </a:endParaRPr>
          </a:p>
          <a:p>
            <a:pPr marL="0" indent="0" algn="just">
              <a:spcBef>
                <a:spcPct val="0"/>
              </a:spcBef>
              <a:buClr>
                <a:schemeClr val="accent1"/>
              </a:buClr>
              <a:buSzPct val="70000"/>
              <a:buFont typeface="Wingdings" panose="05000000000000000000" pitchFamily="2" charset="2"/>
              <a:buNone/>
            </a:pPr>
            <a:r>
              <a:rPr dirty="0">
                <a:cs typeface="Times New Roman" panose="02020603050405020304" pitchFamily="18" charset="0"/>
              </a:rPr>
              <a:t>Plan can either be a decision or a drawing</a:t>
            </a:r>
            <a:endParaRPr dirty="0">
              <a:cs typeface="Times New Roman" panose="02020603050405020304" pitchFamily="18" charset="0"/>
            </a:endParaRPr>
          </a:p>
          <a:p>
            <a:pPr marL="0" indent="0" algn="just">
              <a:spcBef>
                <a:spcPct val="0"/>
              </a:spcBef>
              <a:buClr>
                <a:schemeClr val="accent1"/>
              </a:buClr>
              <a:buSzPct val="70000"/>
              <a:buFont typeface="Wingdings" panose="05000000000000000000" pitchFamily="2" charset="2"/>
              <a:buNone/>
            </a:pPr>
            <a:r>
              <a:rPr b="1" dirty="0">
                <a:cs typeface="Times New Roman" panose="02020603050405020304" pitchFamily="18" charset="0"/>
              </a:rPr>
              <a:t>1. As a decision:</a:t>
            </a:r>
            <a:r>
              <a:rPr dirty="0">
                <a:cs typeface="Times New Roman" panose="02020603050405020304" pitchFamily="18" charset="0"/>
              </a:rPr>
              <a:t>  </a:t>
            </a:r>
            <a:endParaRPr dirty="0">
              <a:cs typeface="Times New Roman" panose="02020603050405020304" pitchFamily="18" charset="0"/>
            </a:endParaRPr>
          </a:p>
          <a:p>
            <a:pPr marL="0" indent="0" algn="just">
              <a:spcBef>
                <a:spcPct val="0"/>
              </a:spcBef>
              <a:buClr>
                <a:schemeClr val="accent1"/>
              </a:buClr>
              <a:buSzPct val="70000"/>
              <a:buFont typeface="Wingdings" panose="05000000000000000000" pitchFamily="2" charset="2"/>
              <a:buNone/>
            </a:pPr>
            <a:r>
              <a:rPr dirty="0">
                <a:cs typeface="Times New Roman" panose="02020603050405020304" pitchFamily="18" charset="0"/>
              </a:rPr>
              <a:t>It means a process of setting goal (aims or purposes), developing strategies and outlining tasks and schedules to accomplish the goals. </a:t>
            </a:r>
            <a:endParaRPr dirty="0">
              <a:cs typeface="Times New Roman" panose="02020603050405020304" pitchFamily="18" charset="0"/>
            </a:endParaRPr>
          </a:p>
          <a:p>
            <a:pPr marL="0" indent="0" algn="just">
              <a:spcBef>
                <a:spcPct val="0"/>
              </a:spcBef>
              <a:buClr>
                <a:schemeClr val="accent1"/>
              </a:buClr>
              <a:buSzPct val="70000"/>
              <a:buFont typeface="Wingdings" panose="05000000000000000000" pitchFamily="2" charset="2"/>
              <a:buNone/>
            </a:pPr>
            <a:endParaRPr dirty="0">
              <a:cs typeface="Times New Roman" panose="02020603050405020304" pitchFamily="18" charset="0"/>
            </a:endParaRPr>
          </a:p>
          <a:p>
            <a:pPr marL="0" indent="0" algn="just">
              <a:spcBef>
                <a:spcPct val="0"/>
              </a:spcBef>
              <a:buClr>
                <a:schemeClr val="accent1"/>
              </a:buClr>
              <a:buSzPct val="70000"/>
              <a:buFont typeface="Wingdings" panose="05000000000000000000" pitchFamily="2" charset="2"/>
              <a:buNone/>
            </a:pPr>
            <a:r>
              <a:rPr dirty="0">
                <a:cs typeface="Times New Roman" panose="02020603050405020304" pitchFamily="18" charset="0"/>
              </a:rPr>
              <a:t> Litman (2010) defined planning as a process of deciding what to do and how to do it.</a:t>
            </a:r>
            <a:endParaRPr dirty="0">
              <a:cs typeface="Times New Roman" panose="02020603050405020304" pitchFamily="18" charset="0"/>
            </a:endParaRPr>
          </a:p>
          <a:p>
            <a:pPr marL="0" indent="0" algn="just">
              <a:spcBef>
                <a:spcPct val="0"/>
              </a:spcBef>
              <a:buClr>
                <a:schemeClr val="accent1"/>
              </a:buClr>
              <a:buSzPct val="70000"/>
              <a:buFont typeface="Wingdings" panose="05000000000000000000" pitchFamily="2" charset="2"/>
              <a:buNone/>
            </a:pPr>
            <a:endParaRPr dirty="0">
              <a:cs typeface="Times New Roman" panose="02020603050405020304" pitchFamily="18" charset="0"/>
            </a:endParaRPr>
          </a:p>
          <a:p>
            <a:pPr marL="0" indent="0" algn="just">
              <a:spcBef>
                <a:spcPct val="0"/>
              </a:spcBef>
              <a:buClr>
                <a:schemeClr val="accent1"/>
              </a:buClr>
              <a:buSzPct val="70000"/>
              <a:buFont typeface="Wingdings" panose="05000000000000000000" pitchFamily="2" charset="2"/>
              <a:buNone/>
            </a:pPr>
            <a:r>
              <a:rPr dirty="0">
                <a:cs typeface="Times New Roman" panose="02020603050405020304" pitchFamily="18" charset="0"/>
              </a:rPr>
              <a:t>Planning is the process of deciding in advance what is to be done, where, how and by whom, when and why.</a:t>
            </a:r>
            <a:endParaRPr dirty="0"/>
          </a:p>
          <a:p>
            <a:pPr marL="0" indent="0">
              <a:buClr>
                <a:schemeClr val="accent1"/>
              </a:buClr>
              <a:buSzPct val="70000"/>
              <a:buFont typeface="Wingdings" panose="05000000000000000000" pitchFamily="2" charset="2"/>
            </a:pPr>
            <a:endParaRPr dirty="0"/>
          </a:p>
        </p:txBody>
      </p:sp>
      <p:sp>
        <p:nvSpPr>
          <p:cNvPr id="62468"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7391400" cy="762000"/>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0" i="0" u="none" strike="noStrike" kern="1200" cap="small" spc="0" normalizeH="0" baseline="0" noProof="0" dirty="0" smtClean="0">
                <a:ln>
                  <a:noFill/>
                </a:ln>
                <a:solidFill>
                  <a:schemeClr val="tx2"/>
                </a:solidFill>
                <a:effectLst/>
                <a:uLnTx/>
                <a:uFillTx/>
                <a:latin typeface="+mj-lt"/>
                <a:ea typeface="+mj-ea"/>
                <a:cs typeface="+mj-cs"/>
              </a:rPr>
              <a:t>Development CONT…</a:t>
            </a: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990600"/>
            <a:ext cx="7467600" cy="5483225"/>
          </a:xfrm>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Times New Roman" panose="02020603050405020304" pitchFamily="18" charset="0"/>
              </a:rPr>
              <a:t>Planning as a process involves anticipation of future course of events and deciding the best course of action. Thus, it is a process of ‘thinking before doing’.</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400" b="1" i="0" u="none" strike="noStrike" kern="1200" cap="none" spc="0" normalizeH="0" baseline="0" noProof="0" dirty="0" smtClean="0">
                <a:ln>
                  <a:noFill/>
                </a:ln>
                <a:solidFill>
                  <a:schemeClr val="tx1"/>
                </a:solidFill>
                <a:effectLst/>
                <a:uLnTx/>
                <a:uFillTx/>
                <a:latin typeface="+mj-lt"/>
                <a:ea typeface="+mn-ea"/>
                <a:cs typeface="Times New Roman" panose="02020603050405020304" pitchFamily="18" charset="0"/>
              </a:rPr>
              <a:t>Development Planning</a:t>
            </a:r>
            <a:r>
              <a:rPr kumimoji="0" lang="en-US" sz="2400" b="1" i="0" u="none" strike="noStrike" kern="1200" cap="none" spc="0" normalizeH="0" baseline="0" noProof="0" dirty="0" smtClean="0">
                <a:ln>
                  <a:noFill/>
                </a:ln>
                <a:solidFill>
                  <a:schemeClr val="tx1"/>
                </a:solidFill>
                <a:effectLst/>
                <a:uLnTx/>
                <a:uFillTx/>
                <a:latin typeface="+mj-lt"/>
                <a:ea typeface="+mn-ea"/>
                <a:cs typeface="Times New Roman" panose="02020603050405020304" pitchFamily="18" charset="0"/>
              </a:rPr>
              <a:t> </a:t>
            </a:r>
            <a:endParaRPr kumimoji="0" lang="en-US" sz="2400" b="0" i="0" u="none" strike="noStrike" kern="1200" cap="none" spc="0" normalizeH="0" baseline="0" noProof="0" dirty="0" smtClean="0">
              <a:ln>
                <a:noFill/>
              </a:ln>
              <a:solidFill>
                <a:srgbClr val="FF0000"/>
              </a:solidFill>
              <a:effectLst/>
              <a:uLnTx/>
              <a:uFillTx/>
              <a:latin typeface="+mj-lt"/>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Times New Roman" panose="02020603050405020304" pitchFamily="18" charset="0"/>
              </a:rPr>
              <a:t>Development Planning generally refers to the process of improving the quality of life and economic well-being of people living in relatively isolated and sparsely populated areas. </a:t>
            </a: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D</a:t>
            </a: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Times New Roman" panose="02020603050405020304" pitchFamily="18" charset="0"/>
              </a:rPr>
              <a:t>evelopment planning refers to the strategic &amp; measurable goals that a person, organization or community plans to meet within a given period of time</a:t>
            </a:r>
            <a:endParaRPr kumimoji="0" lang="en-GB" sz="2400" b="0" i="0" u="none" strike="noStrike" kern="1200" cap="none" spc="0" normalizeH="0" baseline="0" noProof="0" dirty="0" smtClean="0">
              <a:ln>
                <a:noFill/>
              </a:ln>
              <a:solidFill>
                <a:schemeClr val="tx1"/>
              </a:solidFill>
              <a:effectLst/>
              <a:uLnTx/>
              <a:uFillTx/>
              <a:latin typeface="+mj-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3492"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229600" cy="457200"/>
          </a:xfrm>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GB" sz="2800" b="1" i="0" u="none" strike="noStrike" kern="1200" cap="small" spc="0" normalizeH="0" baseline="0" noProof="0" dirty="0" smtClean="0">
                <a:ln>
                  <a:noFill/>
                </a:ln>
                <a:solidFill>
                  <a:schemeClr val="tx2"/>
                </a:solidFill>
                <a:effectLst/>
                <a:uLnTx/>
                <a:uFillTx/>
                <a:latin typeface="+mj-lt"/>
                <a:ea typeface="+mj-ea"/>
                <a:cs typeface="+mj-cs"/>
              </a:rPr>
              <a:t>Why do we plan?</a:t>
            </a:r>
            <a:endParaRPr kumimoji="0" lang="en-GB" sz="28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609600"/>
            <a:ext cx="8229600" cy="5516563"/>
          </a:xfrm>
        </p:spPr>
        <p:txBody>
          <a:bodyPr vert="horz" wrap="square" lIns="91440" tIns="45720" rIns="91440" bIns="45720" numCol="1" anchor="t" anchorCtr="0" compatLnSpc="1">
            <a:normAutofit fontScale="92500" lnSpcReduction="10000"/>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GB" sz="2800" b="0" i="0" u="none" strike="noStrike" kern="1200" cap="none" spc="0" normalizeH="0" baseline="0" noProof="0" dirty="0" smtClean="0">
                <a:ln>
                  <a:noFill/>
                </a:ln>
                <a:solidFill>
                  <a:schemeClr val="tx1"/>
                </a:solidFill>
                <a:effectLst/>
                <a:uLnTx/>
                <a:uFillTx/>
                <a:latin typeface="+mn-lt"/>
                <a:ea typeface="+mn-ea"/>
                <a:cs typeface="+mn-cs"/>
              </a:rPr>
              <a:t>The reason why we </a:t>
            </a:r>
            <a:r>
              <a:rPr kumimoji="0" lang="en-GB" sz="2800" b="0" i="1" u="none" strike="noStrike" kern="1200" cap="none" spc="0" normalizeH="0" baseline="0" noProof="0" dirty="0" smtClean="0">
                <a:ln>
                  <a:noFill/>
                </a:ln>
                <a:solidFill>
                  <a:schemeClr val="tx1"/>
                </a:solidFill>
                <a:effectLst/>
                <a:uLnTx/>
                <a:uFillTx/>
                <a:latin typeface="+mn-lt"/>
                <a:ea typeface="+mn-ea"/>
                <a:cs typeface="+mn-cs"/>
              </a:rPr>
              <a:t>plan</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 is to influence and be aware of the future and its benefit to either organisation/institution/individual. We also </a:t>
            </a:r>
            <a:r>
              <a:rPr kumimoji="0" lang="en-GB" sz="2800" b="0" i="1" u="none" strike="noStrike" kern="1200" cap="none" spc="0" normalizeH="0" baseline="0" noProof="0" dirty="0" smtClean="0">
                <a:ln>
                  <a:noFill/>
                </a:ln>
                <a:solidFill>
                  <a:schemeClr val="tx1"/>
                </a:solidFill>
                <a:effectLst/>
                <a:uLnTx/>
                <a:uFillTx/>
                <a:latin typeface="+mn-lt"/>
                <a:ea typeface="+mn-ea"/>
                <a:cs typeface="+mn-cs"/>
              </a:rPr>
              <a:t>plan</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 in order to achieve a certain goal or objective.</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0" i="0" u="none" strike="noStrike" kern="1200" cap="none" spc="0" normalizeH="0" baseline="0" noProof="0" dirty="0" smtClean="0">
                <a:ln>
                  <a:noFill/>
                </a:ln>
                <a:solidFill>
                  <a:schemeClr val="tx1"/>
                </a:solidFill>
                <a:effectLst/>
                <a:uLnTx/>
                <a:uFillTx/>
                <a:latin typeface="+mn-lt"/>
                <a:ea typeface="+mn-ea"/>
                <a:cs typeface="+mn-cs"/>
              </a:rPr>
              <a:t>    There are six generally accepted reasons or justifications for planning:</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1" i="0" u="none" strike="noStrike" kern="1200" cap="none" spc="0" normalizeH="0" baseline="0" noProof="0" dirty="0" smtClean="0">
                <a:ln>
                  <a:noFill/>
                </a:ln>
                <a:solidFill>
                  <a:schemeClr val="tx1"/>
                </a:solidFill>
                <a:effectLst/>
                <a:uLnTx/>
                <a:uFillTx/>
                <a:latin typeface="+mn-lt"/>
                <a:ea typeface="+mn-ea"/>
                <a:cs typeface="+mn-cs"/>
              </a:rPr>
              <a:t>1. It is a way to prepare for the future. </a:t>
            </a:r>
            <a:endParaRPr kumimoji="0" lang="en-GB" sz="28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1" i="0" u="none" strike="noStrike" kern="1200" cap="none" spc="0" normalizeH="0" baseline="0" noProof="0" dirty="0" smtClean="0">
                <a:ln>
                  <a:noFill/>
                </a:ln>
                <a:solidFill>
                  <a:schemeClr val="tx1"/>
                </a:solidFill>
                <a:effectLst/>
                <a:uLnTx/>
                <a:uFillTx/>
                <a:latin typeface="+mn-lt"/>
                <a:ea typeface="+mn-ea"/>
                <a:cs typeface="+mn-cs"/>
              </a:rPr>
              <a:t>2. Planning identifies problems and points the way to solutions. </a:t>
            </a:r>
            <a:endParaRPr kumimoji="0" lang="en-GB" sz="28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1" i="0" u="none" strike="noStrike" kern="1200" cap="none" spc="0" normalizeH="0" baseline="0" noProof="0" dirty="0" smtClean="0">
                <a:ln>
                  <a:noFill/>
                </a:ln>
                <a:solidFill>
                  <a:schemeClr val="tx1"/>
                </a:solidFill>
                <a:effectLst/>
                <a:uLnTx/>
                <a:uFillTx/>
                <a:latin typeface="+mn-lt"/>
                <a:ea typeface="+mn-ea"/>
                <a:cs typeface="+mn-cs"/>
              </a:rPr>
              <a:t>       </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Just taking a systematic, thorough look at the current situation and thinking about the implications for the future, can bring these things to light.</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4516" name="Slide Number Placeholder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229600" cy="533400"/>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GB" sz="2800" b="1" i="0" u="none" strike="noStrike" kern="1200" cap="small" spc="0" normalizeH="0" baseline="0" noProof="0" dirty="0" smtClean="0">
                <a:ln>
                  <a:noFill/>
                </a:ln>
                <a:solidFill>
                  <a:schemeClr val="tx2"/>
                </a:solidFill>
                <a:effectLst/>
                <a:uLnTx/>
                <a:uFillTx/>
                <a:latin typeface="+mj-lt"/>
                <a:ea typeface="+mj-ea"/>
                <a:cs typeface="+mj-cs"/>
              </a:rPr>
              <a:t>Why do we plan..................</a:t>
            </a:r>
            <a:endParaRPr kumimoji="0" lang="en-GB" sz="28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762000"/>
            <a:ext cx="8229600" cy="5364163"/>
          </a:xfrm>
        </p:spPr>
        <p:txBody>
          <a:bodyPr vert="horz" wrap="square" lIns="91440" tIns="45720" rIns="91440" bIns="45720" numCol="1" anchor="t" anchorCtr="0" compatLnSpc="1">
            <a:normAutofit fontScale="92500" lnSpcReduction="20000"/>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1" i="0" u="none" strike="noStrike" kern="1200" cap="none" spc="0" normalizeH="0" baseline="0" noProof="0" dirty="0" smtClean="0">
                <a:ln>
                  <a:noFill/>
                </a:ln>
                <a:solidFill>
                  <a:schemeClr val="tx1"/>
                </a:solidFill>
                <a:effectLst/>
                <a:uLnTx/>
                <a:uFillTx/>
                <a:latin typeface="+mn-lt"/>
                <a:ea typeface="+mn-ea"/>
                <a:cs typeface="+mn-cs"/>
              </a:rPr>
              <a:t>3.</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800" b="1" i="0" u="none" strike="noStrike" kern="1200" cap="none" spc="0" normalizeH="0" baseline="0" noProof="0" dirty="0" smtClean="0">
                <a:ln>
                  <a:noFill/>
                </a:ln>
                <a:solidFill>
                  <a:schemeClr val="tx1"/>
                </a:solidFill>
                <a:effectLst/>
                <a:uLnTx/>
                <a:uFillTx/>
                <a:latin typeface="+mn-lt"/>
                <a:ea typeface="+mn-ea"/>
                <a:cs typeface="+mn-cs"/>
              </a:rPr>
              <a:t>It helps us to do first things first. </a:t>
            </a:r>
            <a:endParaRPr kumimoji="0" lang="en-GB" sz="28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1" i="0" u="none" strike="noStrike" kern="1200" cap="none" spc="0" normalizeH="0" baseline="0" noProof="0" dirty="0" smtClean="0">
                <a:ln>
                  <a:noFill/>
                </a:ln>
                <a:solidFill>
                  <a:schemeClr val="tx1"/>
                </a:solidFill>
                <a:effectLst/>
                <a:uLnTx/>
                <a:uFillTx/>
                <a:latin typeface="+mn-lt"/>
                <a:ea typeface="+mn-ea"/>
                <a:cs typeface="+mn-cs"/>
              </a:rPr>
              <a:t>    </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In other words, it provides a rationale for assigning priorities. </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800" b="0" i="0" u="none" strike="noStrike" kern="1200" cap="none" spc="0" normalizeH="0" baseline="0" noProof="0" dirty="0" err="1" smtClean="0">
                <a:ln>
                  <a:noFill/>
                </a:ln>
                <a:solidFill>
                  <a:schemeClr val="tx1"/>
                </a:solidFill>
                <a:effectLst/>
                <a:uLnTx/>
                <a:uFillTx/>
                <a:latin typeface="+mn-lt"/>
                <a:ea typeface="+mn-ea"/>
                <a:cs typeface="+mn-cs"/>
              </a:rPr>
              <a:t>Eg.Should</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 we build more streets before more sewer lines? Or Should we build a new community </a:t>
            </a:r>
            <a:r>
              <a:rPr kumimoji="0" lang="en-GB" sz="2800" b="0" i="0" u="none" strike="noStrike" kern="1200" cap="none" spc="0" normalizeH="0" baseline="0" noProof="0" dirty="0" err="1" smtClean="0">
                <a:ln>
                  <a:noFill/>
                </a:ln>
                <a:solidFill>
                  <a:schemeClr val="tx1"/>
                </a:solidFill>
                <a:effectLst/>
                <a:uLnTx/>
                <a:uFillTx/>
                <a:latin typeface="+mn-lt"/>
                <a:ea typeface="+mn-ea"/>
                <a:cs typeface="+mn-cs"/>
              </a:rPr>
              <a:t>center</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 before upgrading fire stations, or vice versa?</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1" i="0" u="none" strike="noStrike" kern="1200" cap="none" spc="0" normalizeH="0" baseline="0" noProof="0" dirty="0" smtClean="0">
                <a:ln>
                  <a:noFill/>
                </a:ln>
                <a:solidFill>
                  <a:schemeClr val="tx1"/>
                </a:solidFill>
                <a:effectLst/>
                <a:uLnTx/>
                <a:uFillTx/>
                <a:latin typeface="+mn-lt"/>
                <a:ea typeface="+mn-ea"/>
                <a:cs typeface="+mn-cs"/>
              </a:rPr>
              <a:t>4.</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800" b="1" i="0" u="none" strike="noStrike" kern="1200" cap="none" spc="0" normalizeH="0" baseline="0" noProof="0" dirty="0" smtClean="0">
                <a:ln>
                  <a:noFill/>
                </a:ln>
                <a:solidFill>
                  <a:schemeClr val="tx1"/>
                </a:solidFill>
                <a:effectLst/>
                <a:uLnTx/>
                <a:uFillTx/>
                <a:latin typeface="+mn-lt"/>
                <a:ea typeface="+mn-ea"/>
                <a:cs typeface="+mn-cs"/>
              </a:rPr>
              <a:t>Through planning, you can come up with sound policies for address growth or decline.</a:t>
            </a:r>
            <a:endParaRPr kumimoji="0" lang="en-GB" sz="28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800" b="0" i="0" u="none" strike="noStrike" kern="1200" cap="none" spc="0" normalizeH="0" baseline="0" noProof="0" dirty="0" err="1" smtClean="0">
                <a:ln>
                  <a:noFill/>
                </a:ln>
                <a:solidFill>
                  <a:schemeClr val="tx1"/>
                </a:solidFill>
                <a:effectLst/>
                <a:uLnTx/>
                <a:uFillTx/>
                <a:latin typeface="+mn-lt"/>
                <a:ea typeface="+mn-ea"/>
                <a:cs typeface="+mn-cs"/>
              </a:rPr>
              <a:t>Eg</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 Where should new housing go? What's to become of downtown if we encourage an outlying shopping </a:t>
            </a:r>
            <a:r>
              <a:rPr kumimoji="0" lang="en-GB" sz="2800" b="0" i="0" u="none" strike="noStrike" kern="1200" cap="none" spc="0" normalizeH="0" baseline="0" noProof="0" dirty="0" err="1" smtClean="0">
                <a:ln>
                  <a:noFill/>
                </a:ln>
                <a:solidFill>
                  <a:schemeClr val="tx1"/>
                </a:solidFill>
                <a:effectLst/>
                <a:uLnTx/>
                <a:uFillTx/>
                <a:latin typeface="+mn-lt"/>
                <a:ea typeface="+mn-ea"/>
                <a:cs typeface="+mn-cs"/>
              </a:rPr>
              <a:t>center</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0" i="0" u="none" strike="noStrike" kern="1200" cap="none" spc="0" normalizeH="0" baseline="0" noProof="0" dirty="0" smtClean="0">
                <a:ln>
                  <a:noFill/>
                </a:ln>
                <a:solidFill>
                  <a:schemeClr val="tx1"/>
                </a:solidFill>
                <a:effectLst/>
                <a:uLnTx/>
                <a:uFillTx/>
                <a:latin typeface="+mn-lt"/>
                <a:ea typeface="+mn-ea"/>
                <a:cs typeface="+mn-cs"/>
              </a:rPr>
              <a:t>    Therefore a good plan will suggest answers to difficult questions.</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5540" name="Slide Number Placeholder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229600" cy="381000"/>
          </a:xfrm>
        </p:spPr>
        <p:txBody>
          <a:bodyPr vert="horz" anchor="b">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GB" sz="2800" b="1" i="0" u="none" strike="noStrike" kern="1200" cap="small" spc="0" normalizeH="0" baseline="0" noProof="0" dirty="0" smtClean="0">
                <a:ln>
                  <a:noFill/>
                </a:ln>
                <a:solidFill>
                  <a:schemeClr val="tx2"/>
                </a:solidFill>
                <a:effectLst/>
                <a:uLnTx/>
                <a:uFillTx/>
                <a:latin typeface="+mj-lt"/>
                <a:ea typeface="+mj-ea"/>
                <a:cs typeface="+mj-cs"/>
              </a:rPr>
              <a:t>Why do we plan.........</a:t>
            </a:r>
            <a:endParaRPr kumimoji="0" lang="en-GB" sz="28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609600"/>
            <a:ext cx="8229600" cy="5516563"/>
          </a:xfrm>
        </p:spPr>
        <p:txBody>
          <a:bodyPr vert="horz" wrap="square" lIns="91440" tIns="45720" rIns="91440" bIns="45720" numCol="1" anchor="t" anchorCtr="0" compatLnSpc="1">
            <a:normAutofit fontScale="92500"/>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1" i="0" u="none" strike="noStrike" kern="1200" cap="none" spc="0" normalizeH="0" baseline="0" noProof="0" dirty="0" smtClean="0">
                <a:ln>
                  <a:noFill/>
                </a:ln>
                <a:solidFill>
                  <a:schemeClr val="tx1"/>
                </a:solidFill>
                <a:effectLst/>
                <a:uLnTx/>
                <a:uFillTx/>
                <a:latin typeface="+mn-lt"/>
                <a:ea typeface="+mn-ea"/>
                <a:cs typeface="+mn-cs"/>
              </a:rPr>
              <a:t>5. Planning helps to coordinate development projects with one another. </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In other words, making sure that adequate roads and utilities are in place before the new shopping </a:t>
            </a:r>
            <a:r>
              <a:rPr kumimoji="0" lang="en-GB" sz="2800" b="0" i="0" u="none" strike="noStrike" kern="1200" cap="none" spc="0" normalizeH="0" baseline="0" noProof="0" dirty="0" err="1" smtClean="0">
                <a:ln>
                  <a:noFill/>
                </a:ln>
                <a:solidFill>
                  <a:schemeClr val="tx1"/>
                </a:solidFill>
                <a:effectLst/>
                <a:uLnTx/>
                <a:uFillTx/>
                <a:latin typeface="+mn-lt"/>
                <a:ea typeface="+mn-ea"/>
                <a:cs typeface="+mn-cs"/>
              </a:rPr>
              <a:t>center</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 or subdivision or dairy farm are opened.</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1" i="0" u="none" strike="noStrike" kern="1200" cap="none" spc="0" normalizeH="0" baseline="0" noProof="0" dirty="0" smtClean="0">
                <a:ln>
                  <a:noFill/>
                </a:ln>
                <a:solidFill>
                  <a:schemeClr val="tx1"/>
                </a:solidFill>
                <a:effectLst/>
                <a:uLnTx/>
                <a:uFillTx/>
                <a:latin typeface="+mn-lt"/>
                <a:ea typeface="+mn-ea"/>
                <a:cs typeface="+mn-cs"/>
              </a:rPr>
              <a:t>6.</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800" b="1" i="0" u="none" strike="noStrike" kern="1200" cap="none" spc="0" normalizeH="0" baseline="0" noProof="0" dirty="0" smtClean="0">
                <a:ln>
                  <a:noFill/>
                </a:ln>
                <a:solidFill>
                  <a:schemeClr val="tx1"/>
                </a:solidFill>
                <a:effectLst/>
                <a:uLnTx/>
                <a:uFillTx/>
                <a:latin typeface="+mn-lt"/>
                <a:ea typeface="+mn-ea"/>
                <a:cs typeface="+mn-cs"/>
              </a:rPr>
              <a:t>Planning can educate, involve and inform the public as well as public officials. </a:t>
            </a:r>
            <a:endParaRPr kumimoji="0" lang="en-GB" sz="28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GB" sz="2800" b="1" i="0" u="none" strike="noStrike" kern="1200" cap="none" spc="0" normalizeH="0" baseline="0" noProof="0" dirty="0" smtClean="0">
                <a:ln>
                  <a:noFill/>
                </a:ln>
                <a:solidFill>
                  <a:schemeClr val="tx1"/>
                </a:solidFill>
                <a:effectLst/>
                <a:uLnTx/>
                <a:uFillTx/>
                <a:latin typeface="+mn-lt"/>
                <a:ea typeface="+mn-ea"/>
                <a:cs typeface="+mn-cs"/>
              </a:rPr>
              <a:t>    </a:t>
            </a:r>
            <a:r>
              <a:rPr kumimoji="0" lang="en-GB" sz="2800" b="0" i="0" u="none" strike="noStrike" kern="1200" cap="none" spc="0" normalizeH="0" baseline="0" noProof="0" dirty="0" smtClean="0">
                <a:ln>
                  <a:noFill/>
                </a:ln>
                <a:solidFill>
                  <a:schemeClr val="tx1"/>
                </a:solidFill>
                <a:effectLst/>
                <a:uLnTx/>
                <a:uFillTx/>
                <a:latin typeface="+mn-lt"/>
                <a:ea typeface="+mn-ea"/>
                <a:cs typeface="+mn-cs"/>
              </a:rPr>
              <a:t>A soundly reasoned plan can reveal the potential for change and improvement to a community to those who had never thought of such things before. Planning can be a real eye-opener.</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6564" name="Slide Number Placeholder 5"/>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98500" y="762000"/>
            <a:ext cx="7467600" cy="1143000"/>
          </a:xfrm>
        </p:spPr>
        <p:txBody>
          <a:bodyPr vert="horz" anchor="b">
            <a:normAutofit fontScale="90000"/>
          </a:bodyPr>
          <a:lstStyle/>
          <a:p>
            <a:pPr marL="0" marR="0" lvl="0" indent="0" algn="ctr" defTabSz="914400" rtl="0" eaLnBrk="0" fontAlgn="base" latinLnBrk="0" hangingPunct="0">
              <a:lnSpc>
                <a:spcPct val="100000"/>
              </a:lnSpc>
              <a:spcBef>
                <a:spcPct val="0"/>
              </a:spcBef>
              <a:spcAft>
                <a:spcPct val="0"/>
              </a:spcAft>
              <a:buClrTx/>
              <a:buSzTx/>
              <a:buFontTx/>
              <a:buNone/>
              <a:defRPr/>
            </a:pPr>
            <a:br>
              <a:rPr kumimoji="0" lang="en-US" sz="3200" b="1"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Arial" panose="020B0604020202020204" pitchFamily="34" charset="0"/>
              </a:rPr>
            </a:br>
            <a:br>
              <a:rPr kumimoji="0" lang="en-US" sz="3200" b="1" i="0" u="none" strike="noStrike" kern="1200" cap="none" spc="0" normalizeH="0" baseline="0" noProof="0" dirty="0">
                <a:ln>
                  <a:noFill/>
                </a:ln>
                <a:solidFill>
                  <a:schemeClr val="tx1"/>
                </a:solidFill>
                <a:effectLst/>
                <a:uLnTx/>
                <a:uFillTx/>
                <a:latin typeface="Arial" panose="020B0604020202020204" pitchFamily="34" charset="0"/>
                <a:ea typeface="Times New Roman" panose="02020603050405020304" pitchFamily="18" charset="0"/>
                <a:cs typeface="Arial" panose="020B0604020202020204" pitchFamily="34" charset="0"/>
              </a:rPr>
            </a:br>
            <a:br>
              <a:rPr kumimoji="0" lang="en-US" sz="3200" b="1"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Arial" panose="020B0604020202020204" pitchFamily="34" charset="0"/>
              </a:rPr>
            </a:br>
            <a:br>
              <a:rPr kumimoji="0" lang="en-US" sz="3200" b="0"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Arial" panose="020B0604020202020204" pitchFamily="34" charset="0"/>
              </a:rPr>
            </a:br>
            <a:r>
              <a:rPr kumimoji="0" lang="en-US" sz="2700" b="1"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DEVELOPMENT PLANNING  </a:t>
            </a:r>
            <a:r>
              <a:rPr kumimoji="0" lang="en-US" sz="2700" b="1" i="0" u="none" strike="noStrike" kern="1200" cap="small" spc="0" normalizeH="0" baseline="0" noProof="0" dirty="0" smtClean="0">
                <a:ln>
                  <a:noFill/>
                </a:ln>
                <a:solidFill>
                  <a:schemeClr val="tx2"/>
                </a:solidFill>
                <a:effectLst/>
                <a:uLnTx/>
                <a:uFillTx/>
                <a:latin typeface="+mj-lt"/>
                <a:ea typeface="Times New Roman" panose="02020603050405020304" pitchFamily="18" charset="0"/>
                <a:cs typeface="Arial" panose="020B0604020202020204" pitchFamily="34" charset="0"/>
              </a:rPr>
              <a:t>IN</a:t>
            </a:r>
            <a:r>
              <a:rPr kumimoji="0" lang="en-US" sz="2700" b="1"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 DEVELOPING COUNTRIES </a:t>
            </a:r>
            <a:br>
              <a:rPr kumimoji="0" lang="en-US" sz="2700" b="1"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br>
            <a:br>
              <a:rPr kumimoji="0" lang="en-US" sz="2700" b="1"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br>
            <a:endParaRPr kumimoji="0" lang="en-US" sz="27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533400" y="1219200"/>
            <a:ext cx="8205788" cy="4267200"/>
          </a:xfrm>
        </p:spPr>
        <p:txBody>
          <a:bodyPr vert="horz" wrap="square" lIns="91440" tIns="45720" rIns="91440" bIns="45720" numCol="1" anchor="t" anchorCtr="0" compatLnSpc="1"/>
          <a:lstStyle/>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sz="2400" b="1"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IN </a:t>
            </a:r>
            <a:r>
              <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Arial" panose="020B0604020202020204" pitchFamily="34" charset="0"/>
              </a:rPr>
              <a:t>TANZANIAN CONTEXT</a:t>
            </a: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sz="2400" b="1"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 </a:t>
            </a:r>
            <a:endParaRPr kumimoji="0" lang="en-US" sz="2400" b="1"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Development </a:t>
            </a: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Arial" panose="020B0604020202020204" pitchFamily="34" charset="0"/>
              </a:rPr>
              <a:t>planning can be categorized as follows;</a:t>
            </a: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Arial" panose="020B0604020202020204" pitchFamily="34" charset="0"/>
            </a:endParaRPr>
          </a:p>
          <a:p>
            <a:pPr marL="457200" marR="0" lvl="0" indent="-457200" algn="just" defTabSz="914400" rtl="0" eaLnBrk="1" fontAlgn="base" latinLnBrk="0" hangingPunct="1">
              <a:lnSpc>
                <a:spcPct val="100000"/>
              </a:lnSpc>
              <a:spcBef>
                <a:spcPct val="0"/>
              </a:spcBef>
              <a:spcAft>
                <a:spcPct val="0"/>
              </a:spcAft>
              <a:buClrTx/>
              <a:buSzTx/>
              <a:buFont typeface="Wingdings" panose="05000000000000000000" pitchFamily="2" charset="2"/>
              <a:buAutoNum type="arabicPeriod"/>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before </a:t>
            </a: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Arial" panose="020B0604020202020204" pitchFamily="34" charset="0"/>
              </a:rPr>
              <a:t>independent, </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457200" marR="0" lvl="0" indent="-457200" algn="just" defTabSz="914400" rtl="0" eaLnBrk="1" fontAlgn="base" latinLnBrk="0" hangingPunct="1">
              <a:lnSpc>
                <a:spcPct val="100000"/>
              </a:lnSpc>
              <a:spcBef>
                <a:spcPct val="0"/>
              </a:spcBef>
              <a:spcAft>
                <a:spcPct val="0"/>
              </a:spcAft>
              <a:buClrTx/>
              <a:buSzTx/>
              <a:buFont typeface="Wingdings" panose="05000000000000000000" pitchFamily="2" charset="2"/>
              <a:buAutoNum type="arabicPeriod"/>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25 </a:t>
            </a: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Arial" panose="020B0604020202020204" pitchFamily="34" charset="0"/>
              </a:rPr>
              <a:t>years after independence (during independence) and </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457200" marR="0" lvl="0" indent="-457200" algn="just" defTabSz="914400" rtl="0" eaLnBrk="1" fontAlgn="base" latinLnBrk="0" hangingPunct="1">
              <a:lnSpc>
                <a:spcPct val="100000"/>
              </a:lnSpc>
              <a:spcBef>
                <a:spcPct val="0"/>
              </a:spcBef>
              <a:spcAft>
                <a:spcPct val="0"/>
              </a:spcAft>
              <a:buClrTx/>
              <a:buSzTx/>
              <a:buFont typeface="Wingdings" panose="05000000000000000000" pitchFamily="2" charset="2"/>
              <a:buAutoNum type="arabicPeriod"/>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 </a:t>
            </a: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Arial" panose="020B0604020202020204" pitchFamily="34" charset="0"/>
              </a:rPr>
              <a:t>at an interval of 10 years time</a:t>
            </a: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sz="24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7588"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b">
            <a:normAutofit fontScale="90000"/>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small" spc="0" normalizeH="0" baseline="0" noProof="0" dirty="0" smtClean="0">
                <a:ln>
                  <a:noFill/>
                </a:ln>
                <a:solidFill>
                  <a:schemeClr val="tx2"/>
                </a:solidFill>
                <a:effectLst/>
                <a:uLnTx/>
                <a:uFillTx/>
                <a:latin typeface="+mj-lt"/>
                <a:ea typeface="+mj-ea"/>
                <a:cs typeface="Arial" panose="020B0604020202020204" pitchFamily="34" charset="0"/>
              </a:rPr>
              <a:t>THE 1</a:t>
            </a:r>
            <a:r>
              <a:rPr kumimoji="0" lang="en-US" sz="3000" b="1" i="0" u="none" strike="noStrike" kern="1200" cap="small" spc="0" normalizeH="0" baseline="30000" noProof="0" dirty="0" smtClean="0">
                <a:ln>
                  <a:noFill/>
                </a:ln>
                <a:solidFill>
                  <a:schemeClr val="tx2"/>
                </a:solidFill>
                <a:effectLst/>
                <a:uLnTx/>
                <a:uFillTx/>
                <a:latin typeface="+mj-lt"/>
                <a:ea typeface="+mj-ea"/>
                <a:cs typeface="Arial" panose="020B0604020202020204" pitchFamily="34" charset="0"/>
              </a:rPr>
              <a:t>st</a:t>
            </a:r>
            <a:r>
              <a:rPr kumimoji="0" lang="en-US" sz="3000" b="1" i="0" u="none" strike="noStrike" kern="1200" cap="small" spc="0" normalizeH="0" baseline="0" noProof="0" dirty="0" smtClean="0">
                <a:ln>
                  <a:noFill/>
                </a:ln>
                <a:solidFill>
                  <a:schemeClr val="tx2"/>
                </a:solidFill>
                <a:effectLst/>
                <a:uLnTx/>
                <a:uFillTx/>
                <a:latin typeface="+mj-lt"/>
                <a:ea typeface="+mj-ea"/>
                <a:cs typeface="Arial" panose="020B0604020202020204" pitchFamily="34" charset="0"/>
              </a:rPr>
              <a:t> 5 YEAR DEVEL. PLAN IN 1961/62-1965/66</a:t>
            </a:r>
            <a:br>
              <a:rPr kumimoji="0" lang="en-US" sz="3000" b="0" i="0" u="none" strike="noStrike" kern="1200" cap="small" spc="0" normalizeH="0" baseline="0" noProof="0" dirty="0" smtClean="0">
                <a:ln>
                  <a:noFill/>
                </a:ln>
                <a:solidFill>
                  <a:schemeClr val="tx2"/>
                </a:solidFill>
                <a:effectLst/>
                <a:uLnTx/>
                <a:uFillTx/>
                <a:latin typeface="+mj-lt"/>
                <a:ea typeface="+mj-ea"/>
                <a:cs typeface="Arial" panose="020B0604020202020204" pitchFamily="34" charset="0"/>
              </a:rPr>
            </a:b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p:txBody>
          <a:bodyPr vert="horz" wrap="square" lIns="91440" tIns="45720" rIns="91440" bIns="45720" numCol="1" anchor="t" anchorCtr="0" compatLnSpc="1"/>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rPr>
              <a:t>The basic aim of these plan was rapid economic growth.</a:t>
            </a:r>
            <a:endParaRPr kumimoji="0" lang="en-US" sz="24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rPr>
              <a:t>In order to get development in Tanzania (rural and urban areas), </a:t>
            </a:r>
            <a:r>
              <a:rPr kumimoji="0" lang="en-US" sz="2400" b="0" i="0" u="none" strike="noStrike" kern="1200" cap="none" spc="0" normalizeH="0" baseline="0" noProof="0" dirty="0" err="1" smtClean="0">
                <a:ln>
                  <a:noFill/>
                </a:ln>
                <a:solidFill>
                  <a:schemeClr val="tx1"/>
                </a:solidFill>
                <a:effectLst/>
                <a:uLnTx/>
                <a:uFillTx/>
                <a:latin typeface="+mj-lt"/>
                <a:ea typeface="+mn-ea"/>
                <a:cs typeface="Arial" panose="020B0604020202020204" pitchFamily="34" charset="0"/>
              </a:rPr>
              <a:t>Nyerere</a:t>
            </a:r>
            <a:r>
              <a:rPr kumimoji="0" lang="en-US" sz="24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rPr>
              <a:t> identified three enemies of development: poverty, ignorance and disease. He insisted that in order to develop we need to fight these three enemies.</a:t>
            </a:r>
            <a:endParaRPr kumimoji="0" lang="en-US" sz="24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sz="2400" b="0" i="0" u="none" strike="noStrike" kern="1200" cap="none" spc="0" normalizeH="0" baseline="0" noProof="0" dirty="0">
              <a:ln>
                <a:noFill/>
              </a:ln>
              <a:solidFill>
                <a:schemeClr val="tx1"/>
              </a:solidFill>
              <a:effectLst/>
              <a:uLnTx/>
              <a:uFillTx/>
              <a:latin typeface="+mj-lt"/>
              <a:ea typeface="+mn-ea"/>
              <a:cs typeface="+mn-cs"/>
            </a:endParaRPr>
          </a:p>
        </p:txBody>
      </p:sp>
      <p:sp>
        <p:nvSpPr>
          <p:cNvPr id="68612" name="Footer Placeholder 3"/>
          <p:cNvSpPr txBox="1">
            <a:spLocks noGrp="1"/>
          </p:cNvSpPr>
          <p:nvPr>
            <p:ph type="ftr" sz="quarter" idx="3"/>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r>
              <a:rPr sz="1200" dirty="0">
                <a:solidFill>
                  <a:schemeClr val="tx2"/>
                </a:solidFill>
                <a:latin typeface="Century Schoolbook" panose="02040604050505020304" pitchFamily="18" charset="0"/>
              </a:rPr>
              <a:t>DEPARTMENT OF DEVELOPMENT  STUDIES</a:t>
            </a:r>
            <a:endParaRPr sz="1200" dirty="0">
              <a:solidFill>
                <a:schemeClr val="tx2"/>
              </a:solidFill>
              <a:latin typeface="Century Schoolbook" panose="020406040505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9634" name="Picture 1"/>
          <p:cNvPicPr>
            <a:picLocks noChangeAspect="1"/>
          </p:cNvPicPr>
          <p:nvPr/>
        </p:nvPicPr>
        <p:blipFill>
          <a:blip r:embed="rId1"/>
          <a:srcRect l="25543" t="25668" r="23482" b="39841"/>
          <a:stretch>
            <a:fillRect/>
          </a:stretch>
        </p:blipFill>
        <p:spPr>
          <a:xfrm>
            <a:off x="381000" y="233363"/>
            <a:ext cx="7620000" cy="5791200"/>
          </a:xfrm>
          <a:prstGeom prst="rect">
            <a:avLst/>
          </a:prstGeom>
          <a:noFill/>
          <a:ln w="9525">
            <a:noFill/>
          </a:ln>
        </p:spPr>
      </p:pic>
      <p:sp>
        <p:nvSpPr>
          <p:cNvPr id="69635"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1"/>
          <p:cNvSpPr>
            <a:spLocks noChangeArrowheads="1"/>
          </p:cNvSpPr>
          <p:nvPr/>
        </p:nvSpPr>
        <p:spPr bwMode="auto">
          <a:xfrm>
            <a:off x="381000" y="301625"/>
            <a:ext cx="8458200" cy="6002338"/>
          </a:xfrm>
          <a:prstGeom prst="rect">
            <a:avLst/>
          </a:prstGeom>
          <a:noFill/>
          <a:ln w="9525">
            <a:noFill/>
            <a:miter lim="800000"/>
          </a:ln>
          <a:effectLst/>
        </p:spPr>
        <p:txBody>
          <a:bodyPr anchor="ctr">
            <a:spAutoFit/>
          </a:bodyPr>
          <a:lstStyle/>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1" i="0" u="none" strike="noStrike" kern="1200" cap="none" spc="0" normalizeH="0" baseline="0" noProof="0" dirty="0">
              <a:ln>
                <a:noFill/>
              </a:ln>
              <a:solidFill>
                <a:schemeClr val="tx1"/>
              </a:solidFill>
              <a:effectLst/>
              <a:uLnTx/>
              <a:uFillTx/>
              <a:latin typeface="Arial" panose="020B0604020202020204" pitchFamily="34" charset="0"/>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1" i="0" u="none" strike="noStrike" kern="1200" cap="none" spc="0" normalizeH="0" baseline="0" noProof="0" dirty="0">
              <a:ln>
                <a:noFill/>
              </a:ln>
              <a:solidFill>
                <a:schemeClr val="tx1"/>
              </a:solidFill>
              <a:effectLst/>
              <a:uLnTx/>
              <a:uFillTx/>
              <a:latin typeface="Arial" panose="020B0604020202020204" pitchFamily="34" charset="0"/>
              <a:ea typeface="Times New Roman" panose="02020603050405020304" pitchFamily="18" charset="0"/>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POVERT AS AN ENEMY </a:t>
            </a:r>
            <a:endPar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Fighting poverty through Agricultural </a:t>
            </a:r>
            <a:r>
              <a:rPr kumimoji="0" lang="en-US" sz="2400" b="1" i="0" u="none" strike="noStrike" kern="1200" cap="none" spc="0" normalizeH="0" baseline="0" noProof="0" dirty="0" err="1">
                <a:ln>
                  <a:noFill/>
                </a:ln>
                <a:solidFill>
                  <a:schemeClr val="tx1"/>
                </a:solidFill>
                <a:effectLst/>
                <a:uLnTx/>
                <a:uFillTx/>
                <a:latin typeface="+mj-lt"/>
                <a:ea typeface="Times New Roman" panose="02020603050405020304" pitchFamily="18" charset="0"/>
                <a:cs typeface="+mn-cs"/>
              </a:rPr>
              <a:t>devel</a:t>
            </a:r>
            <a:r>
              <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 </a:t>
            </a:r>
            <a:r>
              <a:rPr kumimoji="0" lang="en-US" sz="2400" b="1" i="0" u="none" strike="noStrike" kern="1200" cap="none" spc="0" normalizeH="0" baseline="0" noProof="0" dirty="0" err="1">
                <a:ln>
                  <a:noFill/>
                </a:ln>
                <a:solidFill>
                  <a:schemeClr val="tx1"/>
                </a:solidFill>
                <a:effectLst/>
                <a:uLnTx/>
                <a:uFillTx/>
                <a:latin typeface="+mj-lt"/>
                <a:ea typeface="Times New Roman" panose="02020603050405020304" pitchFamily="18" charset="0"/>
                <a:cs typeface="+mn-cs"/>
              </a:rPr>
              <a:t>programmes</a:t>
            </a:r>
            <a:r>
              <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 </a:t>
            </a:r>
            <a:endPar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Poverty can be minimized by increasing production in agricultural sector.</a:t>
            </a: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The government formulated policies to improving peasant farming through formation of cooperative marketing, importing ox-ploughs, ox-breeds, improved seeds and the promotion of community development activities. </a:t>
            </a: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mj-lt"/>
              <a:ea typeface="+mn-ea"/>
              <a:cs typeface="+mn-cs"/>
            </a:endParaRPr>
          </a:p>
        </p:txBody>
      </p:sp>
      <p:sp>
        <p:nvSpPr>
          <p:cNvPr id="70659" name="Slide Number Placeholder 1"/>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533400"/>
            <a:ext cx="8686800" cy="914400"/>
          </a:xfrm>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br>
              <a:rPr kumimoji="0" lang="en-US" sz="2800" b="1" i="0" u="none" strike="noStrike" kern="1200" cap="small" spc="0" normalizeH="0" baseline="0" noProof="0" dirty="0">
                <a:ln>
                  <a:noFill/>
                </a:ln>
                <a:solidFill>
                  <a:schemeClr val="tx2"/>
                </a:solidFill>
                <a:effectLst/>
                <a:uLnTx/>
                <a:uFillTx/>
                <a:latin typeface="Arial" panose="020B0604020202020204" pitchFamily="34" charset="0"/>
                <a:ea typeface="Times New Roman" panose="02020603050405020304" pitchFamily="18" charset="0"/>
                <a:cs typeface="+mj-cs"/>
              </a:rPr>
            </a:b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br>
              <a:rPr kumimoji="0" lang="en-US" sz="2800" b="1" i="0" u="none" strike="noStrike" kern="1200" cap="small" spc="0" normalizeH="0" baseline="0" noProof="0" dirty="0">
                <a:ln>
                  <a:noFill/>
                </a:ln>
                <a:solidFill>
                  <a:schemeClr val="tx2"/>
                </a:solidFill>
                <a:effectLst/>
                <a:uLnTx/>
                <a:uFillTx/>
                <a:latin typeface="Arial" panose="020B0604020202020204" pitchFamily="34" charset="0"/>
                <a:ea typeface="Times New Roman" panose="02020603050405020304" pitchFamily="18" charset="0"/>
                <a:cs typeface="+mj-cs"/>
              </a:rPr>
            </a:b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Fighting poverty through Agricultural </a:t>
            </a:r>
            <a:r>
              <a:rPr kumimoji="0" lang="en-US" sz="2800" b="1" i="0" u="none" strike="noStrike" kern="1200" cap="small" spc="0" normalizeH="0" baseline="0" noProof="0" dirty="0" err="1" smtClean="0">
                <a:ln>
                  <a:noFill/>
                </a:ln>
                <a:solidFill>
                  <a:schemeClr val="tx2"/>
                </a:solidFill>
                <a:effectLst/>
                <a:uLnTx/>
                <a:uFillTx/>
                <a:latin typeface="Arial" panose="020B0604020202020204" pitchFamily="34" charset="0"/>
                <a:ea typeface="Times New Roman" panose="02020603050405020304" pitchFamily="18" charset="0"/>
                <a:cs typeface="+mj-cs"/>
              </a:rPr>
              <a:t>devel</a:t>
            </a: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 </a:t>
            </a:r>
            <a:r>
              <a:rPr kumimoji="0" lang="en-US" sz="2800" b="1" i="0" u="none" strike="noStrike" kern="1200" cap="small" spc="0" normalizeH="0" baseline="0" noProof="0" dirty="0" err="1" smtClean="0">
                <a:ln>
                  <a:noFill/>
                </a:ln>
                <a:solidFill>
                  <a:schemeClr val="tx2"/>
                </a:solidFill>
                <a:effectLst/>
                <a:uLnTx/>
                <a:uFillTx/>
                <a:latin typeface="Arial" panose="020B0604020202020204" pitchFamily="34" charset="0"/>
                <a:ea typeface="Times New Roman" panose="02020603050405020304" pitchFamily="18" charset="0"/>
                <a:cs typeface="+mj-cs"/>
              </a:rPr>
              <a:t>programmes</a:t>
            </a: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 ………..</a:t>
            </a:r>
            <a:br>
              <a:rPr kumimoji="0" lang="en-US" sz="2800" b="0" i="0" u="none" strike="noStrike" kern="1200" cap="small" spc="0" normalizeH="0" baseline="0" noProof="0" dirty="0" smtClean="0">
                <a:ln>
                  <a:noFill/>
                </a:ln>
                <a:solidFill>
                  <a:schemeClr val="tx2"/>
                </a:solidFill>
                <a:effectLst/>
                <a:uLnTx/>
                <a:uFillTx/>
                <a:latin typeface="Arial" panose="020B0604020202020204" pitchFamily="34" charset="0"/>
                <a:ea typeface="+mj-ea"/>
                <a:cs typeface="+mj-cs"/>
              </a:rPr>
            </a:b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1219200"/>
            <a:ext cx="8229600" cy="4906963"/>
          </a:xfrm>
        </p:spPr>
        <p:txBody>
          <a:bodyPr vert="horz" wrap="square" lIns="91440" tIns="45720" rIns="91440" bIns="45720" numCol="1" anchor="t" anchorCtr="0" compatLnSpc="1">
            <a:normAutofit/>
          </a:bodyPr>
          <a:lstStyle/>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The </a:t>
            </a: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government through World Bank support initiated and supported rural people to adopt modernized capital-intensive farming technology which would have a demonstration effect on the rest of rural Tanzania. </a:t>
            </a: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US" sz="2400" b="0" i="0" u="none" strike="noStrike" kern="1200" cap="none" spc="0" normalizeH="0" baseline="0" noProof="0" dirty="0" smtClean="0">
              <a:ln>
                <a:noFill/>
              </a:ln>
              <a:solidFill>
                <a:schemeClr val="tx1"/>
              </a:solidFill>
              <a:effectLst/>
              <a:uLnTx/>
              <a:uFillTx/>
              <a:latin typeface="+mj-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mn-ea"/>
                <a:cs typeface="+mn-cs"/>
              </a:rPr>
              <a:t>At that time rural areas moved to some steps in agricultural development though such movement was insignificant  because</a:t>
            </a:r>
            <a:endParaRPr kumimoji="0" lang="en-GB" sz="2400" b="0" i="0" u="none" strike="noStrike" kern="1200" cap="none" spc="0" normalizeH="0" baseline="0" noProof="0" dirty="0">
              <a:ln>
                <a:noFill/>
              </a:ln>
              <a:solidFill>
                <a:schemeClr val="tx1"/>
              </a:solidFill>
              <a:effectLst/>
              <a:uLnTx/>
              <a:uFillTx/>
              <a:latin typeface="+mj-lt"/>
              <a:ea typeface="+mn-ea"/>
              <a:cs typeface="+mn-cs"/>
            </a:endParaRPr>
          </a:p>
        </p:txBody>
      </p:sp>
      <p:sp>
        <p:nvSpPr>
          <p:cNvPr id="71684"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229600" cy="838200"/>
          </a:xfrm>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Fighting poverty through Industrial development </a:t>
            </a:r>
            <a:br>
              <a:rPr kumimoji="0" lang="en-US" sz="2800" b="0" i="0" u="none" strike="noStrike" kern="1200" cap="small" spc="0" normalizeH="0" baseline="0" noProof="0" dirty="0" smtClean="0">
                <a:ln>
                  <a:noFill/>
                </a:ln>
                <a:solidFill>
                  <a:schemeClr val="tx2"/>
                </a:solidFill>
                <a:effectLst/>
                <a:uLnTx/>
                <a:uFillTx/>
                <a:latin typeface="Arial" panose="020B0604020202020204" pitchFamily="34" charset="0"/>
                <a:ea typeface="+mj-ea"/>
                <a:cs typeface="+mj-cs"/>
              </a:rPr>
            </a:b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990600"/>
            <a:ext cx="8229600" cy="5135563"/>
          </a:xfrm>
        </p:spPr>
        <p:txBody>
          <a:bodyPr vert="horz" wrap="square" lIns="91440" tIns="45720" rIns="91440" bIns="45720" numCol="1" anchor="t" anchorCtr="0" compatLnSpc="1">
            <a:normAutofit/>
          </a:bodyPr>
          <a:lstStyle/>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Industrial development programs could be attained by provision of adequate capital for industrial investment and provision of adequate market for industrial produces.</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ID could be achieved by encouraging foreign investment, increasing the share of the domestic market by changing the rules pertaining to the East African common market arrangement.</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400" b="0" i="0" u="none" strike="noStrike" kern="1200" cap="none" spc="0" normalizeH="0" baseline="0" noProof="0" dirty="0">
              <a:ln>
                <a:noFill/>
              </a:ln>
              <a:solidFill>
                <a:schemeClr val="tx1"/>
              </a:solidFill>
              <a:effectLst/>
              <a:uLnTx/>
              <a:uFillTx/>
              <a:latin typeface="+mj-lt"/>
              <a:ea typeface="+mn-ea"/>
              <a:cs typeface="+mn-cs"/>
            </a:endParaRPr>
          </a:p>
        </p:txBody>
      </p:sp>
      <p:sp>
        <p:nvSpPr>
          <p:cNvPr id="72708"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229600" cy="609600"/>
          </a:xfrm>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Fighting poverty through Industrial development</a:t>
            </a: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914400"/>
            <a:ext cx="8229600" cy="5211763"/>
          </a:xfrm>
        </p:spPr>
        <p:txBody>
          <a:bodyPr vert="horz" wrap="square" lIns="91440" tIns="45720" rIns="91440" bIns="45720" numCol="1" anchor="t" anchorCtr="0" compatLnSpc="1">
            <a:normAutofit/>
          </a:bodyPr>
          <a:lstStyle/>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j-lt"/>
                <a:ea typeface="+mn-ea"/>
                <a:cs typeface="+mn-cs"/>
              </a:rPr>
              <a:t>The internal industrial products faced external market competition and some of the production units were poorly linked to  industrial areas and to exporting points.</a:t>
            </a:r>
            <a:endParaRPr kumimoji="0" lang="en-US" sz="2400" b="0" i="0" u="none" strike="noStrike" kern="1200" cap="none" spc="0" normalizeH="0" baseline="0" noProof="0" dirty="0" smtClean="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endParaRPr kumimoji="0" lang="en-US" sz="2400" b="0" i="0" u="none" strike="noStrike" kern="1200" cap="none" spc="0" normalizeH="0" baseline="0" noProof="0" dirty="0" smtClean="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400" b="0" i="0" u="none" strike="noStrike" kern="1200" cap="none" spc="0" normalizeH="0" baseline="0" noProof="0" dirty="0" smtClean="0">
                <a:ln>
                  <a:noFill/>
                </a:ln>
                <a:solidFill>
                  <a:schemeClr val="tx1"/>
                </a:solidFill>
                <a:effectLst/>
                <a:uLnTx/>
                <a:uFillTx/>
                <a:latin typeface="+mj-lt"/>
                <a:ea typeface="+mn-ea"/>
                <a:cs typeface="+mn-cs"/>
              </a:rPr>
              <a:t>The capital for making further extension of industries was limited, there were lack of trained personnel, thus industrial development sector was some how developed.</a:t>
            </a:r>
            <a:endParaRPr kumimoji="0" lang="en-US" sz="2400" b="0" i="0" u="none" strike="noStrike" kern="1200" cap="none" spc="0" normalizeH="0" baseline="0" noProof="0" dirty="0" smtClean="0">
              <a:ln>
                <a:noFill/>
              </a:ln>
              <a:solidFill>
                <a:schemeClr val="tx1"/>
              </a:solidFill>
              <a:effectLst/>
              <a:uLnTx/>
              <a:uFillTx/>
              <a:latin typeface="+mj-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73732"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1"/>
          <p:cNvSpPr>
            <a:spLocks noChangeArrowheads="1"/>
          </p:cNvSpPr>
          <p:nvPr/>
        </p:nvSpPr>
        <p:spPr bwMode="auto">
          <a:xfrm>
            <a:off x="228600" y="141288"/>
            <a:ext cx="8305800" cy="5264150"/>
          </a:xfrm>
          <a:prstGeom prst="rect">
            <a:avLst/>
          </a:prstGeom>
          <a:noFill/>
          <a:ln w="9525">
            <a:noFill/>
            <a:miter lim="800000"/>
          </a:ln>
          <a:effectLst/>
        </p:spPr>
        <p:txBody>
          <a:bodyPr anchor="ctr">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IGNORANCE AS AN  ENEMY </a:t>
            </a:r>
            <a:endPar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Ignorance means  lack of knowledge, understandings or information about something. Ignorance can be eradicated by educating and changing the attitudes of rural people in order to aspire to modern living (e.g. to understand and appreciate the importance of improved nutrition, hygiene, decent housing, development etc.)</a:t>
            </a: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DISEASE AS AN  ENEMY </a:t>
            </a:r>
            <a:endParaRPr kumimoji="0" lang="en-US" sz="240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Educate people living in rural areas through providing supportive health facilities </a:t>
            </a:r>
            <a:r>
              <a:rPr kumimoji="0" lang="en-US" sz="2400" b="0" i="0" u="none" strike="noStrike" kern="1200" cap="none" spc="0" normalizeH="0" baseline="0" noProof="0" dirty="0" err="1">
                <a:ln>
                  <a:noFill/>
                </a:ln>
                <a:solidFill>
                  <a:schemeClr val="tx1"/>
                </a:solidFill>
                <a:effectLst/>
                <a:uLnTx/>
                <a:uFillTx/>
                <a:latin typeface="+mj-lt"/>
                <a:ea typeface="Times New Roman" panose="02020603050405020304" pitchFamily="18" charset="0"/>
                <a:cs typeface="+mn-cs"/>
              </a:rPr>
              <a:t>eg</a:t>
            </a:r>
            <a:r>
              <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rPr>
              <a:t>. buildings, clinics, dispensaries, equipments and experts. </a:t>
            </a: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
        <p:nvSpPr>
          <p:cNvPr id="74755" name="Slide Number Placeholder 1"/>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76600" y="633413"/>
            <a:ext cx="8229600" cy="409575"/>
          </a:xfrm>
        </p:spPr>
        <p:txBody>
          <a:bodyPr vert="horz" anchor="b">
            <a:noAutofit/>
          </a:bodyPr>
          <a:lstStyle/>
          <a:p>
            <a:pPr marL="0" marR="0" lvl="0" indent="0" algn="l" defTabSz="914400" rtl="0" eaLnBrk="0" fontAlgn="base" latinLnBrk="0" hangingPunct="0">
              <a:lnSpc>
                <a:spcPct val="100000"/>
              </a:lnSpc>
              <a:spcBef>
                <a:spcPct val="0"/>
              </a:spcBef>
              <a:spcAft>
                <a:spcPct val="0"/>
              </a:spcAft>
              <a:buClrTx/>
              <a:buSzTx/>
              <a:buFontTx/>
              <a:buNone/>
              <a:defRPr/>
            </a:pP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OUTCOME</a:t>
            </a: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endParaRPr kumimoji="0" lang="en-GB" sz="28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838200"/>
            <a:ext cx="8229600" cy="5287963"/>
          </a:xfrm>
        </p:spPr>
        <p:txBody>
          <a:bodyPr vert="horz" wrap="square" lIns="91440" tIns="45720" rIns="91440" bIns="45720" numCol="1" anchor="t" anchorCtr="0" compatLnSpc="1">
            <a:normAutofit/>
          </a:bodyPr>
          <a:lstStyle/>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endPar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mn-ea"/>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rPr>
              <a:t>Despite the government’s efforts, little progress had been made by 1966 as GDP fell below the FFYDP target of 6.6 % per annum,</a:t>
            </a:r>
            <a:endPar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endPar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rPr>
              <a:t> industrial development was not forthcoming,</a:t>
            </a:r>
            <a:endPar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endPar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rPr>
              <a:t> income inequalities persisted and,</a:t>
            </a:r>
            <a:endPar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endPar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rPr>
              <a:t> low level of development was attained in the rural area.</a:t>
            </a:r>
            <a:endPar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75780"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33400" y="457200"/>
            <a:ext cx="8153400" cy="4894263"/>
          </a:xfrm>
          <a:prstGeom prst="rect">
            <a:avLst/>
          </a:prstGeom>
        </p:spPr>
        <p:txBody>
          <a:bodyPr>
            <a:spAutoFit/>
          </a:bodyPr>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mj-lt"/>
                <a:ea typeface="+mn-ea"/>
                <a:cs typeface="+mn-cs"/>
              </a:rPr>
              <a:t>So can we say that such a plan was like a wastage of time and resources?</a:t>
            </a:r>
            <a:endParaRPr kumimoji="0" lang="en-US" sz="240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mj-lt"/>
                <a:ea typeface="+mn-ea"/>
                <a:cs typeface="+mn-cs"/>
              </a:rPr>
              <a:t>Recall types of plans and discuss what type of a plan was that.</a:t>
            </a:r>
            <a:endParaRPr kumimoji="0" lang="en-US" sz="240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mj-lt"/>
                <a:ea typeface="+mn-ea"/>
                <a:cs typeface="+mn-cs"/>
              </a:rPr>
              <a:t> As one plans for rural development in the rural areas, did the FFYDP include the possible answers of the questions how, by whom, when, where, for what reasons, etc?</a:t>
            </a:r>
            <a:endParaRPr kumimoji="0" lang="en-US" sz="240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mj-lt"/>
                <a:ea typeface="+mn-ea"/>
                <a:cs typeface="+mn-cs"/>
              </a:rPr>
              <a:t>Can we blame Ml J. K Nyerere on his trial to develop TANZANIA rural areas?  No or Yes? HOW?</a:t>
            </a:r>
            <a:endParaRPr kumimoji="0" lang="en-US" sz="2400" b="0" i="0" u="none" strike="noStrike" kern="1200" cap="none" spc="0" normalizeH="0" baseline="0" noProof="0" dirty="0">
              <a:ln>
                <a:noFill/>
              </a:ln>
              <a:solidFill>
                <a:schemeClr val="tx1"/>
              </a:solidFill>
              <a:effectLst/>
              <a:uLnTx/>
              <a:uFillTx/>
              <a:latin typeface="+mj-lt"/>
              <a:ea typeface="+mn-ea"/>
              <a:cs typeface="+mn-cs"/>
            </a:endParaRPr>
          </a:p>
        </p:txBody>
      </p:sp>
      <p:sp>
        <p:nvSpPr>
          <p:cNvPr id="76803"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686800" cy="838200"/>
          </a:xfrm>
        </p:spPr>
        <p:txBody>
          <a:bodyPr vert="horz" anchor="b">
            <a:normAutofit fontScale="90000"/>
          </a:bodyPr>
          <a:lstStyle/>
          <a:p>
            <a:pPr marL="0" marR="0" lvl="0" indent="0" algn="ctr" defTabSz="914400" rtl="0" eaLnBrk="0" fontAlgn="base" latinLnBrk="0" hangingPunct="0">
              <a:lnSpc>
                <a:spcPct val="100000"/>
              </a:lnSpc>
              <a:spcBef>
                <a:spcPct val="0"/>
              </a:spcBef>
              <a:spcAft>
                <a:spcPct val="0"/>
              </a:spcAft>
              <a:buClrTx/>
              <a:buSzTx/>
              <a:buFontTx/>
              <a:buNone/>
              <a:defRPr/>
            </a:pPr>
            <a:br>
              <a:rPr kumimoji="0" lang="en-US" sz="2800" b="1" i="0" u="none" strike="noStrike" kern="1200" cap="small" spc="0" normalizeH="0" baseline="0" noProof="0" dirty="0" smtClean="0">
                <a:ln>
                  <a:noFill/>
                </a:ln>
                <a:solidFill>
                  <a:schemeClr val="tx2"/>
                </a:solidFill>
                <a:effectLst/>
                <a:uLnTx/>
                <a:uFillTx/>
                <a:latin typeface="+mj-lt"/>
                <a:ea typeface="+mj-ea"/>
                <a:cs typeface="+mj-cs"/>
              </a:rPr>
            </a:br>
            <a:r>
              <a:rPr kumimoji="0" lang="en-US" sz="2800" b="1" i="0" u="none" strike="noStrike" kern="1200" cap="small" spc="0" normalizeH="0" baseline="0" noProof="0" dirty="0" smtClean="0">
                <a:ln>
                  <a:noFill/>
                </a:ln>
                <a:solidFill>
                  <a:schemeClr val="tx2"/>
                </a:solidFill>
                <a:effectLst/>
                <a:uLnTx/>
                <a:uFillTx/>
                <a:latin typeface="+mj-lt"/>
                <a:ea typeface="+mj-ea"/>
                <a:cs typeface="+mj-cs"/>
              </a:rPr>
              <a:t>WHY FAILURE OF THE FFYDP</a:t>
            </a:r>
            <a:br>
              <a:rPr kumimoji="0" lang="en-US" sz="2800" b="0" i="0" u="none" strike="noStrike" kern="1200" cap="small" spc="0" normalizeH="0" baseline="0" noProof="0" dirty="0" smtClean="0">
                <a:ln>
                  <a:noFill/>
                </a:ln>
                <a:solidFill>
                  <a:schemeClr val="tx2"/>
                </a:solidFill>
                <a:effectLst/>
                <a:uLnTx/>
                <a:uFillTx/>
                <a:latin typeface="+mj-lt"/>
                <a:ea typeface="+mj-ea"/>
                <a:cs typeface="+mj-cs"/>
              </a:rPr>
            </a:b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914400"/>
            <a:ext cx="8229600" cy="5211763"/>
          </a:xfrm>
        </p:spPr>
        <p:txBody>
          <a:bodyPr vert="horz" wrap="square" lIns="91440" tIns="45720" rIns="91440" bIns="45720" numCol="1" anchor="t" anchorCtr="0" compatLnSpc="1">
            <a:normAutofit fontScale="92500" lnSpcReduction="10000"/>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Agricultural extension services did not reach all Tanzanian rural agricultural societies,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ox-plough technology was not applicable to all areas,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Cooperative marketing was organized from above without attempts to establish genuine grassroots need for it.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The transformation approach failed because it was imposed from above,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capital intensive, had to be fully financed by the government  which had a limited internal source of revenues, thus FFYDP was proved unsustainable.</a:t>
            </a: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77828"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839200" cy="762000"/>
          </a:xfrm>
        </p:spPr>
        <p:txBody>
          <a:bodyPr vert="horz" anchor="b">
            <a:noAutofit/>
          </a:bodyPr>
          <a:lstStyle/>
          <a:p>
            <a:pPr marL="0" marR="0" lvl="0" indent="0" algn="ctr" defTabSz="914400" rtl="0" eaLnBrk="0" fontAlgn="base" latinLnBrk="0" hangingPunct="0">
              <a:lnSpc>
                <a:spcPct val="100000"/>
              </a:lnSpc>
              <a:spcBef>
                <a:spcPct val="0"/>
              </a:spcBef>
              <a:spcAft>
                <a:spcPct val="0"/>
              </a:spcAft>
              <a:buClrTx/>
              <a:buSzTx/>
              <a:buFontTx/>
              <a:buNone/>
              <a:defRPr/>
            </a:pP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ARUSHA DECLARATION, 1967</a:t>
            </a:r>
            <a:br>
              <a:rPr kumimoji="0" lang="en-US" sz="2800" b="0" i="0" u="none" strike="noStrike" kern="1200" cap="small" spc="0" normalizeH="0" baseline="0" noProof="0" dirty="0" smtClean="0">
                <a:ln>
                  <a:noFill/>
                </a:ln>
                <a:solidFill>
                  <a:schemeClr val="tx2"/>
                </a:solidFill>
                <a:effectLst/>
                <a:uLnTx/>
                <a:uFillTx/>
                <a:latin typeface="Arial" panose="020B0604020202020204" pitchFamily="34" charset="0"/>
                <a:ea typeface="+mj-ea"/>
                <a:cs typeface="+mj-cs"/>
              </a:rPr>
            </a:b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762000"/>
            <a:ext cx="8229600" cy="5364163"/>
          </a:xfrm>
        </p:spPr>
        <p:txBody>
          <a:bodyPr vert="horz" wrap="square" lIns="91440" tIns="45720" rIns="91440" bIns="45720" numCol="1" anchor="t" anchorCtr="0" compatLnSpc="1">
            <a:noAutofit/>
          </a:bodyPr>
          <a:lstStyle/>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In 1960s, socialist economy was dominant to some world countries.</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Nyerere</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set out his policy of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Arusha</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Declaration on 5</a:t>
            </a:r>
            <a:r>
              <a:rPr kumimoji="0" lang="en-US" sz="2800" b="0" i="0" u="none" strike="noStrike" kern="1200" cap="none" spc="0" normalizeH="0" baseline="30000" noProof="0" dirty="0" smtClean="0">
                <a:ln>
                  <a:noFill/>
                </a:ln>
                <a:solidFill>
                  <a:schemeClr val="tx1"/>
                </a:solidFill>
                <a:effectLst/>
                <a:uLnTx/>
                <a:uFillTx/>
                <a:latin typeface="+mj-lt"/>
                <a:ea typeface="Times New Roman" panose="02020603050405020304" pitchFamily="18" charset="0"/>
                <a:cs typeface="+mn-cs"/>
              </a:rPr>
              <a:t>th</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February 1967 and some of socialism ideas were brought to AD and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Villagization</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strategy was adopted.</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Villagization</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is the compulsory resettlement of people into designated villages by government authorities. </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This were made so for easy provision of social services such as schools, dispensaries, electricity, roads etc.</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800" b="0" i="0" u="none" strike="noStrike" kern="1200" cap="none" spc="0" normalizeH="0" baseline="0" noProof="0" dirty="0">
              <a:ln>
                <a:noFill/>
              </a:ln>
              <a:solidFill>
                <a:schemeClr val="tx1"/>
              </a:solidFill>
              <a:effectLst/>
              <a:uLnTx/>
              <a:uFillTx/>
              <a:latin typeface="+mj-lt"/>
              <a:ea typeface="+mn-ea"/>
              <a:cs typeface="+mn-cs"/>
            </a:endParaRPr>
          </a:p>
        </p:txBody>
      </p:sp>
      <p:sp>
        <p:nvSpPr>
          <p:cNvPr id="78852"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915400" cy="762000"/>
          </a:xfrm>
        </p:spPr>
        <p:txBody>
          <a:bodyPr vert="horz" anchor="b">
            <a:normAutofit fontScale="90000"/>
          </a:bodyPr>
          <a:lstStyle/>
          <a:p>
            <a:pPr marL="0" marR="0" lvl="0" indent="0" algn="ctr" defTabSz="914400" rtl="0" eaLnBrk="0" fontAlgn="base" latinLnBrk="0" hangingPunct="0">
              <a:lnSpc>
                <a:spcPct val="100000"/>
              </a:lnSpc>
              <a:spcBef>
                <a:spcPct val="0"/>
              </a:spcBef>
              <a:spcAft>
                <a:spcPct val="0"/>
              </a:spcAft>
              <a:buClrTx/>
              <a:buSzTx/>
              <a:buFontTx/>
              <a:buNone/>
              <a:defRPr/>
            </a:pP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ARUSHA DECLARATION, 1967……………</a:t>
            </a:r>
            <a:br>
              <a:rPr kumimoji="0" lang="en-US" sz="2800" b="0" i="0" u="none" strike="noStrike" kern="1200" cap="small" spc="0" normalizeH="0" baseline="0" noProof="0" dirty="0" smtClean="0">
                <a:ln>
                  <a:noFill/>
                </a:ln>
                <a:solidFill>
                  <a:schemeClr val="tx2"/>
                </a:solidFill>
                <a:effectLst/>
                <a:uLnTx/>
                <a:uFillTx/>
                <a:latin typeface="Arial" panose="020B0604020202020204" pitchFamily="34" charset="0"/>
                <a:ea typeface="+mj-ea"/>
                <a:cs typeface="+mj-cs"/>
              </a:rPr>
            </a:b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609600"/>
            <a:ext cx="8229600" cy="5516563"/>
          </a:xfrm>
        </p:spPr>
        <p:txBody>
          <a:bodyPr vert="horz" wrap="square" lIns="91440" tIns="45720" rIns="91440" bIns="45720" numCol="1" anchor="t" anchorCtr="0" compatLnSpc="1">
            <a:normAutofit/>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By the end of the 70s there were over 2,500 'villages' in Tanzania.</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That term  </a:t>
            </a:r>
            <a:r>
              <a:rPr kumimoji="0" lang="en-US" sz="2800" b="0" i="0" u="none" strike="noStrike" kern="1200" cap="none" spc="0" normalizeH="0" baseline="0" noProof="0" dirty="0" err="1" smtClean="0">
                <a:ln>
                  <a:noFill/>
                </a:ln>
                <a:solidFill>
                  <a:srgbClr val="000000"/>
                </a:solidFill>
                <a:effectLst/>
                <a:uLnTx/>
                <a:uFillTx/>
                <a:latin typeface="+mj-lt"/>
                <a:ea typeface="Times New Roman" panose="02020603050405020304" pitchFamily="18" charset="0"/>
                <a:cs typeface="+mn-cs"/>
              </a:rPr>
              <a:t>Ujamaa</a:t>
            </a: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 a Kiswahili word meaning Family-hood was introduced and adopted to support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Villagization</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strategy.</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Nyerere</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attempted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Arusha</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declaration,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Villagization</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and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Ujamaa</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concepts  as a trial to FFYDP failure.</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79876"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14400" y="520700"/>
            <a:ext cx="8229600" cy="381000"/>
          </a:xfrm>
        </p:spPr>
        <p:txBody>
          <a:bodyPr vert="horz" anchor="b">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Principles of the </a:t>
            </a:r>
            <a:r>
              <a:rPr kumimoji="0" lang="en-US" sz="2800" b="1" i="0" u="none" strike="noStrike" kern="1200" cap="small" spc="0" normalizeH="0" baseline="0" noProof="0" dirty="0" err="1" smtClean="0">
                <a:ln>
                  <a:noFill/>
                </a:ln>
                <a:solidFill>
                  <a:schemeClr val="tx2"/>
                </a:solidFill>
                <a:effectLst/>
                <a:uLnTx/>
                <a:uFillTx/>
                <a:latin typeface="Arial" panose="020B0604020202020204" pitchFamily="34" charset="0"/>
                <a:ea typeface="Times New Roman" panose="02020603050405020304" pitchFamily="18" charset="0"/>
                <a:cs typeface="+mj-cs"/>
              </a:rPr>
              <a:t>Arusha</a:t>
            </a: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 Declaration </a:t>
            </a:r>
            <a:br>
              <a:rPr kumimoji="0" lang="en-US" sz="2800" b="0" i="0" u="none" strike="noStrike" kern="1200" cap="small" spc="0" normalizeH="0" baseline="0" noProof="0" dirty="0" smtClean="0">
                <a:ln>
                  <a:noFill/>
                </a:ln>
                <a:solidFill>
                  <a:schemeClr val="tx2"/>
                </a:solidFill>
                <a:effectLst/>
                <a:uLnTx/>
                <a:uFillTx/>
                <a:latin typeface="Arial" panose="020B0604020202020204" pitchFamily="34" charset="0"/>
                <a:ea typeface="+mj-ea"/>
                <a:cs typeface="+mj-cs"/>
              </a:rPr>
            </a:b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533400"/>
            <a:ext cx="8229600" cy="5592763"/>
          </a:xfrm>
        </p:spPr>
        <p:txBody>
          <a:bodyPr vert="horz" wrap="square" lIns="91440" tIns="45720" rIns="91440" bIns="45720" numCol="1" anchor="t" anchorCtr="0" compatLnSpc="1">
            <a:normAutofit/>
          </a:bodyPr>
          <a:lstStyle/>
          <a:p>
            <a:pPr marL="0" marR="0" lvl="0" indent="0" algn="just" defTabSz="914400" rtl="0" eaLnBrk="0" fontAlgn="base" latinLnBrk="0" hangingPunct="0">
              <a:lnSpc>
                <a:spcPct val="100000"/>
              </a:lnSpc>
              <a:spcBef>
                <a:spcPct val="0"/>
              </a:spcBef>
              <a:spcAft>
                <a:spcPct val="0"/>
              </a:spcAft>
              <a:buClr>
                <a:schemeClr val="accent1"/>
              </a:buClr>
              <a:buSzPct val="70000"/>
              <a:buFontTx/>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Public ownership of the major means of production, </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Tx/>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Preferences for cooperative ownership</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Tx/>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To prevent officials from participating in private economic activities, </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Tx/>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Self-reliance policy with diminishing dependency on foreign capital</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Tx/>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The establishment of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Ujamaa</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villages, </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Tx/>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Emphasis on food / cash crop agriculture and rural development </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Tx/>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Public provision of health care and education </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GB" sz="2800" b="0" i="0" u="none" strike="noStrike" kern="1200" cap="none" spc="0" normalizeH="0" baseline="0" noProof="0" dirty="0">
              <a:ln>
                <a:noFill/>
              </a:ln>
              <a:solidFill>
                <a:schemeClr val="tx1"/>
              </a:solidFill>
              <a:effectLst/>
              <a:uLnTx/>
              <a:uFillTx/>
              <a:latin typeface="+mj-lt"/>
              <a:ea typeface="+mn-ea"/>
              <a:cs typeface="+mn-cs"/>
            </a:endParaRPr>
          </a:p>
        </p:txBody>
      </p:sp>
      <p:sp>
        <p:nvSpPr>
          <p:cNvPr id="80900"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686800" cy="914400"/>
          </a:xfrm>
        </p:spPr>
        <p:txBody>
          <a:bodyPr vert="horz" anchor="b">
            <a:noAutofit/>
          </a:bodyPr>
          <a:lstStyle/>
          <a:p>
            <a:pPr marL="0" marR="0" lvl="0" indent="0" algn="ctr" defTabSz="914400" rtl="0" eaLnBrk="0" fontAlgn="base" latinLnBrk="0" hangingPunct="0">
              <a:lnSpc>
                <a:spcPct val="100000"/>
              </a:lnSpc>
              <a:spcBef>
                <a:spcPct val="0"/>
              </a:spcBef>
              <a:spcAft>
                <a:spcPct val="0"/>
              </a:spcAft>
              <a:buClrTx/>
              <a:buSzTx/>
              <a:buFontTx/>
              <a:buNone/>
              <a:defRPr/>
            </a:pP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Failure of the </a:t>
            </a:r>
            <a:r>
              <a:rPr kumimoji="0" lang="en-US" sz="2800" b="1" i="0" u="none" strike="noStrike" kern="1200" cap="small" spc="0" normalizeH="0" baseline="0" noProof="0" dirty="0" err="1" smtClean="0">
                <a:ln>
                  <a:noFill/>
                </a:ln>
                <a:solidFill>
                  <a:schemeClr val="tx2"/>
                </a:solidFill>
                <a:effectLst/>
                <a:uLnTx/>
                <a:uFillTx/>
                <a:latin typeface="Arial" panose="020B0604020202020204" pitchFamily="34" charset="0"/>
                <a:ea typeface="Times New Roman" panose="02020603050405020304" pitchFamily="18" charset="0"/>
                <a:cs typeface="+mj-cs"/>
              </a:rPr>
              <a:t>Arusha</a:t>
            </a: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 Declaration</a:t>
            </a:r>
            <a:br>
              <a:rPr kumimoji="0" lang="en-US" sz="2800" b="0" i="0" u="none" strike="noStrike" kern="1200" cap="small" spc="0" normalizeH="0" baseline="0" noProof="0" dirty="0" smtClean="0">
                <a:ln>
                  <a:noFill/>
                </a:ln>
                <a:solidFill>
                  <a:schemeClr val="tx2"/>
                </a:solidFill>
                <a:effectLst/>
                <a:uLnTx/>
                <a:uFillTx/>
                <a:latin typeface="Arial" panose="020B0604020202020204" pitchFamily="34" charset="0"/>
                <a:ea typeface="+mj-ea"/>
                <a:cs typeface="+mj-cs"/>
              </a:rPr>
            </a:b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685800"/>
            <a:ext cx="8229600" cy="5440363"/>
          </a:xfrm>
        </p:spPr>
        <p:txBody>
          <a:bodyPr vert="horz" wrap="square" lIns="91440" tIns="45720" rIns="91440" bIns="45720" numCol="1" anchor="t" anchorCtr="0" compatLnSpc="1">
            <a:normAutofit lnSpcReduction="10000"/>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err="1" smtClean="0">
                <a:ln>
                  <a:noFill/>
                </a:ln>
                <a:solidFill>
                  <a:schemeClr val="tx1"/>
                </a:solidFill>
                <a:effectLst/>
                <a:uLnTx/>
                <a:uFillTx/>
                <a:latin typeface="+mj-lt"/>
                <a:ea typeface="+mn-ea"/>
                <a:cs typeface="Arial" panose="020B0604020202020204" pitchFamily="34" charset="0"/>
              </a:rPr>
              <a:t>Ml.J.K.N</a:t>
            </a:r>
            <a:r>
              <a:rPr kumimoji="0" lang="en-US" sz="28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rPr>
              <a:t> believed that if AD would be well implemented, it could lead to development particularly in the rural areas of Tanzania.</a:t>
            </a:r>
            <a:endParaRPr kumimoji="0" lang="en-US" sz="28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rPr>
              <a:t>However, </a:t>
            </a:r>
            <a:r>
              <a:rPr kumimoji="0" lang="en-US" sz="2800" b="0" i="0" u="none" strike="noStrike" kern="1200" cap="none" spc="0" normalizeH="0" baseline="0" noProof="0" dirty="0" err="1" smtClean="0">
                <a:ln>
                  <a:noFill/>
                </a:ln>
                <a:solidFill>
                  <a:schemeClr val="tx1"/>
                </a:solidFill>
                <a:effectLst/>
                <a:uLnTx/>
                <a:uFillTx/>
                <a:latin typeface="+mj-lt"/>
                <a:ea typeface="+mn-ea"/>
                <a:cs typeface="Arial" panose="020B0604020202020204" pitchFamily="34" charset="0"/>
              </a:rPr>
              <a:t>Arusha</a:t>
            </a:r>
            <a:r>
              <a:rPr kumimoji="0" lang="en-US" sz="28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rPr>
              <a:t> Declaration failed and did not bring expected development to the rural areas.</a:t>
            </a:r>
            <a:endParaRPr kumimoji="0" lang="en-US" sz="28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AD failed because it was considered to be itself politically and adopted a command approach to popular mobilization. </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Agricultural and industrial productivity was supposed to be increased through AD principles.</a:t>
            </a:r>
            <a:endParaRPr kumimoji="0" lang="en-GB" sz="2800" b="0" i="0" u="none" strike="noStrike" kern="1200" cap="none" spc="0" normalizeH="0" baseline="0" noProof="0" dirty="0" smtClean="0">
              <a:ln>
                <a:noFill/>
              </a:ln>
              <a:solidFill>
                <a:schemeClr val="tx1"/>
              </a:solidFill>
              <a:effectLst/>
              <a:uLnTx/>
              <a:uFillTx/>
              <a:latin typeface="+mj-lt"/>
              <a:ea typeface="+mn-ea"/>
              <a:cs typeface="+mn-cs"/>
            </a:endParaRPr>
          </a:p>
        </p:txBody>
      </p:sp>
      <p:sp>
        <p:nvSpPr>
          <p:cNvPr id="81924"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229600" cy="457200"/>
          </a:xfrm>
        </p:spPr>
        <p:txBody>
          <a:bodyPr vert="horz" anchor="b">
            <a:no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Failure of the </a:t>
            </a:r>
            <a:r>
              <a:rPr kumimoji="0" lang="en-US" sz="2800" b="1" i="0" u="none" strike="noStrike" kern="1200" cap="small" spc="0" normalizeH="0" baseline="0" noProof="0" dirty="0" err="1" smtClean="0">
                <a:ln>
                  <a:noFill/>
                </a:ln>
                <a:solidFill>
                  <a:schemeClr val="tx2"/>
                </a:solidFill>
                <a:effectLst/>
                <a:uLnTx/>
                <a:uFillTx/>
                <a:latin typeface="Arial" panose="020B0604020202020204" pitchFamily="34" charset="0"/>
                <a:ea typeface="Times New Roman" panose="02020603050405020304" pitchFamily="18" charset="0"/>
                <a:cs typeface="+mj-cs"/>
              </a:rPr>
              <a:t>Arusha</a:t>
            </a: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 Declaration……..</a:t>
            </a: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762000"/>
            <a:ext cx="8229600" cy="5364163"/>
          </a:xfrm>
        </p:spPr>
        <p:txBody>
          <a:bodyPr vert="horz" wrap="square" lIns="91440" tIns="45720" rIns="91440" bIns="45720" numCol="1" anchor="t" anchorCtr="0" compatLnSpc="1">
            <a:normAutofit/>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Instead it dropped to less than 50% of what was achieved on before its formation. </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Regardless of the efforts done by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Mwl</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J.K.N through AD, Tanzania became one of the poorest African countries, dependent on international aid. </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1"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Ujamaa</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was brought to an end in 1985 when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Nyerere</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stepped down from the presidency post in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favour</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of Ali Hassan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Mwinyi</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a:t>
            </a: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 </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800" b="0" i="0" u="none" strike="noStrike" kern="1200" cap="none" spc="0" normalizeH="0" baseline="0" noProof="0" dirty="0">
              <a:ln>
                <a:noFill/>
              </a:ln>
              <a:solidFill>
                <a:schemeClr val="tx1"/>
              </a:solidFill>
              <a:effectLst/>
              <a:uLnTx/>
              <a:uFillTx/>
              <a:latin typeface="+mj-lt"/>
              <a:ea typeface="+mn-ea"/>
              <a:cs typeface="+mn-cs"/>
            </a:endParaRPr>
          </a:p>
        </p:txBody>
      </p:sp>
      <p:sp>
        <p:nvSpPr>
          <p:cNvPr id="82948"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686800" cy="762000"/>
          </a:xfrm>
        </p:spPr>
        <p:txBody>
          <a:bodyPr vert="horz" anchor="b">
            <a:normAutofit fontScale="90000"/>
          </a:bodyPr>
          <a:lstStyle/>
          <a:p>
            <a:pPr marL="0" marR="0" lvl="0" indent="0" algn="ctr" defTabSz="914400" rtl="0" eaLnBrk="0" fontAlgn="base" latinLnBrk="0" hangingPunct="0">
              <a:lnSpc>
                <a:spcPct val="100000"/>
              </a:lnSpc>
              <a:spcBef>
                <a:spcPct val="0"/>
              </a:spcBef>
              <a:spcAft>
                <a:spcPct val="0"/>
              </a:spcAft>
              <a:buClrTx/>
              <a:buSzTx/>
              <a:buFontTx/>
              <a:buNone/>
              <a:defRPr/>
            </a:pPr>
            <a:br>
              <a:rPr kumimoji="0" lang="en-US" sz="3000" b="1"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br>
            <a:r>
              <a:rPr kumimoji="0" lang="en-US" sz="3100" b="1"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Structural Adjustments Era</a:t>
            </a:r>
            <a:r>
              <a:rPr kumimoji="0" lang="en-US" sz="3100" b="1"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 </a:t>
            </a:r>
            <a:br>
              <a:rPr kumimoji="0" lang="en-US" sz="3000" b="1"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br>
            <a:endParaRPr kumimoji="0" lang="en-GB" sz="30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533400"/>
            <a:ext cx="8229600" cy="5592763"/>
          </a:xfrm>
        </p:spPr>
        <p:txBody>
          <a:bodyPr vert="horz" wrap="square" lIns="91440" tIns="45720" rIns="91440" bIns="45720" numCol="1" anchor="t" anchorCtr="0" compatLnSpc="1">
            <a:normAutofit/>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The </a:t>
            </a:r>
            <a:r>
              <a:rPr kumimoji="0" lang="en-US" sz="2800" b="0" i="0" u="none" strike="noStrike" kern="1200" cap="none" spc="0" normalizeH="0" baseline="0" noProof="0" dirty="0" err="1" smtClean="0">
                <a:ln>
                  <a:noFill/>
                </a:ln>
                <a:solidFill>
                  <a:srgbClr val="000000"/>
                </a:solidFill>
                <a:effectLst/>
                <a:uLnTx/>
                <a:uFillTx/>
                <a:latin typeface="+mj-lt"/>
                <a:ea typeface="Times New Roman" panose="02020603050405020304" pitchFamily="18" charset="0"/>
                <a:cs typeface="+mn-cs"/>
              </a:rPr>
              <a:t>Ujamaa</a:t>
            </a: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 and AD sort of  principles for development continued up to 1985. </a:t>
            </a:r>
            <a:endPar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But during the early 1980s, Tanzania’s economic performance deteriorated continuously, and political leaders had to plan alternatives to socialist failures and a worsening world market situation. </a:t>
            </a:r>
            <a:endPar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Moreover, valued exchange rate decreased, hence diminishing export earnings.</a:t>
            </a:r>
            <a:endPar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 In addition, Tanzania’s terms of trade deteriorated severely during the early 1980s because of collapsing world market prices.</a:t>
            </a:r>
            <a:endParaRPr kumimoji="0" lang="en-GB" sz="2800" b="0" i="0" u="none" strike="noStrike" kern="1200" cap="none" spc="0" normalizeH="0" baseline="0" noProof="0" dirty="0">
              <a:ln>
                <a:noFill/>
              </a:ln>
              <a:solidFill>
                <a:schemeClr val="tx1"/>
              </a:solidFill>
              <a:effectLst/>
              <a:uLnTx/>
              <a:uFillTx/>
              <a:latin typeface="+mj-lt"/>
              <a:ea typeface="+mn-ea"/>
              <a:cs typeface="+mn-cs"/>
            </a:endParaRPr>
          </a:p>
        </p:txBody>
      </p:sp>
      <p:sp>
        <p:nvSpPr>
          <p:cNvPr id="83972"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686800" cy="838200"/>
          </a:xfrm>
        </p:spPr>
        <p:txBody>
          <a:bodyPr vert="horz" anchor="b">
            <a:normAutofit fontScale="90000"/>
          </a:bodyPr>
          <a:lstStyle/>
          <a:p>
            <a:pPr marL="0" marR="0" lvl="0" indent="0" algn="ctr" defTabSz="914400" rtl="0" eaLnBrk="0" fontAlgn="base" latinLnBrk="0" hangingPunct="0">
              <a:lnSpc>
                <a:spcPct val="100000"/>
              </a:lnSpc>
              <a:spcBef>
                <a:spcPct val="0"/>
              </a:spcBef>
              <a:spcAft>
                <a:spcPct val="0"/>
              </a:spcAft>
              <a:buClrTx/>
              <a:buSzTx/>
              <a:buFontTx/>
              <a:buNone/>
              <a:defRPr/>
            </a:pPr>
            <a:br>
              <a:rPr kumimoji="0" lang="en-US" sz="2800" b="1"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br>
            <a:r>
              <a:rPr kumimoji="0" lang="en-US" sz="2800" b="1"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Structural Adjustments Era……………….</a:t>
            </a:r>
            <a:r>
              <a:rPr kumimoji="0" lang="en-US" sz="2800" b="1"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 </a:t>
            </a:r>
            <a:br>
              <a:rPr kumimoji="0" lang="en-US" sz="2400" b="1"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b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685800"/>
            <a:ext cx="8229600" cy="5440363"/>
          </a:xfrm>
        </p:spPr>
        <p:txBody>
          <a:bodyPr vert="horz" wrap="square" lIns="91440" tIns="45720" rIns="91440" bIns="45720" numCol="1" anchor="t" anchorCtr="0" compatLnSpc="1">
            <a:normAutofit fontScale="92500" lnSpcReduction="10000"/>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Consequently, the trade deficit increased, foreign capital inflows decreased, and overall indebtedness exceeded critical levels. Before he dropped, Ml J.K </a:t>
            </a:r>
            <a:r>
              <a:rPr kumimoji="0" lang="en-US" sz="2800" b="0" i="0" u="none" strike="noStrike" kern="1200" cap="none" spc="0" normalizeH="0" baseline="0" noProof="0" dirty="0" err="1" smtClean="0">
                <a:ln>
                  <a:noFill/>
                </a:ln>
                <a:solidFill>
                  <a:srgbClr val="000000"/>
                </a:solidFill>
                <a:effectLst/>
                <a:uLnTx/>
                <a:uFillTx/>
                <a:latin typeface="+mj-lt"/>
                <a:ea typeface="Times New Roman" panose="02020603050405020304" pitchFamily="18" charset="0"/>
                <a:cs typeface="+mn-cs"/>
              </a:rPr>
              <a:t>Nyerere</a:t>
            </a: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 tried a lot to restore the collapsed economy and brought up development in the rural areas  as  he believed that rural area were focal pints of production and raw materials, but the success was also  insignificant.</a:t>
            </a:r>
            <a:endPar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He also rethought that development problems can not be solved by getting loan from international agencies which of course were associated with limited conditions.</a:t>
            </a:r>
            <a:endPar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800" b="0" i="0" u="none" strike="noStrike" kern="1200" cap="none" spc="0" normalizeH="0" baseline="0" noProof="0" dirty="0" smtClean="0">
                <a:ln>
                  <a:noFill/>
                </a:ln>
                <a:solidFill>
                  <a:srgbClr val="000000"/>
                </a:solidFill>
                <a:effectLst/>
                <a:uLnTx/>
                <a:uFillTx/>
                <a:latin typeface="+mj-lt"/>
                <a:ea typeface="Times New Roman" panose="02020603050405020304" pitchFamily="18" charset="0"/>
                <a:cs typeface="+mn-cs"/>
              </a:rPr>
              <a:t> </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84996"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229600" cy="533400"/>
          </a:xfrm>
        </p:spPr>
        <p:txBody>
          <a:bodyPr vert="horz" anchor="b">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Structural Adjustments Era…………..</a:t>
            </a: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838200"/>
            <a:ext cx="8229600" cy="5287963"/>
          </a:xfrm>
        </p:spPr>
        <p:txBody>
          <a:bodyPr vert="horz" wrap="square" lIns="91440" tIns="45720" rIns="91440" bIns="45720" numCol="1" anchor="t" anchorCtr="0" compatLnSpc="1">
            <a:normAutofit/>
          </a:bodyPr>
          <a:lstStyle/>
          <a:p>
            <a:pPr marL="273050" marR="0" lvl="0" indent="-27305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In 1981, he failed to reach an agreement with the IMF. So the government decided to adopt harsh monetary policies and drastic cuts in social sector expenditures. </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Tanzania Government on its own prepared and adopted a short term stabilization measure called the National Economic Survival Plan (NESP, January 1981 to June 1982) which was followed by a broader three-year Structural Adjustment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Programme</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(SAP) which existed from July 1982 to June 1985. </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86020"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28600"/>
            <a:ext cx="8229600" cy="457200"/>
          </a:xfrm>
        </p:spPr>
        <p:txBody>
          <a:bodyPr vert="horz" anchor="b">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GB" sz="2800" b="1" i="0" u="none" strike="noStrike" kern="1200" cap="small" spc="0" normalizeH="0" baseline="0" noProof="0" dirty="0" smtClean="0">
                <a:ln>
                  <a:noFill/>
                </a:ln>
                <a:solidFill>
                  <a:schemeClr val="tx2"/>
                </a:solidFill>
                <a:effectLst/>
                <a:uLnTx/>
                <a:uFillTx/>
                <a:latin typeface="+mj-lt"/>
                <a:ea typeface="+mj-ea"/>
                <a:cs typeface="+mj-cs"/>
              </a:rPr>
              <a:t>Structural Adjustment era.........</a:t>
            </a:r>
            <a:endParaRPr kumimoji="0" lang="en-GB" sz="28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762000"/>
            <a:ext cx="8229600" cy="5364163"/>
          </a:xfrm>
        </p:spPr>
        <p:txBody>
          <a:bodyPr vert="horz" wrap="square" lIns="91440" tIns="45720" rIns="91440" bIns="45720" numCol="1" anchor="t" anchorCtr="0" compatLnSpc="1">
            <a:normAutofit/>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en-US" sz="2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Arial" panose="020B0604020202020204" pitchFamily="34" charset="0"/>
              </a:rPr>
              <a:t>    </a:t>
            </a: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The objectives of SAP were to revive agricultural output in general and exports of crops through a number of policy reform measures. These includes:</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 increased production,</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 improved supply of agricultural inputs,</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 improved marketing structures through a re-establishment of cooperatives,</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 improved transport, infrastructures etc. and</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 increased budget allocation to agriculture.</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87044"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229600" cy="457200"/>
          </a:xfrm>
        </p:spPr>
        <p:txBody>
          <a:bodyPr vert="horz" anchor="b">
            <a:no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GB" sz="2800" b="1" i="0" u="none" strike="noStrike" kern="1200" cap="small" spc="0" normalizeH="0" baseline="0" noProof="0" dirty="0" smtClean="0">
                <a:ln>
                  <a:noFill/>
                </a:ln>
                <a:solidFill>
                  <a:schemeClr val="tx2"/>
                </a:solidFill>
                <a:effectLst/>
                <a:uLnTx/>
                <a:uFillTx/>
                <a:latin typeface="+mj-lt"/>
                <a:ea typeface="+mj-ea"/>
                <a:cs typeface="+mj-cs"/>
              </a:rPr>
              <a:t>FAILURE OF SAP</a:t>
            </a:r>
            <a:endParaRPr kumimoji="0" lang="en-GB" sz="2800" b="1"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762000"/>
            <a:ext cx="8229600" cy="5364163"/>
          </a:xfrm>
        </p:spPr>
        <p:txBody>
          <a:bodyPr vert="horz" wrap="square" lIns="91440" tIns="45720" rIns="91440" bIns="45720" numCol="1" anchor="t" anchorCtr="0" compatLnSpc="1">
            <a:normAutofit/>
          </a:bodyPr>
          <a:lstStyle/>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Despite the formulation of SAP, by 1985, however, the results were disappointing.</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 For instance, real GDP declined by 1.7% in 1981 and by 3.1% in 1982,</a:t>
            </a:r>
            <a:endPar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Arial" panose="020B0604020202020204" pitchFamily="34" charset="0"/>
              </a:rPr>
              <a:t> real agricultural output declined by 8.2% and 8.7% in 1981 and 1982 respectively.</a:t>
            </a:r>
            <a:endParaRPr kumimoji="0" lang="en-US" sz="24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en-US" sz="24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rPr>
              <a:t>In July 1986, the government drew up an </a:t>
            </a:r>
            <a:r>
              <a:rPr kumimoji="0" lang="en-US" sz="2400" b="0" i="1" u="none" strike="noStrike" kern="1200" cap="none" spc="0" normalizeH="0" baseline="0" noProof="0" dirty="0" smtClean="0">
                <a:ln>
                  <a:noFill/>
                </a:ln>
                <a:solidFill>
                  <a:srgbClr val="FF0000"/>
                </a:solidFill>
                <a:effectLst/>
                <a:uLnTx/>
                <a:uFillTx/>
                <a:latin typeface="+mj-lt"/>
                <a:ea typeface="+mn-ea"/>
                <a:cs typeface="Arial" panose="020B0604020202020204" pitchFamily="34" charset="0"/>
              </a:rPr>
              <a:t>Economic Recovery </a:t>
            </a:r>
            <a:r>
              <a:rPr kumimoji="0" lang="en-US" sz="2400" b="0" i="1" u="none" strike="noStrike" kern="1200" cap="none" spc="0" normalizeH="0" baseline="0" noProof="0" dirty="0" err="1" smtClean="0">
                <a:ln>
                  <a:noFill/>
                </a:ln>
                <a:solidFill>
                  <a:srgbClr val="FF0000"/>
                </a:solidFill>
                <a:effectLst/>
                <a:uLnTx/>
                <a:uFillTx/>
                <a:latin typeface="+mj-lt"/>
                <a:ea typeface="+mn-ea"/>
                <a:cs typeface="Arial" panose="020B0604020202020204" pitchFamily="34" charset="0"/>
              </a:rPr>
              <a:t>Programme</a:t>
            </a:r>
            <a:r>
              <a:rPr kumimoji="0" lang="en-US" sz="2400" b="0" i="1" u="none" strike="noStrike" kern="1200" cap="none" spc="0" normalizeH="0" baseline="0" noProof="0" dirty="0" smtClean="0">
                <a:ln>
                  <a:noFill/>
                </a:ln>
                <a:solidFill>
                  <a:srgbClr val="FF0000"/>
                </a:solidFill>
                <a:effectLst/>
                <a:uLnTx/>
                <a:uFillTx/>
                <a:latin typeface="+mj-lt"/>
                <a:ea typeface="+mn-ea"/>
                <a:cs typeface="Arial" panose="020B0604020202020204" pitchFamily="34" charset="0"/>
              </a:rPr>
              <a:t> (ERP) </a:t>
            </a:r>
            <a:r>
              <a:rPr kumimoji="0" lang="en-US" sz="24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rPr>
              <a:t>in consultation with the IMF and the World Bank. The agreement with IMF was thereafter signed in August 1986.</a:t>
            </a:r>
            <a:endParaRPr kumimoji="0" lang="en-US" sz="2400" b="0" i="0" u="none" strike="noStrike" kern="1200" cap="none" spc="0" normalizeH="0" baseline="0" noProof="0" dirty="0" smtClean="0">
              <a:ln>
                <a:noFill/>
              </a:ln>
              <a:solidFill>
                <a:schemeClr val="tx1"/>
              </a:solidFill>
              <a:effectLst/>
              <a:uLnTx/>
              <a:uFillTx/>
              <a:latin typeface="+mj-lt"/>
              <a:ea typeface="+mn-ea"/>
              <a:cs typeface="Arial" panose="020B0604020202020204" pitchFamily="34" charset="0"/>
            </a:endParaRPr>
          </a:p>
          <a:p>
            <a:pPr marL="273050" marR="0" lvl="0" indent="-273050" algn="just"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88068"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534400" cy="838200"/>
          </a:xfrm>
        </p:spPr>
        <p:txBody>
          <a:bodyPr vert="horz" anchor="b">
            <a:noAutofit/>
          </a:bodyPr>
          <a:lstStyle/>
          <a:p>
            <a:pPr marL="0" marR="0" lvl="0" indent="0" algn="ctr" defTabSz="914400" rtl="0" eaLnBrk="0" fontAlgn="base" latinLnBrk="0" hangingPunct="0">
              <a:lnSpc>
                <a:spcPct val="100000"/>
              </a:lnSpc>
              <a:spcBef>
                <a:spcPct val="0"/>
              </a:spcBef>
              <a:spcAft>
                <a:spcPct val="0"/>
              </a:spcAft>
              <a:buClrTx/>
              <a:buSzTx/>
              <a:buFontTx/>
              <a:buNone/>
              <a:defRPr/>
            </a:pPr>
            <a:b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br>
            <a:r>
              <a:rPr kumimoji="0" lang="en-US" sz="2800" b="1" i="0" u="none" strike="noStrike" kern="1200" cap="small" spc="0" normalizeH="0" baseline="0" noProof="0" dirty="0" err="1" smtClean="0">
                <a:ln>
                  <a:noFill/>
                </a:ln>
                <a:solidFill>
                  <a:schemeClr val="tx2"/>
                </a:solidFill>
                <a:effectLst/>
                <a:uLnTx/>
                <a:uFillTx/>
                <a:latin typeface="Arial" panose="020B0604020202020204" pitchFamily="34" charset="0"/>
                <a:ea typeface="Times New Roman" panose="02020603050405020304" pitchFamily="18" charset="0"/>
                <a:cs typeface="+mj-cs"/>
              </a:rPr>
              <a:t>Kilimo</a:t>
            </a: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 Kwanza Strategy </a:t>
            </a:r>
            <a:br>
              <a:rPr kumimoji="0" lang="en-US" sz="2800" b="0" i="0" u="none" strike="noStrike" kern="1200" cap="small" spc="0" normalizeH="0" baseline="0" noProof="0" dirty="0" smtClean="0">
                <a:ln>
                  <a:noFill/>
                </a:ln>
                <a:solidFill>
                  <a:schemeClr val="tx2"/>
                </a:solidFill>
                <a:effectLst/>
                <a:uLnTx/>
                <a:uFillTx/>
                <a:latin typeface="Arial" panose="020B0604020202020204" pitchFamily="34" charset="0"/>
                <a:ea typeface="+mj-ea"/>
                <a:cs typeface="+mj-cs"/>
              </a:rPr>
            </a:b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685800"/>
            <a:ext cx="8229600" cy="5440363"/>
          </a:xfrm>
        </p:spPr>
        <p:txBody>
          <a:bodyPr vert="horz" wrap="square" lIns="91440" tIns="45720" rIns="91440" bIns="45720" numCol="1" anchor="t" anchorCtr="0" compatLnSpc="1">
            <a:normAutofit/>
          </a:bodyPr>
          <a:lstStyle/>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In 2010, the URT announced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Kilimo</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Kwanza Strategy” which had the aim of bringing about green agriculture revolution to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Tz</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by 2015.</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In Swahili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Kilimo</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Kwanza means putting Agriculture First on the country's national socio-economic development agenda of priorities.</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Currently there are prevailing difficulties in implementing the </a:t>
            </a:r>
            <a:r>
              <a:rPr kumimoji="0" lang="en-US" sz="2800" b="0" i="0" u="none" strike="noStrike" kern="1200" cap="none" spc="0" normalizeH="0" baseline="0" noProof="0" dirty="0" err="1" smtClean="0">
                <a:ln>
                  <a:noFill/>
                </a:ln>
                <a:solidFill>
                  <a:schemeClr val="tx1"/>
                </a:solidFill>
                <a:effectLst/>
                <a:uLnTx/>
                <a:uFillTx/>
                <a:latin typeface="+mj-lt"/>
                <a:ea typeface="Times New Roman" panose="02020603050405020304" pitchFamily="18" charset="0"/>
                <a:cs typeface="+mn-cs"/>
              </a:rPr>
              <a:t>programme</a:t>
            </a: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hence hampering its progress.</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89092"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400"/>
            <a:ext cx="8229600" cy="609600"/>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small" spc="0" normalizeH="0" baseline="0" noProof="0" dirty="0" err="1" smtClean="0">
                <a:ln>
                  <a:noFill/>
                </a:ln>
                <a:solidFill>
                  <a:schemeClr val="tx2"/>
                </a:solidFill>
                <a:effectLst/>
                <a:uLnTx/>
                <a:uFillTx/>
                <a:latin typeface="Arial" panose="020B0604020202020204" pitchFamily="34" charset="0"/>
                <a:ea typeface="Times New Roman" panose="02020603050405020304" pitchFamily="18" charset="0"/>
                <a:cs typeface="+mj-cs"/>
              </a:rPr>
              <a:t>Kilimo</a:t>
            </a:r>
            <a:r>
              <a:rPr kumimoji="0" lang="en-US" sz="2800" b="1" i="0" u="none" strike="noStrike" kern="1200" cap="small" spc="0" normalizeH="0" baseline="0" noProof="0" dirty="0" smtClean="0">
                <a:ln>
                  <a:noFill/>
                </a:ln>
                <a:solidFill>
                  <a:schemeClr val="tx2"/>
                </a:solidFill>
                <a:effectLst/>
                <a:uLnTx/>
                <a:uFillTx/>
                <a:latin typeface="Arial" panose="020B0604020202020204" pitchFamily="34" charset="0"/>
                <a:ea typeface="Times New Roman" panose="02020603050405020304" pitchFamily="18" charset="0"/>
                <a:cs typeface="+mj-cs"/>
              </a:rPr>
              <a:t> Kwanza Strategy………</a:t>
            </a:r>
            <a:endParaRPr kumimoji="0" lang="en-GB" sz="28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a:xfrm>
            <a:off x="457200" y="914400"/>
            <a:ext cx="8229600" cy="5211763"/>
          </a:xfrm>
        </p:spPr>
        <p:txBody>
          <a:bodyPr vert="horz" wrap="square" lIns="91440" tIns="45720" rIns="91440" bIns="45720" numCol="1" anchor="t" anchorCtr="0" compatLnSpc="1">
            <a:normAutofit/>
          </a:bodyPr>
          <a:lstStyle/>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The government, formulated policies and allocated funds assuming that implementation of responsibilities will fall upon every stakeholder in the Agriculture Sector, i.e. farmers and the public as a whole.</a:t>
            </a: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endPar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endParaRPr>
          </a:p>
          <a:p>
            <a:pPr marL="0" marR="0" lvl="0" indent="0" algn="just" defTabSz="914400" rtl="0" eaLnBrk="0" fontAlgn="base" latinLnBrk="0" hangingPunct="0">
              <a:lnSpc>
                <a:spcPct val="100000"/>
              </a:lnSpc>
              <a:spcBef>
                <a:spcPct val="0"/>
              </a:spcBef>
              <a:spcAft>
                <a:spcPct val="0"/>
              </a:spcAft>
              <a:buClr>
                <a:schemeClr val="accent1"/>
              </a:buClr>
              <a:buSzPct val="70000"/>
              <a:buFont typeface="Wingdings" panose="05000000000000000000" pitchFamily="2" charset="2"/>
              <a:buNone/>
              <a:defRPr/>
            </a:pPr>
            <a:r>
              <a:rPr kumimoji="0" lang="en-US" sz="2800" b="0" i="0" u="none" strike="noStrike" kern="1200" cap="none" spc="0" normalizeH="0" baseline="0" noProof="0" dirty="0" smtClean="0">
                <a:ln>
                  <a:noFill/>
                </a:ln>
                <a:solidFill>
                  <a:schemeClr val="tx1"/>
                </a:solidFill>
                <a:effectLst/>
                <a:uLnTx/>
                <a:uFillTx/>
                <a:latin typeface="+mj-lt"/>
                <a:ea typeface="Times New Roman" panose="02020603050405020304" pitchFamily="18" charset="0"/>
                <a:cs typeface="+mn-cs"/>
              </a:rPr>
              <a:t> Yet, the current economic structure in Tanzania discourages rural farming and encouraging corporate farming but there are no clear strategies on how corporate farming can work.</a:t>
            </a:r>
            <a:endParaRPr kumimoji="0" lang="en-US" sz="2800" b="0" i="0" u="none" strike="noStrike" kern="1200" cap="none" spc="0" normalizeH="0" baseline="0" noProof="0" dirty="0" smtClean="0">
              <a:ln>
                <a:noFill/>
              </a:ln>
              <a:solidFill>
                <a:schemeClr val="tx1"/>
              </a:solidFill>
              <a:effectLst/>
              <a:uLnTx/>
              <a:uFillTx/>
              <a:latin typeface="+mj-lt"/>
              <a:ea typeface="+mn-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en-GB" sz="2800" b="0" i="0" u="none" strike="noStrike" kern="1200" cap="none" spc="0" normalizeH="0" baseline="0" noProof="0" dirty="0">
              <a:ln>
                <a:noFill/>
              </a:ln>
              <a:solidFill>
                <a:schemeClr val="tx1"/>
              </a:solidFill>
              <a:effectLst/>
              <a:uLnTx/>
              <a:uFillTx/>
              <a:latin typeface="+mj-lt"/>
              <a:ea typeface="+mn-ea"/>
              <a:cs typeface="+mn-cs"/>
            </a:endParaRPr>
          </a:p>
        </p:txBody>
      </p:sp>
      <p:sp>
        <p:nvSpPr>
          <p:cNvPr id="90116" name="Slide Number Placeholder 4"/>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Table 1"/>
          <p:cNvGraphicFramePr>
            <a:graphicFrameLocks noGrp="1"/>
          </p:cNvGraphicFramePr>
          <p:nvPr/>
        </p:nvGraphicFramePr>
        <p:xfrm>
          <a:off x="685800" y="762000"/>
          <a:ext cx="7620000" cy="5043488"/>
        </p:xfrm>
        <a:graphic>
          <a:graphicData uri="http://schemas.openxmlformats.org/drawingml/2006/table">
            <a:tbl>
              <a:tblPr/>
              <a:tblGrid>
                <a:gridCol w="35140"/>
                <a:gridCol w="7584860"/>
              </a:tblGrid>
              <a:tr h="914490">
                <a:tc>
                  <a:txBody>
                    <a:bodyPr/>
                    <a:lstStyle/>
                    <a:p>
                      <a:endParaRPr lang="en-US" sz="1000" dirty="0">
                        <a:latin typeface="Times New Roman" panose="02020603050405020304"/>
                      </a:endParaRPr>
                    </a:p>
                  </a:txBody>
                  <a:tcPr marL="0" marR="0" marT="0" marB="0">
                    <a:lnL>
                      <a:noFill/>
                    </a:lnL>
                    <a:lnR>
                      <a:noFill/>
                    </a:lnR>
                    <a:lnT>
                      <a:noFill/>
                    </a:lnT>
                    <a:lnB>
                      <a:noFill/>
                    </a:lnB>
                  </a:tcPr>
                </a:tc>
                <a:tc>
                  <a:txBody>
                    <a:bodyPr/>
                    <a:lstStyle/>
                    <a:p>
                      <a:pPr marL="342900" marR="0" lvl="0" indent="-342900">
                        <a:lnSpc>
                          <a:spcPct val="150000"/>
                        </a:lnSpc>
                        <a:spcBef>
                          <a:spcPts val="0"/>
                        </a:spcBef>
                        <a:spcAft>
                          <a:spcPts val="0"/>
                        </a:spcAft>
                        <a:buFont typeface="+mj-lt"/>
                        <a:buNone/>
                      </a:pPr>
                      <a:r>
                        <a:rPr lang="en-US" sz="2000" dirty="0" smtClean="0">
                          <a:latin typeface="Times New Roman" panose="02020603050405020304"/>
                          <a:ea typeface="Times New Roman" panose="02020603050405020304"/>
                        </a:rPr>
                        <a:t> </a:t>
                      </a:r>
                      <a:r>
                        <a:rPr lang="en-US" sz="2000" b="1" dirty="0" smtClean="0">
                          <a:latin typeface="Times New Roman" panose="02020603050405020304"/>
                          <a:ea typeface="Times New Roman" panose="02020603050405020304"/>
                        </a:rPr>
                        <a:t>VARIOUS POLICIES/STRATEGIES/PROGROMS</a:t>
                      </a:r>
                      <a:r>
                        <a:rPr lang="en-US" sz="2000" b="1" baseline="0" dirty="0" smtClean="0">
                          <a:latin typeface="Times New Roman" panose="02020603050405020304"/>
                          <a:ea typeface="Times New Roman" panose="02020603050405020304"/>
                        </a:rPr>
                        <a:t>  IN TANZANIA </a:t>
                      </a:r>
                      <a:endParaRPr lang="en-US" sz="2000" b="1" dirty="0" smtClean="0">
                        <a:latin typeface="Times New Roman" panose="02020603050405020304"/>
                        <a:ea typeface="Times New Roman" panose="02020603050405020304"/>
                      </a:endParaRPr>
                    </a:p>
                    <a:p>
                      <a:pPr marL="342900" marR="0" lvl="0" indent="-342900">
                        <a:lnSpc>
                          <a:spcPct val="150000"/>
                        </a:lnSpc>
                        <a:spcBef>
                          <a:spcPts val="0"/>
                        </a:spcBef>
                        <a:spcAft>
                          <a:spcPts val="0"/>
                        </a:spcAft>
                        <a:buFont typeface="+mj-lt"/>
                        <a:buAutoNum type="arabicPeriod"/>
                      </a:pPr>
                      <a:r>
                        <a:rPr lang="en-US" sz="2000" dirty="0" smtClean="0">
                          <a:latin typeface="Times New Roman" panose="02020603050405020304"/>
                          <a:ea typeface="Times New Roman" panose="02020603050405020304"/>
                        </a:rPr>
                        <a:t>The </a:t>
                      </a:r>
                      <a:r>
                        <a:rPr lang="en-US" sz="2000" dirty="0">
                          <a:latin typeface="Times New Roman" panose="02020603050405020304"/>
                          <a:ea typeface="Times New Roman" panose="02020603050405020304"/>
                        </a:rPr>
                        <a:t>National Poverty Eradication Strategy (NPES) 1997</a:t>
                      </a:r>
                      <a:endParaRPr lang="en-US" sz="2000" dirty="0">
                        <a:latin typeface="Times New Roman" panose="02020603050405020304"/>
                        <a:ea typeface="Times New Roman" panose="02020603050405020304"/>
                      </a:endParaRPr>
                    </a:p>
                  </a:txBody>
                  <a:tcPr marL="0" marR="0" marT="0" marB="0">
                    <a:lnL>
                      <a:noFill/>
                    </a:lnL>
                    <a:lnR>
                      <a:noFill/>
                    </a:lnR>
                    <a:lnT>
                      <a:noFill/>
                    </a:lnT>
                    <a:lnB>
                      <a:noFill/>
                    </a:lnB>
                  </a:tcPr>
                </a:tc>
              </a:tr>
              <a:tr h="481652">
                <a:tc>
                  <a:txBody>
                    <a:bodyPr/>
                    <a:lstStyle/>
                    <a:p>
                      <a:endParaRPr lang="en-US" sz="1000">
                        <a:latin typeface="Times New Roman" panose="02020603050405020304"/>
                      </a:endParaRPr>
                    </a:p>
                  </a:txBody>
                  <a:tcPr marL="0" marR="0" marT="0" marB="0">
                    <a:lnL>
                      <a:noFill/>
                    </a:lnL>
                    <a:lnR>
                      <a:noFill/>
                    </a:lnR>
                    <a:lnT>
                      <a:noFill/>
                    </a:lnT>
                    <a:lnB>
                      <a:noFill/>
                    </a:lnB>
                  </a:tcPr>
                </a:tc>
                <a:tc>
                  <a:txBody>
                    <a:bodyPr/>
                    <a:lstStyle/>
                    <a:p>
                      <a:pPr marL="342900" marR="0" lvl="0" indent="-342900">
                        <a:lnSpc>
                          <a:spcPct val="150000"/>
                        </a:lnSpc>
                        <a:spcBef>
                          <a:spcPts val="0"/>
                        </a:spcBef>
                        <a:spcAft>
                          <a:spcPts val="0"/>
                        </a:spcAft>
                        <a:buFont typeface="+mj-lt"/>
                        <a:buAutoNum type="arabicPeriod"/>
                      </a:pPr>
                      <a:r>
                        <a:rPr lang="en-US" sz="2000" dirty="0">
                          <a:latin typeface="Times New Roman" panose="02020603050405020304"/>
                          <a:ea typeface="Times New Roman" panose="02020603050405020304"/>
                        </a:rPr>
                        <a:t>Tanzania Development Vision 2025 (1999)</a:t>
                      </a:r>
                      <a:endParaRPr lang="en-US" sz="2000" dirty="0">
                        <a:latin typeface="Times New Roman" panose="02020603050405020304"/>
                        <a:ea typeface="Times New Roman" panose="02020603050405020304"/>
                      </a:endParaRPr>
                    </a:p>
                  </a:txBody>
                  <a:tcPr marL="0" marR="0" marT="0" marB="0">
                    <a:lnL>
                      <a:noFill/>
                    </a:lnL>
                    <a:lnR>
                      <a:noFill/>
                    </a:lnR>
                    <a:lnT>
                      <a:noFill/>
                    </a:lnT>
                    <a:lnB>
                      <a:noFill/>
                    </a:lnB>
                  </a:tcPr>
                </a:tc>
              </a:tr>
              <a:tr h="481652">
                <a:tc>
                  <a:txBody>
                    <a:bodyPr/>
                    <a:lstStyle/>
                    <a:p>
                      <a:endParaRPr lang="en-US" sz="1000">
                        <a:latin typeface="Times New Roman" panose="02020603050405020304"/>
                      </a:endParaRPr>
                    </a:p>
                  </a:txBody>
                  <a:tcPr marL="0" marR="0" marT="0" marB="0">
                    <a:lnL>
                      <a:noFill/>
                    </a:lnL>
                    <a:lnR>
                      <a:noFill/>
                    </a:lnR>
                    <a:lnT>
                      <a:noFill/>
                    </a:lnT>
                    <a:lnB>
                      <a:noFill/>
                    </a:lnB>
                  </a:tcPr>
                </a:tc>
                <a:tc>
                  <a:txBody>
                    <a:bodyPr/>
                    <a:lstStyle/>
                    <a:p>
                      <a:pPr marL="342900" marR="0" lvl="0" indent="-342900">
                        <a:lnSpc>
                          <a:spcPct val="150000"/>
                        </a:lnSpc>
                        <a:spcBef>
                          <a:spcPts val="0"/>
                        </a:spcBef>
                        <a:spcAft>
                          <a:spcPts val="0"/>
                        </a:spcAft>
                        <a:buFont typeface="+mj-lt"/>
                        <a:buAutoNum type="arabicPeriod"/>
                      </a:pPr>
                      <a:r>
                        <a:rPr lang="en-US" sz="2000" dirty="0">
                          <a:latin typeface="Times New Roman" panose="02020603050405020304"/>
                          <a:ea typeface="Times New Roman" panose="02020603050405020304"/>
                        </a:rPr>
                        <a:t>Tanzania Assistance Strategy </a:t>
                      </a:r>
                      <a:endParaRPr lang="en-US" sz="2000" dirty="0">
                        <a:latin typeface="Times New Roman" panose="02020603050405020304"/>
                        <a:ea typeface="Times New Roman" panose="02020603050405020304"/>
                      </a:endParaRPr>
                    </a:p>
                  </a:txBody>
                  <a:tcPr marL="0" marR="0" marT="0" marB="0">
                    <a:lnL>
                      <a:noFill/>
                    </a:lnL>
                    <a:lnR>
                      <a:noFill/>
                    </a:lnR>
                    <a:lnT>
                      <a:noFill/>
                    </a:lnT>
                    <a:lnB>
                      <a:noFill/>
                    </a:lnB>
                  </a:tcPr>
                </a:tc>
              </a:tr>
              <a:tr h="481652">
                <a:tc>
                  <a:txBody>
                    <a:bodyPr/>
                    <a:lstStyle/>
                    <a:p>
                      <a:endParaRPr lang="en-US" sz="1000">
                        <a:latin typeface="Times New Roman" panose="02020603050405020304"/>
                      </a:endParaRPr>
                    </a:p>
                  </a:txBody>
                  <a:tcPr marL="0" marR="0" marT="0" marB="0">
                    <a:lnL>
                      <a:noFill/>
                    </a:lnL>
                    <a:lnR>
                      <a:noFill/>
                    </a:lnR>
                    <a:lnT>
                      <a:noFill/>
                    </a:lnT>
                    <a:lnB>
                      <a:noFill/>
                    </a:lnB>
                  </a:tcPr>
                </a:tc>
                <a:tc>
                  <a:txBody>
                    <a:bodyPr/>
                    <a:lstStyle/>
                    <a:p>
                      <a:pPr marL="342900" marR="0" lvl="0" indent="-342900">
                        <a:lnSpc>
                          <a:spcPct val="150000"/>
                        </a:lnSpc>
                        <a:spcBef>
                          <a:spcPts val="0"/>
                        </a:spcBef>
                        <a:spcAft>
                          <a:spcPts val="0"/>
                        </a:spcAft>
                        <a:buFont typeface="+mj-lt"/>
                        <a:buAutoNum type="arabicPeriod"/>
                      </a:pPr>
                      <a:r>
                        <a:rPr lang="en-US" sz="2000">
                          <a:latin typeface="Times New Roman" panose="02020603050405020304"/>
                          <a:ea typeface="Times New Roman" panose="02020603050405020304"/>
                        </a:rPr>
                        <a:t>Poverty Reduction Strategy Paper (2000) </a:t>
                      </a:r>
                      <a:endParaRPr lang="en-US" sz="2000">
                        <a:latin typeface="Times New Roman" panose="02020603050405020304"/>
                        <a:ea typeface="Times New Roman" panose="02020603050405020304"/>
                      </a:endParaRPr>
                    </a:p>
                  </a:txBody>
                  <a:tcPr marL="0" marR="0" marT="0" marB="0">
                    <a:lnL>
                      <a:noFill/>
                    </a:lnL>
                    <a:lnR>
                      <a:noFill/>
                    </a:lnR>
                    <a:lnT>
                      <a:noFill/>
                    </a:lnT>
                    <a:lnB>
                      <a:noFill/>
                    </a:lnB>
                  </a:tcPr>
                </a:tc>
              </a:tr>
              <a:tr h="481652">
                <a:tc>
                  <a:txBody>
                    <a:bodyPr/>
                    <a:lstStyle/>
                    <a:p>
                      <a:endParaRPr lang="en-US" sz="1000">
                        <a:latin typeface="Times New Roman" panose="02020603050405020304"/>
                      </a:endParaRPr>
                    </a:p>
                  </a:txBody>
                  <a:tcPr marL="0" marR="0" marT="0" marB="0">
                    <a:lnL>
                      <a:noFill/>
                    </a:lnL>
                    <a:lnR>
                      <a:noFill/>
                    </a:lnR>
                    <a:lnT>
                      <a:noFill/>
                    </a:lnT>
                    <a:lnB>
                      <a:noFill/>
                    </a:lnB>
                  </a:tcPr>
                </a:tc>
                <a:tc>
                  <a:txBody>
                    <a:bodyPr/>
                    <a:lstStyle/>
                    <a:p>
                      <a:pPr marL="342900" marR="0" lvl="0" indent="-342900">
                        <a:lnSpc>
                          <a:spcPct val="150000"/>
                        </a:lnSpc>
                        <a:spcBef>
                          <a:spcPts val="0"/>
                        </a:spcBef>
                        <a:spcAft>
                          <a:spcPts val="0"/>
                        </a:spcAft>
                        <a:buFont typeface="+mj-lt"/>
                        <a:buAutoNum type="arabicPeriod"/>
                      </a:pPr>
                      <a:r>
                        <a:rPr lang="en-US" sz="2000">
                          <a:latin typeface="Times New Roman" panose="02020603050405020304"/>
                          <a:ea typeface="Times New Roman" panose="02020603050405020304"/>
                        </a:rPr>
                        <a:t>Poverty Monitoring Master Plan </a:t>
                      </a:r>
                      <a:endParaRPr lang="en-US" sz="2000">
                        <a:latin typeface="Times New Roman" panose="02020603050405020304"/>
                        <a:ea typeface="Times New Roman" panose="02020603050405020304"/>
                      </a:endParaRPr>
                    </a:p>
                  </a:txBody>
                  <a:tcPr marL="0" marR="0" marT="0" marB="0">
                    <a:lnL>
                      <a:noFill/>
                    </a:lnL>
                    <a:lnR>
                      <a:noFill/>
                    </a:lnR>
                    <a:lnT>
                      <a:noFill/>
                    </a:lnT>
                    <a:lnB>
                      <a:noFill/>
                    </a:lnB>
                  </a:tcPr>
                </a:tc>
              </a:tr>
              <a:tr h="626246">
                <a:tc>
                  <a:txBody>
                    <a:bodyPr/>
                    <a:lstStyle/>
                    <a:p>
                      <a:endParaRPr lang="en-US" sz="1000">
                        <a:latin typeface="Times New Roman" panose="02020603050405020304"/>
                      </a:endParaRPr>
                    </a:p>
                  </a:txBody>
                  <a:tcPr marL="0" marR="0" marT="0" marB="0">
                    <a:lnL>
                      <a:noFill/>
                    </a:lnL>
                    <a:lnR>
                      <a:noFill/>
                    </a:lnR>
                    <a:lnT>
                      <a:noFill/>
                    </a:lnT>
                    <a:lnB>
                      <a:noFill/>
                    </a:lnB>
                  </a:tcPr>
                </a:tc>
                <a:tc>
                  <a:txBody>
                    <a:bodyPr/>
                    <a:lstStyle/>
                    <a:p>
                      <a:pPr marL="342900" marR="0" lvl="0" indent="-342900">
                        <a:lnSpc>
                          <a:spcPct val="150000"/>
                        </a:lnSpc>
                        <a:spcBef>
                          <a:spcPts val="0"/>
                        </a:spcBef>
                        <a:spcAft>
                          <a:spcPts val="0"/>
                        </a:spcAft>
                        <a:buFont typeface="+mj-lt"/>
                        <a:buAutoNum type="arabicPeriod"/>
                      </a:pPr>
                      <a:r>
                        <a:rPr lang="en-US" sz="2000" dirty="0">
                          <a:latin typeface="Times New Roman" panose="02020603050405020304"/>
                          <a:ea typeface="Times New Roman" panose="02020603050405020304"/>
                        </a:rPr>
                        <a:t>National Strategy for Growth and Reduction of Poverty (2005) </a:t>
                      </a:r>
                      <a:endParaRPr lang="en-US" sz="2000" dirty="0">
                        <a:latin typeface="Times New Roman" panose="02020603050405020304"/>
                        <a:ea typeface="Times New Roman" panose="02020603050405020304"/>
                      </a:endParaRPr>
                    </a:p>
                  </a:txBody>
                  <a:tcPr marL="0" marR="0" marT="0" marB="0">
                    <a:lnL>
                      <a:noFill/>
                    </a:lnL>
                    <a:lnR>
                      <a:noFill/>
                    </a:lnR>
                    <a:lnT>
                      <a:noFill/>
                    </a:lnT>
                    <a:lnB>
                      <a:noFill/>
                    </a:lnB>
                  </a:tcPr>
                </a:tc>
              </a:tr>
              <a:tr h="1576143">
                <a:tc>
                  <a:txBody>
                    <a:bodyPr/>
                    <a:lstStyle/>
                    <a:p>
                      <a:endParaRPr lang="en-US" sz="1000">
                        <a:latin typeface="Times New Roman" panose="02020603050405020304"/>
                      </a:endParaRPr>
                    </a:p>
                  </a:txBody>
                  <a:tcPr marL="0" marR="0" marT="0" marB="0">
                    <a:lnL>
                      <a:noFill/>
                    </a:lnL>
                    <a:lnR>
                      <a:noFill/>
                    </a:lnR>
                    <a:lnT>
                      <a:noFill/>
                    </a:lnT>
                    <a:lnB>
                      <a:noFill/>
                    </a:lnB>
                  </a:tcPr>
                </a:tc>
                <a:tc>
                  <a:txBody>
                    <a:bodyPr/>
                    <a:lstStyle/>
                    <a:p>
                      <a:pPr marL="342900" marR="0" lvl="0" indent="-342900">
                        <a:lnSpc>
                          <a:spcPct val="150000"/>
                        </a:lnSpc>
                        <a:spcBef>
                          <a:spcPts val="0"/>
                        </a:spcBef>
                        <a:spcAft>
                          <a:spcPts val="0"/>
                        </a:spcAft>
                        <a:buFont typeface="+mj-lt"/>
                        <a:buAutoNum type="arabicPeriod"/>
                      </a:pPr>
                      <a:r>
                        <a:rPr lang="en-US" sz="2000" dirty="0">
                          <a:latin typeface="Times New Roman" panose="02020603050405020304"/>
                          <a:ea typeface="Times New Roman" panose="02020603050405020304"/>
                        </a:rPr>
                        <a:t>National Strategy for Growth and Reduction of Poverty (2005) (Annex)</a:t>
                      </a:r>
                      <a:br>
                        <a:rPr lang="en-US" sz="2000" dirty="0">
                          <a:latin typeface="Times New Roman" panose="02020603050405020304"/>
                          <a:ea typeface="Times New Roman" panose="02020603050405020304"/>
                        </a:rPr>
                      </a:br>
                      <a:endParaRPr lang="en-US" sz="2000" dirty="0">
                        <a:latin typeface="Times New Roman" panose="02020603050405020304"/>
                        <a:ea typeface="Times New Roman" panose="02020603050405020304"/>
                      </a:endParaRPr>
                    </a:p>
                  </a:txBody>
                  <a:tcPr marL="0" marR="0" marT="0" marB="0">
                    <a:lnL>
                      <a:noFill/>
                    </a:lnL>
                    <a:lnR>
                      <a:noFill/>
                    </a:lnR>
                    <a:lnT>
                      <a:noFill/>
                    </a:lnT>
                    <a:lnB>
                      <a:noFill/>
                    </a:lnB>
                  </a:tcPr>
                </a:tc>
              </a:tr>
            </a:tbl>
          </a:graphicData>
        </a:graphic>
      </p:graphicFrame>
      <p:sp>
        <p:nvSpPr>
          <p:cNvPr id="91153"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1"/>
          <p:cNvSpPr/>
          <p:nvPr/>
        </p:nvSpPr>
        <p:spPr>
          <a:xfrm>
            <a:off x="1066800" y="304800"/>
            <a:ext cx="6705600" cy="5908675"/>
          </a:xfrm>
          <a:prstGeom prst="rect">
            <a:avLst/>
          </a:prstGeom>
          <a:noFill/>
          <a:ln w="9525">
            <a:noFill/>
          </a:ln>
        </p:spPr>
        <p:txBody>
          <a:bodyPr>
            <a:spAutoFit/>
          </a:bodyPr>
          <a:p>
            <a:pPr marL="342900" indent="-342900"/>
            <a:r>
              <a:rPr b="1" dirty="0">
                <a:latin typeface="Arial" panose="020B0604020202020204" pitchFamily="34" charset="0"/>
                <a:cs typeface="Times New Roman" panose="02020603050405020304" pitchFamily="18" charset="0"/>
              </a:rPr>
              <a:t>Sector and cross cutting policies</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Agricultural Sector Development Strategy</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Agriculture and Livestock Policy, 1997 </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Child Development Policy </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Community Development Policy </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Cooperative Development Policy, 1997</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Cultural Policy</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Education and Training Policy </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Financial Sector Policy</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Food and Nutrition Policy for Tanzania</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Health Policy (1990)</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Justice</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Livestock Policy</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Local Government Reform Agenda (1996-2000)</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Local Government Reform Programme (1998) Macroeconomic Policy Framework for the Plan and Budget 2003/04 -2005/06</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Macroeconomic Policy Framework for the Plan/Budget 2004/05 - 2006/07</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Mineral Policy of Tanzania </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National Beekeeping Policy </a:t>
            </a:r>
            <a:endParaRPr dirty="0">
              <a:latin typeface="Arial" panose="020B0604020202020204" pitchFamily="34" charset="0"/>
            </a:endParaRPr>
          </a:p>
          <a:p>
            <a:pPr marL="342900" indent="-342900"/>
            <a:r>
              <a:rPr dirty="0">
                <a:latin typeface="Arial" panose="020B0604020202020204" pitchFamily="34" charset="0"/>
                <a:cs typeface="Times New Roman" panose="02020603050405020304" pitchFamily="18" charset="0"/>
              </a:rPr>
              <a:t>National Employment Policy</a:t>
            </a:r>
            <a:endParaRPr dirty="0">
              <a:latin typeface="Arial" panose="020B0604020202020204" pitchFamily="34" charset="0"/>
            </a:endParaRPr>
          </a:p>
        </p:txBody>
      </p:sp>
      <p:sp>
        <p:nvSpPr>
          <p:cNvPr id="92163"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1"/>
          <p:cNvSpPr/>
          <p:nvPr/>
        </p:nvSpPr>
        <p:spPr>
          <a:xfrm>
            <a:off x="1295400" y="228600"/>
            <a:ext cx="5562600" cy="5848350"/>
          </a:xfrm>
          <a:prstGeom prst="rect">
            <a:avLst/>
          </a:prstGeom>
          <a:noFill/>
          <a:ln w="9525">
            <a:noFill/>
          </a:ln>
        </p:spPr>
        <p:txBody>
          <a:bodyPr>
            <a:spAutoFit/>
          </a:bodyPr>
          <a:p>
            <a:pPr>
              <a:buChar char="•"/>
            </a:pP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Energy Policy of Tanzania </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Environmental Policy for Zanzibar</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Environmental Policy</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Fisheries Sector Policy and Strategy Statement </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Forest PolicyNational Health Policy </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Higher Education Policy </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Human Settlements Development Policy </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ICT Policy</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Investment Promotion Policy </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Irrigation Policy</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Labour Policy</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Land Policy </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Micro-Finance Policy </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Policy on HIV/AIDS</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Programme for the Implementation of the National Population Policy </a:t>
            </a:r>
            <a:endParaRPr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Science and Technology Policy for Tanzania</a:t>
            </a:r>
            <a:endParaRPr dirty="0">
              <a:latin typeface="Arial" panose="020B0604020202020204" pitchFamily="34" charset="0"/>
            </a:endParaRPr>
          </a:p>
          <a:p>
            <a:pPr>
              <a:buChar char="•"/>
            </a:pPr>
            <a:endParaRPr sz="1600" dirty="0">
              <a:latin typeface="Arial" panose="020B0604020202020204" pitchFamily="34" charset="0"/>
            </a:endParaRPr>
          </a:p>
        </p:txBody>
      </p:sp>
      <p:sp>
        <p:nvSpPr>
          <p:cNvPr id="93187"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1"/>
          <p:cNvSpPr/>
          <p:nvPr/>
        </p:nvSpPr>
        <p:spPr>
          <a:xfrm>
            <a:off x="1524000" y="304800"/>
            <a:ext cx="5334000" cy="5602288"/>
          </a:xfrm>
          <a:prstGeom prst="rect">
            <a:avLst/>
          </a:prstGeom>
          <a:noFill/>
          <a:ln w="9525">
            <a:noFill/>
          </a:ln>
        </p:spPr>
        <p:txBody>
          <a:bodyPr>
            <a:spAutoFit/>
          </a:bodyPr>
          <a:p>
            <a:pPr>
              <a:buChar char="•"/>
            </a:pP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Telecommunication Policy </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Tourism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Transport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Water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Women and Gender Development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Youth Development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Natural Forestry Policy for Zanzibar</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Natural Resources</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Policy on Women in Development National Health Policy </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Higher Education Policy </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Human Settlements Development Policy </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ICT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Investment Promotion Policy </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Irrigation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Labour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Land Policy </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Micro-Finance Policy </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Policy on HIV/AIDS</a:t>
            </a:r>
            <a:endParaRPr sz="1600" dirty="0">
              <a:latin typeface="Arial" panose="020B0604020202020204" pitchFamily="34" charset="0"/>
            </a:endParaRPr>
          </a:p>
        </p:txBody>
      </p:sp>
      <p:sp>
        <p:nvSpPr>
          <p:cNvPr id="94211"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1"/>
          <p:cNvSpPr/>
          <p:nvPr/>
        </p:nvSpPr>
        <p:spPr>
          <a:xfrm>
            <a:off x="1524000" y="533400"/>
            <a:ext cx="5486400" cy="4800600"/>
          </a:xfrm>
          <a:prstGeom prst="rect">
            <a:avLst/>
          </a:prstGeom>
          <a:noFill/>
          <a:ln w="9525">
            <a:noFill/>
          </a:ln>
        </p:spPr>
        <p:txBody>
          <a:bodyPr>
            <a:spAutoFit/>
          </a:bodyPr>
          <a:p>
            <a:pPr>
              <a:buChar char="•"/>
            </a:pPr>
            <a:r>
              <a:rPr dirty="0">
                <a:latin typeface="Arial" panose="020B0604020202020204" pitchFamily="34" charset="0"/>
                <a:cs typeface="Times New Roman" panose="02020603050405020304" pitchFamily="18" charset="0"/>
              </a:rPr>
              <a:t>National Programme for the Implementation of the National Population Policy </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Science and Technology Policy for Tanzania</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Telecommunication Policy </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Tourism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Transport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Water Policy National Women and Gender Development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National Youth Development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Natural Forestry Policy for Zanzibar</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Natural Resources</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Policy on Women in Development</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Rural Development Strategy </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Science and Technology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Small and Medium Enterprise Development Policy</a:t>
            </a:r>
            <a:endParaRPr sz="1600" dirty="0">
              <a:latin typeface="Arial" panose="020B0604020202020204" pitchFamily="34" charset="0"/>
            </a:endParaRPr>
          </a:p>
          <a:p>
            <a:r>
              <a:rPr b="1" dirty="0">
                <a:latin typeface="Arial" panose="020B0604020202020204" pitchFamily="34" charset="0"/>
                <a:cs typeface="Times New Roman" panose="02020603050405020304" pitchFamily="18" charset="0"/>
              </a:rPr>
              <a:t>Swahili policies/sera</a:t>
            </a:r>
            <a:endParaRPr dirty="0">
              <a:latin typeface="Arial" panose="020B0604020202020204" pitchFamily="34" charset="0"/>
            </a:endParaRPr>
          </a:p>
        </p:txBody>
      </p:sp>
      <p:sp>
        <p:nvSpPr>
          <p:cNvPr id="95235"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1"/>
          <p:cNvSpPr/>
          <p:nvPr/>
        </p:nvSpPr>
        <p:spPr>
          <a:xfrm>
            <a:off x="1447800" y="381000"/>
            <a:ext cx="5486400" cy="6616700"/>
          </a:xfrm>
          <a:prstGeom prst="rect">
            <a:avLst/>
          </a:prstGeom>
          <a:noFill/>
          <a:ln w="9525">
            <a:noFill/>
          </a:ln>
        </p:spPr>
        <p:txBody>
          <a:bodyPr>
            <a:spAutoFit/>
          </a:bodyPr>
          <a:p>
            <a:pPr>
              <a:buChar char="•"/>
            </a:pPr>
            <a:r>
              <a:rPr dirty="0">
                <a:latin typeface="Arial" panose="020B0604020202020204" pitchFamily="34" charset="0"/>
                <a:cs typeface="Times New Roman" panose="02020603050405020304" pitchFamily="18" charset="0"/>
              </a:rPr>
              <a:t>Sustainable Industrial Development Policy SIDP (1996-2020)</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Tanzania Population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Tanzania Trade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Wildlife Policy of Tanzania</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Small and Medium Enterprise Development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Sustainable Industrial Development Policy SIDP (1996-2020)</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Tanzania Population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Tanzania Trade Policy</a:t>
            </a:r>
            <a:endParaRPr sz="1600" dirty="0">
              <a:latin typeface="Arial" panose="020B0604020202020204" pitchFamily="34" charset="0"/>
            </a:endParaRPr>
          </a:p>
          <a:p>
            <a:pPr>
              <a:buChar char="•"/>
            </a:pPr>
            <a:r>
              <a:rPr dirty="0">
                <a:latin typeface="Arial" panose="020B0604020202020204" pitchFamily="34" charset="0"/>
                <a:cs typeface="Times New Roman" panose="02020603050405020304" pitchFamily="18" charset="0"/>
              </a:rPr>
              <a:t>Trade Policy Implementation Matrix</a:t>
            </a:r>
            <a:endParaRPr sz="1600" dirty="0">
              <a:latin typeface="Arial" panose="020B0604020202020204" pitchFamily="34" charset="0"/>
            </a:endParaRPr>
          </a:p>
          <a:p>
            <a:r>
              <a:rPr dirty="0">
                <a:latin typeface="Arial" panose="020B0604020202020204" pitchFamily="34" charset="0"/>
                <a:cs typeface="Times New Roman" panose="02020603050405020304" pitchFamily="18" charset="0"/>
              </a:rPr>
              <a:t>Wildlife Policy of Tanzania</a:t>
            </a:r>
            <a:endParaRPr dirty="0">
              <a:latin typeface="Arial" panose="020B0604020202020204" pitchFamily="34" charset="0"/>
              <a:cs typeface="Times New Roman" panose="02020603050405020304" pitchFamily="18" charset="0"/>
            </a:endParaRPr>
          </a:p>
          <a:p>
            <a:r>
              <a:rPr sz="1600" b="1" dirty="0">
                <a:latin typeface="Arial" panose="020B0604020202020204" pitchFamily="34" charset="0"/>
                <a:cs typeface="Times New Roman" panose="02020603050405020304" pitchFamily="18" charset="0"/>
              </a:rPr>
              <a:t>Swahili policies/sera</a:t>
            </a:r>
            <a:endParaRPr sz="1400" dirty="0">
              <a:latin typeface="Arial" panose="020B0604020202020204" pitchFamily="34" charset="0"/>
            </a:endParaRPr>
          </a:p>
          <a:p>
            <a:pPr>
              <a:buChar char="•"/>
            </a:pPr>
            <a:r>
              <a:rPr sz="1600" dirty="0">
                <a:latin typeface="Arial" panose="020B0604020202020204" pitchFamily="34" charset="0"/>
                <a:cs typeface="Times New Roman" panose="02020603050405020304" pitchFamily="18" charset="0"/>
              </a:rPr>
              <a:t>Sera ya elimu Zanzibar </a:t>
            </a:r>
            <a:endParaRPr sz="1400" dirty="0">
              <a:latin typeface="Arial" panose="020B0604020202020204" pitchFamily="34" charset="0"/>
            </a:endParaRPr>
          </a:p>
          <a:p>
            <a:pPr>
              <a:buChar char="•"/>
            </a:pPr>
            <a:r>
              <a:rPr sz="1600" dirty="0">
                <a:latin typeface="Arial" panose="020B0604020202020204" pitchFamily="34" charset="0"/>
                <a:cs typeface="Times New Roman" panose="02020603050405020304" pitchFamily="18" charset="0"/>
              </a:rPr>
              <a:t>Sera ya Habari na Utangazaji</a:t>
            </a:r>
            <a:endParaRPr sz="1400" dirty="0">
              <a:latin typeface="Arial" panose="020B0604020202020204" pitchFamily="34" charset="0"/>
            </a:endParaRPr>
          </a:p>
          <a:p>
            <a:pPr>
              <a:buChar char="•"/>
            </a:pPr>
            <a:r>
              <a:rPr sz="1600" dirty="0">
                <a:latin typeface="Arial" panose="020B0604020202020204" pitchFamily="34" charset="0"/>
                <a:cs typeface="Times New Roman" panose="02020603050405020304" pitchFamily="18" charset="0"/>
              </a:rPr>
              <a:t>Sera ya Maendeleo ya Michezo</a:t>
            </a:r>
            <a:endParaRPr sz="1400" dirty="0">
              <a:latin typeface="Arial" panose="020B0604020202020204" pitchFamily="34" charset="0"/>
            </a:endParaRPr>
          </a:p>
          <a:p>
            <a:pPr>
              <a:buChar char="•"/>
            </a:pPr>
            <a:r>
              <a:rPr sz="1600" dirty="0">
                <a:latin typeface="Arial" panose="020B0604020202020204" pitchFamily="34" charset="0"/>
                <a:cs typeface="Times New Roman" panose="02020603050405020304" pitchFamily="18" charset="0"/>
              </a:rPr>
              <a:t>Sera ya Maendeleo ya Ushirika, 1997 </a:t>
            </a:r>
            <a:endParaRPr sz="1400" dirty="0">
              <a:latin typeface="Arial" panose="020B0604020202020204" pitchFamily="34" charset="0"/>
            </a:endParaRPr>
          </a:p>
          <a:p>
            <a:pPr>
              <a:buChar char="•"/>
            </a:pPr>
            <a:r>
              <a:rPr sz="1600" dirty="0">
                <a:latin typeface="Arial" panose="020B0604020202020204" pitchFamily="34" charset="0"/>
                <a:cs typeface="Times New Roman" panose="02020603050405020304" pitchFamily="18" charset="0"/>
              </a:rPr>
              <a:t>Sera ya maendeleo ya wanawake na jinsia</a:t>
            </a:r>
            <a:endParaRPr sz="1400" dirty="0">
              <a:latin typeface="Arial" panose="020B0604020202020204" pitchFamily="34" charset="0"/>
            </a:endParaRPr>
          </a:p>
          <a:p>
            <a:pPr>
              <a:buChar char="•"/>
            </a:pPr>
            <a:r>
              <a:rPr sz="1600" dirty="0">
                <a:latin typeface="Arial" panose="020B0604020202020204" pitchFamily="34" charset="0"/>
                <a:cs typeface="Times New Roman" panose="02020603050405020304" pitchFamily="18" charset="0"/>
              </a:rPr>
              <a:t>Sera ya maji </a:t>
            </a:r>
            <a:endParaRPr sz="1400" dirty="0">
              <a:latin typeface="Arial" panose="020B0604020202020204" pitchFamily="34" charset="0"/>
            </a:endParaRPr>
          </a:p>
          <a:p>
            <a:pPr>
              <a:buChar char="•"/>
            </a:pPr>
            <a:r>
              <a:rPr sz="1600" dirty="0">
                <a:latin typeface="Arial" panose="020B0604020202020204" pitchFamily="34" charset="0"/>
                <a:cs typeface="Times New Roman" panose="02020603050405020304" pitchFamily="18" charset="0"/>
              </a:rPr>
              <a:t>Sera ya Taifa ya kudhibiti Ukimwi </a:t>
            </a:r>
            <a:endParaRPr sz="1400" dirty="0">
              <a:latin typeface="Arial" panose="020B0604020202020204" pitchFamily="34" charset="0"/>
            </a:endParaRPr>
          </a:p>
          <a:p>
            <a:pPr>
              <a:buChar char="•"/>
            </a:pPr>
            <a:r>
              <a:rPr sz="1600" dirty="0">
                <a:latin typeface="Arial" panose="020B0604020202020204" pitchFamily="34" charset="0"/>
                <a:cs typeface="Times New Roman" panose="02020603050405020304" pitchFamily="18" charset="0"/>
              </a:rPr>
              <a:t>Sera ya Taifa ya Maendeleo ya Vijana </a:t>
            </a:r>
            <a:endParaRPr sz="1600" dirty="0">
              <a:latin typeface="Arial" panose="020B0604020202020204" pitchFamily="34" charset="0"/>
              <a:cs typeface="Times New Roman" panose="02020603050405020304" pitchFamily="18" charset="0"/>
            </a:endParaRPr>
          </a:p>
          <a:p>
            <a:r>
              <a:rPr sz="1600" b="1" dirty="0">
                <a:latin typeface="Arial" panose="020B0604020202020204" pitchFamily="34" charset="0"/>
                <a:cs typeface="Times New Roman" panose="02020603050405020304" pitchFamily="18" charset="0"/>
              </a:rPr>
              <a:t>PROGRMES </a:t>
            </a:r>
            <a:endParaRPr sz="1600" b="1" dirty="0">
              <a:latin typeface="Arial" panose="020B0604020202020204" pitchFamily="34" charset="0"/>
              <a:cs typeface="Times New Roman" panose="02020603050405020304" pitchFamily="18" charset="0"/>
            </a:endParaRPr>
          </a:p>
          <a:p>
            <a:r>
              <a:rPr sz="1600" dirty="0">
                <a:latin typeface="Arial" panose="020B0604020202020204" pitchFamily="34" charset="0"/>
                <a:cs typeface="Times New Roman" panose="02020603050405020304" pitchFamily="18" charset="0"/>
              </a:rPr>
              <a:t>MKUKUTA</a:t>
            </a:r>
            <a:endParaRPr sz="1600" dirty="0">
              <a:latin typeface="Arial" panose="020B0604020202020204" pitchFamily="34" charset="0"/>
              <a:cs typeface="Times New Roman" panose="02020603050405020304" pitchFamily="18" charset="0"/>
            </a:endParaRPr>
          </a:p>
          <a:p>
            <a:r>
              <a:rPr sz="1600" dirty="0">
                <a:latin typeface="Arial" panose="020B0604020202020204" pitchFamily="34" charset="0"/>
                <a:cs typeface="Times New Roman" panose="02020603050405020304" pitchFamily="18" charset="0"/>
              </a:rPr>
              <a:t>MKURABITA</a:t>
            </a:r>
            <a:br>
              <a:rPr sz="1600" dirty="0">
                <a:latin typeface="Arial" panose="020B0604020202020204" pitchFamily="34" charset="0"/>
                <a:cs typeface="Times New Roman" panose="02020603050405020304" pitchFamily="18" charset="0"/>
              </a:rPr>
            </a:br>
            <a:endParaRPr sz="1600" dirty="0">
              <a:latin typeface="Arial" panose="020B0604020202020204" pitchFamily="34" charset="0"/>
            </a:endParaRPr>
          </a:p>
        </p:txBody>
      </p:sp>
      <p:sp>
        <p:nvSpPr>
          <p:cNvPr id="96259"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fld id="{9A0DB2DC-4C9A-4742-B13C-FB6460FD3503}" type="slidenum">
              <a:rPr lang="en-US" sz="1400" b="1" dirty="0">
                <a:solidFill>
                  <a:srgbClr val="FFFFFF"/>
                </a:solidFill>
                <a:latin typeface="Century Schoolbook" panose="02040604050505020304" pitchFamily="18" charset="0"/>
              </a:rPr>
            </a:fld>
            <a:endParaRPr lang="en-US" sz="1400" b="1" dirty="0">
              <a:solidFill>
                <a:srgbClr val="FFFFFF"/>
              </a:solidFill>
              <a:latin typeface="Century Schoolbook" panose="020406040505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32753</Words>
  <Application>WPS Presentation</Application>
  <PresentationFormat>On-screen Show (4:3)</PresentationFormat>
  <Paragraphs>819</Paragraphs>
  <Slides>81</Slides>
  <Notes>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81</vt:i4>
      </vt:variant>
    </vt:vector>
  </HeadingPairs>
  <TitlesOfParts>
    <vt:vector size="95" baseType="lpstr">
      <vt:lpstr>Arial</vt:lpstr>
      <vt:lpstr>SimSun</vt:lpstr>
      <vt:lpstr>Wingdings</vt:lpstr>
      <vt:lpstr>Century Schoolbook</vt:lpstr>
      <vt:lpstr>Wingdings 2</vt:lpstr>
      <vt:lpstr>Calibri</vt:lpstr>
      <vt:lpstr>Times New Roman</vt:lpstr>
      <vt:lpstr>+mj-lt</vt:lpstr>
      <vt:lpstr>Segoe Print</vt:lpstr>
      <vt:lpstr>Wingdings</vt:lpstr>
      <vt:lpstr>Microsoft YaHei</vt:lpstr>
      <vt:lpstr>Arial Unicode MS</vt:lpstr>
      <vt:lpstr>Times New Roman</vt:lpstr>
      <vt:lpstr>Oriel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Technology &amp; Agrarian development</dc:title>
  <dc:creator>mwakalobo</dc:creator>
  <cp:lastModifiedBy>ANNA</cp:lastModifiedBy>
  <cp:revision>348</cp:revision>
  <cp:lastPrinted>2017-03-31T08:59:48Z</cp:lastPrinted>
  <dcterms:created xsi:type="dcterms:W3CDTF">2012-03-16T09:30:42Z</dcterms:created>
  <dcterms:modified xsi:type="dcterms:W3CDTF">2026-04-23T07:55:56Z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F596AA8D43E7425DAF8F192340A97DD5_13</vt:lpwstr>
  </property>
  <property fmtid="{D5CDD505-2E9C-101B-9397-08002B2CF9AE}" pid="3" name="KSOProductBuildVer">
    <vt:lpwstr>1033-12.1.0.25242</vt:lpwstr>
  </property>
</Properties>
</file>