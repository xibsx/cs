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346" r:id="rId2"/>
    <p:sldId id="263" r:id="rId3"/>
    <p:sldId id="301" r:id="rId4"/>
    <p:sldId id="322" r:id="rId5"/>
    <p:sldId id="344" r:id="rId6"/>
    <p:sldId id="345" r:id="rId7"/>
    <p:sldId id="319" r:id="rId8"/>
    <p:sldId id="340" r:id="rId9"/>
    <p:sldId id="341" r:id="rId10"/>
    <p:sldId id="338" r:id="rId11"/>
    <p:sldId id="324" r:id="rId12"/>
    <p:sldId id="327" r:id="rId13"/>
    <p:sldId id="330" r:id="rId14"/>
    <p:sldId id="331" r:id="rId15"/>
    <p:sldId id="332" r:id="rId16"/>
    <p:sldId id="320" r:id="rId17"/>
    <p:sldId id="342" r:id="rId18"/>
    <p:sldId id="383" r:id="rId19"/>
    <p:sldId id="379" r:id="rId20"/>
    <p:sldId id="380" r:id="rId21"/>
    <p:sldId id="381" r:id="rId22"/>
    <p:sldId id="378" r:id="rId23"/>
    <p:sldId id="384" r:id="rId24"/>
    <p:sldId id="388" r:id="rId25"/>
    <p:sldId id="385" r:id="rId26"/>
    <p:sldId id="386" r:id="rId27"/>
    <p:sldId id="387" r:id="rId28"/>
    <p:sldId id="314" r:id="rId29"/>
    <p:sldId id="316" r:id="rId30"/>
    <p:sldId id="373" r:id="rId31"/>
    <p:sldId id="390" r:id="rId32"/>
    <p:sldId id="348" r:id="rId33"/>
    <p:sldId id="351" r:id="rId34"/>
    <p:sldId id="352" r:id="rId35"/>
    <p:sldId id="353" r:id="rId36"/>
    <p:sldId id="354" r:id="rId37"/>
    <p:sldId id="355" r:id="rId38"/>
    <p:sldId id="356" r:id="rId39"/>
    <p:sldId id="357" r:id="rId40"/>
    <p:sldId id="358" r:id="rId41"/>
    <p:sldId id="359" r:id="rId42"/>
    <p:sldId id="360" r:id="rId43"/>
    <p:sldId id="361" r:id="rId44"/>
    <p:sldId id="362" r:id="rId45"/>
    <p:sldId id="363" r:id="rId46"/>
    <p:sldId id="364" r:id="rId47"/>
    <p:sldId id="366" r:id="rId48"/>
    <p:sldId id="367" r:id="rId49"/>
    <p:sldId id="368" r:id="rId50"/>
    <p:sldId id="393" r:id="rId51"/>
    <p:sldId id="430" r:id="rId52"/>
    <p:sldId id="428" r:id="rId53"/>
    <p:sldId id="397" r:id="rId54"/>
    <p:sldId id="371"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BB4333-E542-4A19-B4EB-3379EC1C6672}" type="datetimeFigureOut">
              <a:rPr lang="en-US" smtClean="0"/>
              <a:t>2/4/2022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78744-E8CA-430A-8368-11FC2166D2F7}" type="slidenum">
              <a:rPr lang="en-US" smtClean="0"/>
              <a:t>‹#›</a:t>
            </a:fld>
            <a:endParaRPr lang="en-US"/>
          </a:p>
        </p:txBody>
      </p:sp>
    </p:spTree>
    <p:extLst>
      <p:ext uri="{BB962C8B-B14F-4D97-AF65-F5344CB8AC3E}">
        <p14:creationId xmlns:p14="http://schemas.microsoft.com/office/powerpoint/2010/main" val="2391840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p:spPr>
      </p:sp>
      <p:sp>
        <p:nvSpPr>
          <p:cNvPr id="9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buFont typeface="Wingdings" panose="05000000000000000000" pitchFamily="2" charset="2"/>
              <a:buNone/>
            </a:pPr>
            <a:endParaRPr lang="en-US" smtClean="0">
              <a:latin typeface="Arial" panose="020B0604020202020204" pitchFamily="34" charset="0"/>
            </a:endParaRPr>
          </a:p>
        </p:txBody>
      </p:sp>
      <p:sp>
        <p:nvSpPr>
          <p:cNvPr id="9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84D60BC-AD5B-4E3A-840C-7BF07FBC14DB}" type="slidenum">
              <a:rPr lang="en-US" smtClean="0"/>
              <a:pPr>
                <a:spcBef>
                  <a:spcPct val="0"/>
                </a:spcBef>
              </a:pPr>
              <a:t>33</a:t>
            </a:fld>
            <a:endParaRPr lang="en-US" smtClean="0"/>
          </a:p>
        </p:txBody>
      </p:sp>
    </p:spTree>
    <p:extLst>
      <p:ext uri="{BB962C8B-B14F-4D97-AF65-F5344CB8AC3E}">
        <p14:creationId xmlns:p14="http://schemas.microsoft.com/office/powerpoint/2010/main" val="4281569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panose="020B0604020202020204" pitchFamily="34" charset="0"/>
            </a:endParaRPr>
          </a:p>
        </p:txBody>
      </p:sp>
      <p:sp>
        <p:nvSpPr>
          <p:cNvPr id="19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2C0491E-E240-48B5-A3A5-175A30776585}" type="slidenum">
              <a:rPr lang="en-US" smtClean="0"/>
              <a:pPr>
                <a:spcBef>
                  <a:spcPct val="0"/>
                </a:spcBef>
              </a:pPr>
              <a:t>42</a:t>
            </a:fld>
            <a:endParaRPr lang="en-US" smtClean="0"/>
          </a:p>
        </p:txBody>
      </p:sp>
    </p:spTree>
    <p:extLst>
      <p:ext uri="{BB962C8B-B14F-4D97-AF65-F5344CB8AC3E}">
        <p14:creationId xmlns:p14="http://schemas.microsoft.com/office/powerpoint/2010/main" val="3331995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326031D-715C-4572-8921-FEBAE7CC4107}" type="slidenum">
              <a:rPr lang="en-US" smtClean="0"/>
              <a:pPr>
                <a:spcBef>
                  <a:spcPct val="0"/>
                </a:spcBef>
              </a:pPr>
              <a:t>43</a:t>
            </a:fld>
            <a:endParaRPr lang="en-US" smtClean="0"/>
          </a:p>
        </p:txBody>
      </p:sp>
    </p:spTree>
    <p:extLst>
      <p:ext uri="{BB962C8B-B14F-4D97-AF65-F5344CB8AC3E}">
        <p14:creationId xmlns:p14="http://schemas.microsoft.com/office/powerpoint/2010/main" val="2887696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None/>
            </a:pPr>
            <a:endParaRPr lang="en-US" smtClean="0">
              <a:latin typeface="Arial" panose="020B0604020202020204" pitchFamily="34" charset="0"/>
            </a:endParaRPr>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A51069-0FCB-412A-87B5-1DEFCE5BA6EF}" type="slidenum">
              <a:rPr lang="en-US" smtClean="0"/>
              <a:pPr>
                <a:spcBef>
                  <a:spcPct val="0"/>
                </a:spcBef>
              </a:pPr>
              <a:t>44</a:t>
            </a:fld>
            <a:endParaRPr lang="en-US" smtClean="0"/>
          </a:p>
        </p:txBody>
      </p:sp>
    </p:spTree>
    <p:extLst>
      <p:ext uri="{BB962C8B-B14F-4D97-AF65-F5344CB8AC3E}">
        <p14:creationId xmlns:p14="http://schemas.microsoft.com/office/powerpoint/2010/main" val="1478837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None/>
            </a:pPr>
            <a:endParaRPr lang="en-US" smtClean="0">
              <a:latin typeface="Arial" panose="020B0604020202020204" pitchFamily="34" charset="0"/>
            </a:endParaRPr>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12B08A8-114D-4D3F-BFC2-E579113B9240}" type="slidenum">
              <a:rPr lang="en-US" smtClean="0"/>
              <a:pPr>
                <a:spcBef>
                  <a:spcPct val="0"/>
                </a:spcBef>
              </a:pPr>
              <a:t>45</a:t>
            </a:fld>
            <a:endParaRPr lang="en-US" smtClean="0"/>
          </a:p>
        </p:txBody>
      </p:sp>
    </p:spTree>
    <p:extLst>
      <p:ext uri="{BB962C8B-B14F-4D97-AF65-F5344CB8AC3E}">
        <p14:creationId xmlns:p14="http://schemas.microsoft.com/office/powerpoint/2010/main" val="1418612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None/>
            </a:pPr>
            <a:endParaRPr lang="en-US" smtClean="0">
              <a:latin typeface="Arial" panose="020B0604020202020204" pitchFamily="34" charset="0"/>
            </a:endParaRPr>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C061664-08B5-45AA-9BE2-6E813FD72617}" type="slidenum">
              <a:rPr lang="en-US" smtClean="0"/>
              <a:pPr>
                <a:spcBef>
                  <a:spcPct val="0"/>
                </a:spcBef>
              </a:pPr>
              <a:t>46</a:t>
            </a:fld>
            <a:endParaRPr lang="en-US" smtClean="0"/>
          </a:p>
        </p:txBody>
      </p:sp>
    </p:spTree>
    <p:extLst>
      <p:ext uri="{BB962C8B-B14F-4D97-AF65-F5344CB8AC3E}">
        <p14:creationId xmlns:p14="http://schemas.microsoft.com/office/powerpoint/2010/main" val="4089693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None/>
            </a:pPr>
            <a:endParaRPr lang="en-US" smtClean="0">
              <a:latin typeface="Arial" panose="020B0604020202020204"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B2EABF4-8AF9-4458-BC68-32E81360A780}" type="slidenum">
              <a:rPr lang="en-US" smtClean="0"/>
              <a:pPr>
                <a:spcBef>
                  <a:spcPct val="0"/>
                </a:spcBef>
              </a:pPr>
              <a:t>47</a:t>
            </a:fld>
            <a:endParaRPr lang="en-US" smtClean="0"/>
          </a:p>
        </p:txBody>
      </p:sp>
    </p:spTree>
    <p:extLst>
      <p:ext uri="{BB962C8B-B14F-4D97-AF65-F5344CB8AC3E}">
        <p14:creationId xmlns:p14="http://schemas.microsoft.com/office/powerpoint/2010/main" val="596420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panose="020B0604020202020204" pitchFamily="34" charset="0"/>
            </a:endParaRP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01EE348-27D5-4DAB-BA3B-9341AAFC8757}" type="slidenum">
              <a:rPr lang="en-US" smtClean="0"/>
              <a:pPr>
                <a:spcBef>
                  <a:spcPct val="0"/>
                </a:spcBef>
              </a:pPr>
              <a:t>48</a:t>
            </a:fld>
            <a:endParaRPr lang="en-US" smtClean="0"/>
          </a:p>
        </p:txBody>
      </p:sp>
    </p:spTree>
    <p:extLst>
      <p:ext uri="{BB962C8B-B14F-4D97-AF65-F5344CB8AC3E}">
        <p14:creationId xmlns:p14="http://schemas.microsoft.com/office/powerpoint/2010/main" val="1154299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3015569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211934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8F552-4CE5-4CD3-86C3-E5F745996489}" type="datetimeFigureOut">
              <a:rPr lang="en-US" smtClean="0"/>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1760879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18F552-4CE5-4CD3-86C3-E5F745996489}" type="datetimeFigureOut">
              <a:rPr lang="en-US" smtClean="0"/>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500625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18F552-4CE5-4CD3-86C3-E5F745996489}" type="datetimeFigureOut">
              <a:rPr lang="en-US" smtClean="0"/>
              <a:t>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4139918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18F552-4CE5-4CD3-86C3-E5F745996489}" type="datetimeFigureOut">
              <a:rPr lang="en-US" smtClean="0"/>
              <a:t>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206221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18F552-4CE5-4CD3-86C3-E5F745996489}" type="datetimeFigureOut">
              <a:rPr lang="en-US" smtClean="0"/>
              <a:t>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387004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8F552-4CE5-4CD3-86C3-E5F745996489}" type="datetimeFigureOut">
              <a:rPr lang="en-US" smtClean="0"/>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1625507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8F552-4CE5-4CD3-86C3-E5F745996489}" type="datetimeFigureOut">
              <a:rPr lang="en-US" smtClean="0"/>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2871189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347311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410795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8F552-4CE5-4CD3-86C3-E5F745996489}" type="datetimeFigureOut">
              <a:rPr lang="en-US" smtClean="0"/>
              <a:t>2/4/2022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28A83-0D84-4C50-8E37-8CE16DE84CA8}" type="slidenum">
              <a:rPr lang="en-US" smtClean="0"/>
              <a:t>‹#›</a:t>
            </a:fld>
            <a:endParaRPr lang="en-US"/>
          </a:p>
        </p:txBody>
      </p:sp>
    </p:spTree>
    <p:extLst>
      <p:ext uri="{BB962C8B-B14F-4D97-AF65-F5344CB8AC3E}">
        <p14:creationId xmlns:p14="http://schemas.microsoft.com/office/powerpoint/2010/main" val="3639571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nichd.nih.gov/health/topics/hiv/Pages/default.aspx"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medlineplus.gov/syphilis.html" TargetMode="External"/><Relationship Id="rId3" Type="http://schemas.openxmlformats.org/officeDocument/2006/relationships/hyperlink" Target="https://medlineplus.gov/genitalherpes.html" TargetMode="External"/><Relationship Id="rId7" Type="http://schemas.openxmlformats.org/officeDocument/2006/relationships/hyperlink" Target="https://medlineplus.gov/pubiclice.html" TargetMode="External"/><Relationship Id="rId2" Type="http://schemas.openxmlformats.org/officeDocument/2006/relationships/hyperlink" Target="https://medlineplus.gov/chlamydiainfections.html" TargetMode="External"/><Relationship Id="rId1" Type="http://schemas.openxmlformats.org/officeDocument/2006/relationships/slideLayout" Target="../slideLayouts/slideLayout2.xml"/><Relationship Id="rId6" Type="http://schemas.openxmlformats.org/officeDocument/2006/relationships/hyperlink" Target="https://medlineplus.gov/hpv.html" TargetMode="External"/><Relationship Id="rId5" Type="http://schemas.openxmlformats.org/officeDocument/2006/relationships/hyperlink" Target="https://medlineplus.gov/hivaids.html" TargetMode="External"/><Relationship Id="rId4" Type="http://schemas.openxmlformats.org/officeDocument/2006/relationships/hyperlink" Target="https://medlineplus.gov/gonorrhea.html" TargetMode="External"/><Relationship Id="rId9" Type="http://schemas.openxmlformats.org/officeDocument/2006/relationships/hyperlink" Target="https://medlineplus.gov/trichomoniasis.html" TargetMode="External"/></Relationships>
</file>

<file path=ppt/slides/_rels/slide37.xml.rels><?xml version="1.0" encoding="UTF-8" standalone="yes"?>
<Relationships xmlns="http://schemas.openxmlformats.org/package/2006/relationships"><Relationship Id="rId2" Type="http://schemas.openxmlformats.org/officeDocument/2006/relationships/hyperlink" Target="https://medlineplus.gov/hivaidsandpregnancy.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i="1" dirty="0"/>
              <a:t>Lecture on </a:t>
            </a:r>
            <a:r>
              <a:rPr lang="en-US" b="1" i="1" dirty="0" smtClean="0"/>
              <a:t>Demography</a:t>
            </a:r>
            <a:br>
              <a:rPr lang="en-US" b="1" i="1" dirty="0" smtClean="0"/>
            </a:br>
            <a:r>
              <a:rPr lang="en-US" dirty="0" smtClean="0"/>
              <a:t/>
            </a:r>
            <a:br>
              <a:rPr lang="en-US" dirty="0" smtClean="0"/>
            </a:br>
            <a:r>
              <a:rPr lang="en-US" b="1" dirty="0" smtClean="0"/>
              <a:t/>
            </a:r>
            <a:br>
              <a:rPr lang="en-US" b="1" dirty="0" smtClean="0"/>
            </a:br>
            <a:endParaRPr lang="en-US" dirty="0"/>
          </a:p>
        </p:txBody>
      </p:sp>
      <p:sp>
        <p:nvSpPr>
          <p:cNvPr id="3" name="Subtitle 2"/>
          <p:cNvSpPr>
            <a:spLocks noGrp="1"/>
          </p:cNvSpPr>
          <p:nvPr>
            <p:ph type="subTitle" idx="1"/>
          </p:nvPr>
        </p:nvSpPr>
        <p:spPr>
          <a:xfrm>
            <a:off x="1295400" y="4191000"/>
            <a:ext cx="6400800" cy="1524000"/>
          </a:xfrm>
        </p:spPr>
        <p:txBody>
          <a:bodyPr>
            <a:normAutofit/>
          </a:bodyPr>
          <a:lstStyle/>
          <a:p>
            <a:endParaRPr lang="en-US" sz="2000" dirty="0" smtClean="0"/>
          </a:p>
          <a:p>
            <a:endParaRPr lang="en-US" sz="2000" dirty="0"/>
          </a:p>
          <a:p>
            <a:r>
              <a:rPr lang="en-US" sz="2000" dirty="0" smtClean="0">
                <a:solidFill>
                  <a:schemeClr val="accent5">
                    <a:lumMod val="50000"/>
                  </a:schemeClr>
                </a:solidFill>
              </a:rPr>
              <a:t>Course Instructor; </a:t>
            </a:r>
            <a:r>
              <a:rPr lang="en-US" sz="2000" dirty="0" err="1" smtClean="0">
                <a:solidFill>
                  <a:schemeClr val="accent5">
                    <a:lumMod val="50000"/>
                  </a:schemeClr>
                </a:solidFill>
              </a:rPr>
              <a:t>Mrisho</a:t>
            </a:r>
            <a:r>
              <a:rPr lang="en-US" sz="2000" dirty="0" smtClean="0">
                <a:solidFill>
                  <a:schemeClr val="accent5">
                    <a:lumMod val="50000"/>
                  </a:schemeClr>
                </a:solidFill>
              </a:rPr>
              <a:t> </a:t>
            </a:r>
            <a:r>
              <a:rPr lang="en-US" sz="2000" dirty="0" err="1" smtClean="0">
                <a:solidFill>
                  <a:schemeClr val="accent5">
                    <a:lumMod val="50000"/>
                  </a:schemeClr>
                </a:solidFill>
              </a:rPr>
              <a:t>Ayoub</a:t>
            </a:r>
            <a:r>
              <a:rPr lang="en-US" sz="2000" dirty="0" smtClean="0">
                <a:solidFill>
                  <a:schemeClr val="accent5">
                    <a:lumMod val="50000"/>
                  </a:schemeClr>
                </a:solidFill>
              </a:rPr>
              <a:t> J.</a:t>
            </a:r>
          </a:p>
        </p:txBody>
      </p:sp>
    </p:spTree>
    <p:extLst>
      <p:ext uri="{BB962C8B-B14F-4D97-AF65-F5344CB8AC3E}">
        <p14:creationId xmlns:p14="http://schemas.microsoft.com/office/powerpoint/2010/main" val="39473296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pPr algn="l"/>
            <a:r>
              <a:rPr lang="en-US" dirty="0" smtClean="0"/>
              <a:t>Introduction </a:t>
            </a:r>
            <a:endParaRPr lang="en-US" dirty="0"/>
          </a:p>
        </p:txBody>
      </p:sp>
      <p:sp>
        <p:nvSpPr>
          <p:cNvPr id="3" name="Content Placeholder 2"/>
          <p:cNvSpPr>
            <a:spLocks noGrp="1"/>
          </p:cNvSpPr>
          <p:nvPr>
            <p:ph idx="1"/>
          </p:nvPr>
        </p:nvSpPr>
        <p:spPr>
          <a:xfrm>
            <a:off x="457200" y="1143000"/>
            <a:ext cx="8229600" cy="5410200"/>
          </a:xfrm>
        </p:spPr>
        <p:txBody>
          <a:bodyPr>
            <a:normAutofit/>
          </a:bodyPr>
          <a:lstStyle/>
          <a:p>
            <a:r>
              <a:rPr lang="en-US" dirty="0" smtClean="0"/>
              <a:t>Demography </a:t>
            </a:r>
            <a:r>
              <a:rPr lang="en-US" dirty="0"/>
              <a:t>is the study of the vital statistics of a population and how they change over time</a:t>
            </a:r>
          </a:p>
          <a:p>
            <a:r>
              <a:rPr lang="en-US" dirty="0"/>
              <a:t>Death rates and birth rates</a:t>
            </a:r>
          </a:p>
          <a:p>
            <a:pPr lvl="1"/>
            <a:r>
              <a:rPr lang="en-US" dirty="0"/>
              <a:t>Are of particular interest to demographers</a:t>
            </a:r>
          </a:p>
          <a:p>
            <a:pPr marL="0" indent="0">
              <a:buNone/>
            </a:pPr>
            <a:endParaRPr lang="en-US" dirty="0" smtClean="0"/>
          </a:p>
          <a:p>
            <a:r>
              <a:rPr lang="en-US" dirty="0" smtClean="0"/>
              <a:t>It is also defined as </a:t>
            </a:r>
            <a:r>
              <a:rPr lang="en-US" i="1" dirty="0" smtClean="0">
                <a:solidFill>
                  <a:srgbClr val="FF0000"/>
                </a:solidFill>
              </a:rPr>
              <a:t>the branch of sociology that studies human behavior by analyzing statistical information</a:t>
            </a:r>
          </a:p>
          <a:p>
            <a:endParaRPr lang="en-US" i="1" dirty="0" smtClean="0"/>
          </a:p>
          <a:p>
            <a:endParaRPr lang="en-US" i="1" dirty="0"/>
          </a:p>
          <a:p>
            <a:endParaRPr lang="en-US" i="1" dirty="0"/>
          </a:p>
        </p:txBody>
      </p:sp>
    </p:spTree>
    <p:extLst>
      <p:ext uri="{BB962C8B-B14F-4D97-AF65-F5344CB8AC3E}">
        <p14:creationId xmlns:p14="http://schemas.microsoft.com/office/powerpoint/2010/main" val="25985000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Introduction……</a:t>
            </a:r>
            <a:endParaRPr lang="en-US" b="1" dirty="0">
              <a:solidFill>
                <a:srgbClr val="FF0000"/>
              </a:solidFill>
            </a:endParaRPr>
          </a:p>
        </p:txBody>
      </p:sp>
      <p:sp>
        <p:nvSpPr>
          <p:cNvPr id="3" name="Content Placeholder 2"/>
          <p:cNvSpPr>
            <a:spLocks noGrp="1"/>
          </p:cNvSpPr>
          <p:nvPr>
            <p:ph idx="1"/>
          </p:nvPr>
        </p:nvSpPr>
        <p:spPr/>
        <p:txBody>
          <a:bodyPr>
            <a:normAutofit/>
          </a:bodyPr>
          <a:lstStyle/>
          <a:p>
            <a:pPr algn="just"/>
            <a:r>
              <a:rPr lang="en-US" dirty="0" smtClean="0"/>
              <a:t>It </a:t>
            </a:r>
            <a:r>
              <a:rPr lang="en-US" dirty="0"/>
              <a:t>comprises  a set of techniques by which data collected in </a:t>
            </a:r>
            <a:r>
              <a:rPr lang="en-US" b="1" i="1" dirty="0">
                <a:solidFill>
                  <a:srgbClr val="92D050"/>
                </a:solidFill>
              </a:rPr>
              <a:t>censuses, surveys and record-keeping</a:t>
            </a:r>
            <a:r>
              <a:rPr lang="en-US" dirty="0"/>
              <a:t> systems </a:t>
            </a:r>
            <a:r>
              <a:rPr lang="en-US" dirty="0" smtClean="0"/>
              <a:t>are </a:t>
            </a:r>
            <a:r>
              <a:rPr lang="en-US" dirty="0"/>
              <a:t>described, summarized and </a:t>
            </a:r>
            <a:r>
              <a:rPr lang="en-US" dirty="0" smtClean="0"/>
              <a:t>manipulated</a:t>
            </a:r>
          </a:p>
          <a:p>
            <a:pPr marL="0" indent="0">
              <a:buNone/>
            </a:pPr>
            <a:endParaRPr lang="en-US" dirty="0" smtClean="0"/>
          </a:p>
          <a:p>
            <a:r>
              <a:rPr lang="en-US" dirty="0" smtClean="0"/>
              <a:t>It </a:t>
            </a:r>
            <a:r>
              <a:rPr lang="en-US" dirty="0"/>
              <a:t>can analyzes population changes over time or space </a:t>
            </a:r>
            <a:r>
              <a:rPr lang="en-US" dirty="0" smtClean="0"/>
              <a:t> in </a:t>
            </a:r>
            <a:r>
              <a:rPr lang="en-US" dirty="0"/>
              <a:t>response to time, </a:t>
            </a:r>
            <a:r>
              <a:rPr lang="en-US" i="1" dirty="0">
                <a:solidFill>
                  <a:srgbClr val="FF0000"/>
                </a:solidFill>
              </a:rPr>
              <a:t>birth, migration, </a:t>
            </a:r>
            <a:r>
              <a:rPr lang="en-US" i="1" dirty="0" smtClean="0">
                <a:solidFill>
                  <a:srgbClr val="FF0000"/>
                </a:solidFill>
              </a:rPr>
              <a:t>and </a:t>
            </a:r>
            <a:r>
              <a:rPr lang="en-US" i="1" dirty="0">
                <a:solidFill>
                  <a:srgbClr val="FF0000"/>
                </a:solidFill>
              </a:rPr>
              <a:t>death.</a:t>
            </a:r>
          </a:p>
          <a:p>
            <a:endParaRPr lang="en-US" dirty="0"/>
          </a:p>
          <a:p>
            <a:endParaRPr lang="en-US" dirty="0"/>
          </a:p>
        </p:txBody>
      </p:sp>
    </p:spTree>
    <p:extLst>
      <p:ext uri="{BB962C8B-B14F-4D97-AF65-F5344CB8AC3E}">
        <p14:creationId xmlns:p14="http://schemas.microsoft.com/office/powerpoint/2010/main" val="12936687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34400" cy="1143000"/>
          </a:xfrm>
        </p:spPr>
        <p:txBody>
          <a:bodyPr>
            <a:normAutofit/>
          </a:bodyPr>
          <a:lstStyle/>
          <a:p>
            <a:r>
              <a:rPr lang="en-US" sz="3600" b="1" dirty="0">
                <a:solidFill>
                  <a:srgbClr val="92D050"/>
                </a:solidFill>
              </a:rPr>
              <a:t>Why studying Demography and population</a:t>
            </a:r>
          </a:p>
        </p:txBody>
      </p:sp>
      <p:sp>
        <p:nvSpPr>
          <p:cNvPr id="3" name="Content Placeholder 2"/>
          <p:cNvSpPr>
            <a:spLocks noGrp="1"/>
          </p:cNvSpPr>
          <p:nvPr>
            <p:ph idx="1"/>
          </p:nvPr>
        </p:nvSpPr>
        <p:spPr>
          <a:xfrm>
            <a:off x="457200" y="1219200"/>
            <a:ext cx="8305800" cy="5334000"/>
          </a:xfrm>
        </p:spPr>
        <p:txBody>
          <a:bodyPr>
            <a:normAutofit lnSpcReduction="10000"/>
          </a:bodyPr>
          <a:lstStyle/>
          <a:p>
            <a:r>
              <a:rPr lang="en-US" dirty="0" smtClean="0"/>
              <a:t>Demography as an academic discipline seeks to explore the dynamics of human populations in relation to the changes in </a:t>
            </a:r>
            <a:r>
              <a:rPr lang="en-US" i="1" dirty="0" smtClean="0">
                <a:solidFill>
                  <a:srgbClr val="FF0000"/>
                </a:solidFill>
              </a:rPr>
              <a:t>their sizes, structures and distributions.</a:t>
            </a:r>
            <a:endParaRPr lang="en-US" i="1" dirty="0">
              <a:solidFill>
                <a:srgbClr val="FF0000"/>
              </a:solidFill>
            </a:endParaRPr>
          </a:p>
          <a:p>
            <a:r>
              <a:rPr lang="en-US" dirty="0" smtClean="0"/>
              <a:t>Population changes have implications for the </a:t>
            </a:r>
            <a:r>
              <a:rPr lang="en-US" i="1" dirty="0" smtClean="0">
                <a:solidFill>
                  <a:srgbClr val="FF0000"/>
                </a:solidFill>
              </a:rPr>
              <a:t>environment, employment, family relations, health, </a:t>
            </a:r>
            <a:r>
              <a:rPr lang="en-US" i="1" dirty="0" smtClean="0"/>
              <a:t>and </a:t>
            </a:r>
            <a:r>
              <a:rPr lang="en-US" i="1" dirty="0" smtClean="0">
                <a:solidFill>
                  <a:srgbClr val="FF0000"/>
                </a:solidFill>
              </a:rPr>
              <a:t>urbanization</a:t>
            </a:r>
            <a:r>
              <a:rPr lang="en-US" dirty="0" smtClean="0"/>
              <a:t> </a:t>
            </a:r>
            <a:endParaRPr lang="en-US" dirty="0"/>
          </a:p>
          <a:p>
            <a:r>
              <a:rPr lang="en-US" dirty="0" smtClean="0"/>
              <a:t>The study of demography requires extensive and accurate data to be able to describe, analyses and understanding the population phenomenon </a:t>
            </a:r>
          </a:p>
        </p:txBody>
      </p:sp>
    </p:spTree>
    <p:extLst>
      <p:ext uri="{BB962C8B-B14F-4D97-AF65-F5344CB8AC3E}">
        <p14:creationId xmlns:p14="http://schemas.microsoft.com/office/powerpoint/2010/main" val="6255267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noAutofit/>
          </a:bodyPr>
          <a:lstStyle/>
          <a:p>
            <a:pPr algn="just"/>
            <a:r>
              <a:rPr lang="en-US" sz="2800" b="1" dirty="0" smtClean="0">
                <a:latin typeface="Times New Roman" pitchFamily="18" charset="0"/>
                <a:cs typeface="Times New Roman" pitchFamily="18" charset="0"/>
              </a:rPr>
              <a:t>Tanzania, Africa and World at large needs </a:t>
            </a:r>
            <a:r>
              <a:rPr lang="en-US" sz="2800" b="1" dirty="0">
                <a:latin typeface="Times New Roman" pitchFamily="18" charset="0"/>
                <a:cs typeface="Times New Roman" pitchFamily="18" charset="0"/>
              </a:rPr>
              <a:t>to address its numerous 21st century challenges. </a:t>
            </a:r>
            <a:endParaRPr lang="en-US" sz="2800" b="1" dirty="0" smtClean="0">
              <a:latin typeface="Times New Roman" pitchFamily="18" charset="0"/>
              <a:cs typeface="Times New Roman" pitchFamily="18" charset="0"/>
            </a:endParaRPr>
          </a:p>
          <a:p>
            <a:pPr marL="0" indent="0" algn="just">
              <a:buNone/>
            </a:pPr>
            <a:endParaRPr lang="en-US" sz="2800" b="1" dirty="0" smtClean="0">
              <a:latin typeface="Times New Roman" pitchFamily="18" charset="0"/>
              <a:cs typeface="Times New Roman" pitchFamily="18" charset="0"/>
            </a:endParaRPr>
          </a:p>
          <a:p>
            <a:pPr algn="just"/>
            <a:r>
              <a:rPr lang="en-US" sz="2800" b="1" dirty="0" smtClean="0">
                <a:solidFill>
                  <a:schemeClr val="accent2">
                    <a:lumMod val="50000"/>
                  </a:schemeClr>
                </a:solidFill>
                <a:latin typeface="Times New Roman" pitchFamily="18" charset="0"/>
                <a:cs typeface="Times New Roman" pitchFamily="18" charset="0"/>
              </a:rPr>
              <a:t>These </a:t>
            </a:r>
            <a:r>
              <a:rPr lang="en-US" sz="2800" b="1" dirty="0">
                <a:solidFill>
                  <a:schemeClr val="accent2">
                    <a:lumMod val="50000"/>
                  </a:schemeClr>
                </a:solidFill>
                <a:latin typeface="Times New Roman" pitchFamily="18" charset="0"/>
                <a:cs typeface="Times New Roman" pitchFamily="18" charset="0"/>
              </a:rPr>
              <a:t>include stemming the tide of HIV/AIDS, ensuring safe reproductive health, improving infant and child survival, managing migration and urbanization and expediting economic development while safeguarding the environment. </a:t>
            </a:r>
            <a:endParaRPr lang="en-US" sz="2800" b="1" dirty="0" smtClean="0">
              <a:solidFill>
                <a:schemeClr val="accent2">
                  <a:lumMod val="50000"/>
                </a:schemeClr>
              </a:solidFill>
              <a:latin typeface="Times New Roman" pitchFamily="18" charset="0"/>
              <a:cs typeface="Times New Roman" pitchFamily="18" charset="0"/>
            </a:endParaRPr>
          </a:p>
          <a:p>
            <a:pPr algn="just"/>
            <a:endParaRPr lang="en-US" sz="2800" b="1" dirty="0" smtClean="0">
              <a:solidFill>
                <a:schemeClr val="accent2">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945213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The interconnected nature of all these issues has necessitated the adoption of an interdisciplinary approach to tackling population problems. </a:t>
            </a:r>
          </a:p>
          <a:p>
            <a:pPr marL="0" indent="0" algn="just">
              <a:buNone/>
            </a:pP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For example, one cannot investigate the impact of HIV/AIDS on family structure without thinking about gender, unemployment, migration, etc.</a:t>
            </a:r>
          </a:p>
          <a:p>
            <a:endParaRPr lang="en-US" dirty="0"/>
          </a:p>
          <a:p>
            <a:endParaRPr lang="en-US" dirty="0"/>
          </a:p>
        </p:txBody>
      </p:sp>
    </p:spTree>
    <p:extLst>
      <p:ext uri="{BB962C8B-B14F-4D97-AF65-F5344CB8AC3E}">
        <p14:creationId xmlns:p14="http://schemas.microsoft.com/office/powerpoint/2010/main" val="2403278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a:xfrm>
            <a:off x="533400" y="304800"/>
            <a:ext cx="7924800" cy="533400"/>
          </a:xfrm>
        </p:spPr>
        <p:txBody>
          <a:bodyPr>
            <a:normAutofit fontScale="90000"/>
          </a:bodyPr>
          <a:lstStyle/>
          <a:p>
            <a:pPr eaLnBrk="1" fontAlgn="auto" hangingPunct="1">
              <a:spcAft>
                <a:spcPts val="0"/>
              </a:spcAft>
              <a:defRPr/>
            </a:pPr>
            <a:r>
              <a:rPr lang="en-US" sz="4000" b="1" dirty="0" smtClean="0">
                <a:solidFill>
                  <a:srgbClr val="FF0000"/>
                </a:solidFill>
              </a:rPr>
              <a:t>Population</a:t>
            </a:r>
            <a:endParaRPr lang="en-US" sz="4000" b="1" dirty="0">
              <a:solidFill>
                <a:srgbClr val="FF0000"/>
              </a:solidFill>
            </a:endParaRPr>
          </a:p>
        </p:txBody>
      </p:sp>
      <p:sp>
        <p:nvSpPr>
          <p:cNvPr id="12291" name="Rectangle 3"/>
          <p:cNvSpPr>
            <a:spLocks noGrp="1" noChangeArrowheads="1"/>
          </p:cNvSpPr>
          <p:nvPr>
            <p:ph sz="quarter" idx="1"/>
          </p:nvPr>
        </p:nvSpPr>
        <p:spPr>
          <a:xfrm>
            <a:off x="228600" y="838200"/>
            <a:ext cx="8686800" cy="6019800"/>
          </a:xfrm>
        </p:spPr>
        <p:txBody>
          <a:bodyPr>
            <a:noAutofit/>
          </a:bodyPr>
          <a:lstStyle/>
          <a:p>
            <a:pPr marL="508000" indent="-508000" algn="just" eaLnBrk="1" hangingPunct="1">
              <a:tabLst>
                <a:tab pos="568325" algn="l"/>
              </a:tabLst>
            </a:pPr>
            <a:r>
              <a:rPr lang="en-US" dirty="0" smtClean="0"/>
              <a:t>Population is the total number of human beings inhabiting a country, town or area at a given period of time at a moment.</a:t>
            </a:r>
            <a:endParaRPr lang="en-US" i="1" dirty="0" smtClean="0"/>
          </a:p>
          <a:p>
            <a:pPr marL="508000" indent="-508000" algn="just">
              <a:tabLst>
                <a:tab pos="568325" algn="l"/>
              </a:tabLst>
            </a:pPr>
            <a:r>
              <a:rPr lang="en-US" dirty="0"/>
              <a:t>A population is a group of individuals of the same species living in the same general </a:t>
            </a:r>
            <a:r>
              <a:rPr lang="en-US" dirty="0" smtClean="0"/>
              <a:t>area</a:t>
            </a:r>
          </a:p>
          <a:p>
            <a:pPr marL="0" indent="0" algn="just">
              <a:buNone/>
              <a:tabLst>
                <a:tab pos="568325" algn="l"/>
              </a:tabLst>
            </a:pPr>
            <a:endParaRPr lang="en-US" dirty="0" smtClean="0"/>
          </a:p>
          <a:p>
            <a:pPr marL="508000" indent="-508000" algn="just">
              <a:tabLst>
                <a:tab pos="568325" algn="l"/>
              </a:tabLst>
            </a:pPr>
            <a:r>
              <a:rPr lang="en-US" b="1" dirty="0" smtClean="0">
                <a:solidFill>
                  <a:srgbClr val="FF0000"/>
                </a:solidFill>
              </a:rPr>
              <a:t>Population size</a:t>
            </a:r>
            <a:r>
              <a:rPr lang="en-US" dirty="0" smtClean="0">
                <a:solidFill>
                  <a:srgbClr val="FF0000"/>
                </a:solidFill>
              </a:rPr>
              <a:t>; </a:t>
            </a:r>
            <a:r>
              <a:rPr lang="en-US" dirty="0" smtClean="0"/>
              <a:t>is simply the number of individual human in a population</a:t>
            </a:r>
          </a:p>
          <a:p>
            <a:pPr marL="508000" indent="-508000" algn="just">
              <a:tabLst>
                <a:tab pos="568325" algn="l"/>
              </a:tabLst>
            </a:pPr>
            <a:r>
              <a:rPr lang="en-US" b="1" dirty="0" smtClean="0">
                <a:solidFill>
                  <a:srgbClr val="FF0000"/>
                </a:solidFill>
              </a:rPr>
              <a:t>Population distribution;</a:t>
            </a:r>
            <a:r>
              <a:rPr lang="en-US" dirty="0" smtClean="0">
                <a:solidFill>
                  <a:srgbClr val="FF0000"/>
                </a:solidFill>
              </a:rPr>
              <a:t> </a:t>
            </a:r>
            <a:r>
              <a:rPr lang="en-US" dirty="0" smtClean="0"/>
              <a:t>is the spread of people across the world, i.e. where do people live</a:t>
            </a:r>
          </a:p>
          <a:p>
            <a:pPr marL="508000" indent="-508000" algn="just">
              <a:tabLst>
                <a:tab pos="568325" algn="l"/>
              </a:tabLst>
            </a:pPr>
            <a:endParaRPr lang="en-US" dirty="0" smtClean="0"/>
          </a:p>
          <a:p>
            <a:pPr marL="508000" indent="-508000" algn="just">
              <a:tabLst>
                <a:tab pos="568325" algn="l"/>
              </a:tabLst>
            </a:pPr>
            <a:endParaRPr lang="en-US" dirty="0" smtClean="0"/>
          </a:p>
          <a:p>
            <a:pPr marL="508000" indent="-508000" algn="just">
              <a:tabLst>
                <a:tab pos="568325" algn="l"/>
              </a:tabLst>
            </a:pPr>
            <a:endParaRPr lang="en-US" dirty="0"/>
          </a:p>
        </p:txBody>
      </p:sp>
    </p:spTree>
    <p:extLst>
      <p:ext uri="{BB962C8B-B14F-4D97-AF65-F5344CB8AC3E}">
        <p14:creationId xmlns:p14="http://schemas.microsoft.com/office/powerpoint/2010/main" val="1624718425"/>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l="5948" t="19809" r="37709" b="23389"/>
          <a:stretch/>
        </p:blipFill>
        <p:spPr bwMode="auto">
          <a:xfrm>
            <a:off x="990600" y="762000"/>
            <a:ext cx="7467600" cy="54427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a:ext>
          </a:extLst>
        </p:spPr>
      </p:pic>
      <p:sp>
        <p:nvSpPr>
          <p:cNvPr id="5" name="Rectangle 4"/>
          <p:cNvSpPr/>
          <p:nvPr/>
        </p:nvSpPr>
        <p:spPr>
          <a:xfrm>
            <a:off x="838200" y="6258730"/>
            <a:ext cx="6934200" cy="369332"/>
          </a:xfrm>
          <a:prstGeom prst="rect">
            <a:avLst/>
          </a:prstGeom>
        </p:spPr>
        <p:txBody>
          <a:bodyPr wrap="square">
            <a:spAutoFit/>
          </a:bodyPr>
          <a:lstStyle/>
          <a:p>
            <a:r>
              <a:rPr lang="en-US" dirty="0" smtClean="0"/>
              <a:t>http://www.worldometers.info/world-population/</a:t>
            </a:r>
            <a:endParaRPr lang="en-US" dirty="0"/>
          </a:p>
        </p:txBody>
      </p:sp>
      <p:sp>
        <p:nvSpPr>
          <p:cNvPr id="3" name="Title 2"/>
          <p:cNvSpPr>
            <a:spLocks noGrp="1"/>
          </p:cNvSpPr>
          <p:nvPr>
            <p:ph type="title"/>
          </p:nvPr>
        </p:nvSpPr>
        <p:spPr>
          <a:xfrm>
            <a:off x="152400" y="228600"/>
            <a:ext cx="8229600" cy="441767"/>
          </a:xfrm>
        </p:spPr>
        <p:txBody>
          <a:bodyPr>
            <a:normAutofit fontScale="90000"/>
          </a:bodyPr>
          <a:lstStyle/>
          <a:p>
            <a:pPr algn="l"/>
            <a:r>
              <a:rPr lang="en-US" dirty="0" smtClean="0"/>
              <a:t>Distribution</a:t>
            </a:r>
            <a:endParaRPr lang="en-US" dirty="0"/>
          </a:p>
        </p:txBody>
      </p:sp>
    </p:spTree>
    <p:extLst>
      <p:ext uri="{BB962C8B-B14F-4D97-AF65-F5344CB8AC3E}">
        <p14:creationId xmlns:p14="http://schemas.microsoft.com/office/powerpoint/2010/main" val="1106315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487362"/>
          </a:xfrm>
        </p:spPr>
        <p:txBody>
          <a:bodyPr>
            <a:normAutofit fontScale="90000"/>
          </a:bodyPr>
          <a:lstStyle/>
          <a:p>
            <a:pPr algn="l"/>
            <a:r>
              <a:rPr lang="en-US" dirty="0" smtClean="0"/>
              <a:t>Distribution</a:t>
            </a:r>
            <a:endParaRPr lang="en-US" dirty="0"/>
          </a:p>
        </p:txBody>
      </p:sp>
      <p:pic>
        <p:nvPicPr>
          <p:cNvPr id="512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653" t="31136" r="70555" b="8765"/>
          <a:stretch/>
        </p:blipFill>
        <p:spPr bwMode="auto">
          <a:xfrm>
            <a:off x="1752600" y="825491"/>
            <a:ext cx="4267200" cy="52484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
        <p:nvSpPr>
          <p:cNvPr id="3" name="Oval 2"/>
          <p:cNvSpPr/>
          <p:nvPr/>
        </p:nvSpPr>
        <p:spPr>
          <a:xfrm>
            <a:off x="2286000" y="3183038"/>
            <a:ext cx="35814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2101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dirty="0" smtClean="0"/>
              <a:t>Pop </a:t>
            </a:r>
            <a:r>
              <a:rPr lang="en-US" dirty="0" err="1" smtClean="0"/>
              <a:t>Cont</a:t>
            </a:r>
            <a:r>
              <a:rPr lang="en-US" dirty="0" smtClean="0"/>
              <a:t>…..</a:t>
            </a:r>
            <a:endParaRPr lang="en-US" dirty="0"/>
          </a:p>
        </p:txBody>
      </p:sp>
      <p:sp>
        <p:nvSpPr>
          <p:cNvPr id="3" name="Content Placeholder 2"/>
          <p:cNvSpPr>
            <a:spLocks noGrp="1"/>
          </p:cNvSpPr>
          <p:nvPr>
            <p:ph idx="1"/>
          </p:nvPr>
        </p:nvSpPr>
        <p:spPr>
          <a:xfrm>
            <a:off x="304800" y="685800"/>
            <a:ext cx="8610600" cy="5867400"/>
          </a:xfrm>
        </p:spPr>
        <p:txBody>
          <a:bodyPr>
            <a:normAutofit lnSpcReduction="10000"/>
          </a:bodyPr>
          <a:lstStyle/>
          <a:p>
            <a:pPr marL="0" indent="0">
              <a:buNone/>
            </a:pPr>
            <a:r>
              <a:rPr lang="en-US" sz="3300" dirty="0"/>
              <a:t> </a:t>
            </a:r>
            <a:endParaRPr lang="en-US" sz="3300" dirty="0" smtClean="0"/>
          </a:p>
          <a:p>
            <a:r>
              <a:rPr lang="en-US" sz="3600" b="1" dirty="0" smtClean="0">
                <a:solidFill>
                  <a:srgbClr val="FF0000"/>
                </a:solidFill>
              </a:rPr>
              <a:t>Population </a:t>
            </a:r>
            <a:r>
              <a:rPr lang="en-US" sz="3600" b="1" dirty="0">
                <a:solidFill>
                  <a:srgbClr val="FF0000"/>
                </a:solidFill>
              </a:rPr>
              <a:t>Structure</a:t>
            </a:r>
            <a:r>
              <a:rPr lang="en-US" sz="3600" dirty="0">
                <a:solidFill>
                  <a:srgbClr val="FF0000"/>
                </a:solidFill>
              </a:rPr>
              <a:t>; </a:t>
            </a:r>
            <a:r>
              <a:rPr lang="en-US" sz="3600" dirty="0"/>
              <a:t>is basically what makes up or composition of a population. </a:t>
            </a:r>
          </a:p>
          <a:p>
            <a:pPr marL="0" indent="0">
              <a:buNone/>
            </a:pPr>
            <a:endParaRPr lang="en-US" sz="3600" smtClean="0"/>
          </a:p>
          <a:p>
            <a:pPr marL="0" indent="0">
              <a:buNone/>
            </a:pPr>
            <a:r>
              <a:rPr lang="en-US" sz="3600" smtClean="0"/>
              <a:t>Population </a:t>
            </a:r>
            <a:r>
              <a:rPr lang="en-US" sz="3600" dirty="0"/>
              <a:t>structure of a place shows how the population is divided up between males and females of different age groups</a:t>
            </a:r>
          </a:p>
          <a:p>
            <a:r>
              <a:rPr lang="en-US" sz="3600" b="1" dirty="0">
                <a:solidFill>
                  <a:srgbClr val="FF0000"/>
                </a:solidFill>
              </a:rPr>
              <a:t>Population density;</a:t>
            </a:r>
            <a:r>
              <a:rPr lang="en-US" sz="3600" dirty="0">
                <a:solidFill>
                  <a:srgbClr val="FF0000"/>
                </a:solidFill>
              </a:rPr>
              <a:t> </a:t>
            </a:r>
            <a:r>
              <a:rPr lang="en-US" sz="3600" dirty="0"/>
              <a:t>is a measurement of population size per unit area/ population size divided by total land area</a:t>
            </a:r>
          </a:p>
          <a:p>
            <a:endParaRPr lang="en-US" sz="3300" dirty="0"/>
          </a:p>
          <a:p>
            <a:endParaRPr lang="en-US" sz="3300" dirty="0"/>
          </a:p>
          <a:p>
            <a:endParaRPr lang="en-US" dirty="0"/>
          </a:p>
          <a:p>
            <a:endParaRPr lang="en-US" dirty="0"/>
          </a:p>
        </p:txBody>
      </p:sp>
      <p:sp>
        <p:nvSpPr>
          <p:cNvPr id="4" name="TextBox 3"/>
          <p:cNvSpPr txBox="1"/>
          <p:nvPr/>
        </p:nvSpPr>
        <p:spPr>
          <a:xfrm>
            <a:off x="914400" y="3048000"/>
            <a:ext cx="8229600" cy="1371600"/>
          </a:xfrm>
          <a:prstGeom prst="rect">
            <a:avLst/>
          </a:prstGeom>
          <a:noFill/>
        </p:spPr>
        <p:txBody>
          <a:bodyPr wrap="square" rtlCol="0">
            <a:spAutoFit/>
          </a:bodyPr>
          <a:lstStyle/>
          <a:p>
            <a:endParaRPr lang="en-US" sz="2800" dirty="0" smtClean="0"/>
          </a:p>
          <a:p>
            <a:endParaRPr lang="en-US" dirty="0"/>
          </a:p>
          <a:p>
            <a:endParaRPr lang="en-US" dirty="0" smtClean="0"/>
          </a:p>
          <a:p>
            <a:endParaRPr lang="en-US" dirty="0"/>
          </a:p>
        </p:txBody>
      </p:sp>
    </p:spTree>
    <p:extLst>
      <p:ext uri="{BB962C8B-B14F-4D97-AF65-F5344CB8AC3E}">
        <p14:creationId xmlns:p14="http://schemas.microsoft.com/office/powerpoint/2010/main" val="14983970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66800"/>
          </a:xfrm>
        </p:spPr>
        <p:txBody>
          <a:bodyPr>
            <a:normAutofit/>
          </a:bodyPr>
          <a:lstStyle/>
          <a:p>
            <a:r>
              <a:rPr lang="en-US" sz="3200" dirty="0" smtClean="0"/>
              <a:t>World population situation</a:t>
            </a:r>
            <a:br>
              <a:rPr lang="en-US" sz="3200" dirty="0" smtClean="0"/>
            </a:br>
            <a:r>
              <a:rPr lang="en-US" sz="3200" dirty="0">
                <a:solidFill>
                  <a:srgbClr val="FF0000"/>
                </a:solidFill>
              </a:rPr>
              <a:t>(</a:t>
            </a:r>
            <a:r>
              <a:rPr lang="en-US" sz="3200" dirty="0" smtClean="0">
                <a:solidFill>
                  <a:srgbClr val="FF0000"/>
                </a:solidFill>
              </a:rPr>
              <a:t>Population Size and distribution)</a:t>
            </a:r>
            <a:endParaRPr lang="en-US" sz="3200" dirty="0">
              <a:solidFill>
                <a:srgbClr val="FF0000"/>
              </a:solidFill>
            </a:endParaRPr>
          </a:p>
        </p:txBody>
      </p:sp>
      <p:sp>
        <p:nvSpPr>
          <p:cNvPr id="3" name="Content Placeholder 2"/>
          <p:cNvSpPr>
            <a:spLocks noGrp="1"/>
          </p:cNvSpPr>
          <p:nvPr>
            <p:ph idx="1"/>
          </p:nvPr>
        </p:nvSpPr>
        <p:spPr>
          <a:xfrm>
            <a:off x="457200" y="1371600"/>
            <a:ext cx="8534400" cy="5181600"/>
          </a:xfrm>
        </p:spPr>
        <p:txBody>
          <a:bodyPr>
            <a:normAutofit lnSpcReduction="10000"/>
          </a:bodyPr>
          <a:lstStyle/>
          <a:p>
            <a:r>
              <a:rPr lang="en-US" dirty="0"/>
              <a:t>The world  human population </a:t>
            </a:r>
            <a:r>
              <a:rPr lang="en-US" dirty="0" smtClean="0"/>
              <a:t>is the </a:t>
            </a:r>
            <a:r>
              <a:rPr lang="en-US" dirty="0"/>
              <a:t>total number of living humans on </a:t>
            </a:r>
            <a:r>
              <a:rPr lang="en-US" dirty="0" smtClean="0"/>
              <a:t>Earth and majority </a:t>
            </a:r>
            <a:r>
              <a:rPr lang="en-US" dirty="0"/>
              <a:t>of People live in the developing world </a:t>
            </a:r>
          </a:p>
          <a:p>
            <a:endParaRPr lang="en-US" dirty="0"/>
          </a:p>
          <a:p>
            <a:r>
              <a:rPr lang="en-US" dirty="0"/>
              <a:t>The world's population is spread unevenly across the globe with small concentrations of large numbers of people living in the same area. </a:t>
            </a:r>
            <a:r>
              <a:rPr lang="en-US" dirty="0" smtClean="0"/>
              <a:t> Many </a:t>
            </a:r>
            <a:r>
              <a:rPr lang="en-US" dirty="0"/>
              <a:t>people today are living in cities </a:t>
            </a:r>
          </a:p>
          <a:p>
            <a:r>
              <a:rPr lang="en-US" dirty="0"/>
              <a:t>There are several </a:t>
            </a:r>
            <a:r>
              <a:rPr lang="en-US" b="1" dirty="0"/>
              <a:t>physical</a:t>
            </a:r>
            <a:r>
              <a:rPr lang="en-US" dirty="0"/>
              <a:t> and </a:t>
            </a:r>
            <a:r>
              <a:rPr lang="en-US" b="1" dirty="0"/>
              <a:t>human</a:t>
            </a:r>
            <a:r>
              <a:rPr lang="en-US" dirty="0"/>
              <a:t> factors to explain this</a:t>
            </a:r>
          </a:p>
          <a:p>
            <a:pPr marL="0" indent="0">
              <a:buNone/>
            </a:pPr>
            <a:endParaRPr lang="en-US" dirty="0" smtClean="0"/>
          </a:p>
        </p:txBody>
      </p:sp>
    </p:spTree>
    <p:extLst>
      <p:ext uri="{BB962C8B-B14F-4D97-AF65-F5344CB8AC3E}">
        <p14:creationId xmlns:p14="http://schemas.microsoft.com/office/powerpoint/2010/main" val="16073839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solidFill>
                  <a:srgbClr val="FF0000"/>
                </a:solidFill>
              </a:rPr>
              <a:t>Physical Factors</a:t>
            </a:r>
            <a:r>
              <a:rPr lang="en-US" b="1" dirty="0"/>
              <a:t/>
            </a:r>
            <a:br>
              <a:rPr lang="en-US" b="1" dirty="0"/>
            </a:br>
            <a:endParaRPr lang="en-US" dirty="0"/>
          </a:p>
        </p:txBody>
      </p:sp>
      <p:sp>
        <p:nvSpPr>
          <p:cNvPr id="3" name="Content Placeholder 2"/>
          <p:cNvSpPr>
            <a:spLocks noGrp="1"/>
          </p:cNvSpPr>
          <p:nvPr>
            <p:ph idx="1"/>
          </p:nvPr>
        </p:nvSpPr>
        <p:spPr>
          <a:xfrm>
            <a:off x="457200" y="990600"/>
            <a:ext cx="8229600" cy="5410200"/>
          </a:xfrm>
        </p:spPr>
        <p:txBody>
          <a:bodyPr>
            <a:normAutofit fontScale="92500" lnSpcReduction="10000"/>
          </a:bodyPr>
          <a:lstStyle/>
          <a:p>
            <a:pPr marL="0" indent="0">
              <a:buNone/>
            </a:pPr>
            <a:r>
              <a:rPr lang="en-US" b="1" dirty="0" smtClean="0"/>
              <a:t>Climate</a:t>
            </a:r>
            <a:endParaRPr lang="en-US" dirty="0" smtClean="0"/>
          </a:p>
          <a:p>
            <a:pPr>
              <a:buFont typeface="Wingdings" pitchFamily="2" charset="2"/>
              <a:buChar char="ü"/>
            </a:pPr>
            <a:r>
              <a:rPr lang="en-US" dirty="0" smtClean="0"/>
              <a:t>People prefer to live in temperate climates where there is enough rainfall and no extremes of temperature. A lack of fresh water for drinking or irrigation stops people living in an area.</a:t>
            </a:r>
          </a:p>
          <a:p>
            <a:pPr>
              <a:buFont typeface="Wingdings" pitchFamily="2" charset="2"/>
              <a:buChar char="ü"/>
            </a:pPr>
            <a:r>
              <a:rPr lang="en-US" dirty="0" smtClean="0"/>
              <a:t>Very high temperatures make farming difficult</a:t>
            </a:r>
          </a:p>
          <a:p>
            <a:pPr>
              <a:buFont typeface="Wingdings" pitchFamily="2" charset="2"/>
              <a:buChar char="ü"/>
            </a:pPr>
            <a:r>
              <a:rPr lang="en-US" dirty="0" smtClean="0"/>
              <a:t>Very cold temperatures make it difficult to grow crops. </a:t>
            </a:r>
          </a:p>
          <a:p>
            <a:pPr>
              <a:buFont typeface="Wingdings" pitchFamily="2" charset="2"/>
              <a:buChar char="ü"/>
            </a:pPr>
            <a:r>
              <a:rPr lang="en-US" dirty="0" smtClean="0"/>
              <a:t>Areas with high humidity are also uncomfortable places to live and can have disease such as malaria.</a:t>
            </a:r>
          </a:p>
          <a:p>
            <a:pPr marL="0" indent="0">
              <a:buNone/>
            </a:pPr>
            <a:endParaRPr lang="en-US" b="1" dirty="0" smtClean="0"/>
          </a:p>
          <a:p>
            <a:pPr marL="0" indent="0">
              <a:buNone/>
            </a:pPr>
            <a:endParaRPr lang="en-US" b="1" dirty="0"/>
          </a:p>
          <a:p>
            <a:pPr marL="0" indent="0">
              <a:buNone/>
            </a:pPr>
            <a:endParaRPr lang="en-US" b="1" dirty="0" smtClean="0"/>
          </a:p>
          <a:p>
            <a:pPr marL="0" indent="0">
              <a:buNone/>
            </a:pPr>
            <a:endParaRPr lang="en-US" b="1" dirty="0" smtClean="0"/>
          </a:p>
          <a:p>
            <a:endParaRPr lang="en-US" dirty="0"/>
          </a:p>
        </p:txBody>
      </p:sp>
    </p:spTree>
    <p:extLst>
      <p:ext uri="{BB962C8B-B14F-4D97-AF65-F5344CB8AC3E}">
        <p14:creationId xmlns:p14="http://schemas.microsoft.com/office/powerpoint/2010/main" val="35853545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i="1" dirty="0">
                <a:solidFill>
                  <a:srgbClr val="FF0000"/>
                </a:solidFill>
              </a:rPr>
              <a:t>Physical </a:t>
            </a:r>
            <a:r>
              <a:rPr lang="en-US" b="1" i="1" dirty="0" smtClean="0">
                <a:solidFill>
                  <a:srgbClr val="FF0000"/>
                </a:solidFill>
              </a:rPr>
              <a:t>Factors Cont..</a:t>
            </a:r>
            <a:endParaRPr lang="en-US" dirty="0"/>
          </a:p>
        </p:txBody>
      </p:sp>
      <p:sp>
        <p:nvSpPr>
          <p:cNvPr id="3" name="Content Placeholder 2"/>
          <p:cNvSpPr>
            <a:spLocks noGrp="1"/>
          </p:cNvSpPr>
          <p:nvPr>
            <p:ph idx="1"/>
          </p:nvPr>
        </p:nvSpPr>
        <p:spPr>
          <a:xfrm>
            <a:off x="457200" y="1143000"/>
            <a:ext cx="8229600" cy="4983163"/>
          </a:xfrm>
        </p:spPr>
        <p:txBody>
          <a:bodyPr>
            <a:normAutofit fontScale="92500"/>
          </a:bodyPr>
          <a:lstStyle/>
          <a:p>
            <a:pPr marL="0" indent="0">
              <a:buNone/>
            </a:pPr>
            <a:r>
              <a:rPr lang="en-US" b="1" dirty="0"/>
              <a:t>Relief</a:t>
            </a:r>
          </a:p>
          <a:p>
            <a:pPr>
              <a:buFont typeface="Wingdings" pitchFamily="2" charset="2"/>
              <a:buChar char="ü"/>
            </a:pPr>
            <a:r>
              <a:rPr lang="en-US" dirty="0"/>
              <a:t>Steep slopes make the use of machinery difficult.</a:t>
            </a:r>
          </a:p>
          <a:p>
            <a:pPr>
              <a:buFont typeface="Wingdings" pitchFamily="2" charset="2"/>
              <a:buChar char="ü"/>
            </a:pPr>
            <a:r>
              <a:rPr lang="en-US" dirty="0"/>
              <a:t>Steep slopes also make it difficult to build houses, roads and railways.</a:t>
            </a:r>
          </a:p>
          <a:p>
            <a:pPr>
              <a:buFont typeface="Wingdings" pitchFamily="2" charset="2"/>
              <a:buChar char="ü"/>
            </a:pPr>
            <a:r>
              <a:rPr lang="en-US" dirty="0"/>
              <a:t>High, mountainous areas are also cold making it difficult to grow crops.</a:t>
            </a:r>
          </a:p>
          <a:p>
            <a:pPr>
              <a:buFont typeface="Wingdings" pitchFamily="2" charset="2"/>
              <a:buChar char="ü"/>
            </a:pPr>
            <a:r>
              <a:rPr lang="en-US" dirty="0"/>
              <a:t>Soils in these areas are often thin and acidic too.</a:t>
            </a:r>
          </a:p>
          <a:p>
            <a:pPr>
              <a:buFont typeface="Wingdings" pitchFamily="2" charset="2"/>
              <a:buChar char="ü"/>
            </a:pPr>
            <a:r>
              <a:rPr lang="en-US" dirty="0"/>
              <a:t>High mountainous areas are often remote so are difficult to access.</a:t>
            </a:r>
          </a:p>
          <a:p>
            <a:pPr marL="0" indent="0">
              <a:buNone/>
            </a:pPr>
            <a:endParaRPr lang="en-US" dirty="0"/>
          </a:p>
          <a:p>
            <a:endParaRPr lang="en-US" dirty="0"/>
          </a:p>
        </p:txBody>
      </p:sp>
    </p:spTree>
    <p:extLst>
      <p:ext uri="{BB962C8B-B14F-4D97-AF65-F5344CB8AC3E}">
        <p14:creationId xmlns:p14="http://schemas.microsoft.com/office/powerpoint/2010/main" val="13483652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i="1" dirty="0">
                <a:solidFill>
                  <a:srgbClr val="FF0000"/>
                </a:solidFill>
              </a:rPr>
              <a:t>Physical </a:t>
            </a:r>
            <a:r>
              <a:rPr lang="en-US" b="1" i="1" dirty="0" smtClean="0">
                <a:solidFill>
                  <a:srgbClr val="FF0000"/>
                </a:solidFill>
              </a:rPr>
              <a:t>Factors </a:t>
            </a:r>
            <a:r>
              <a:rPr lang="en-US" b="1" i="1" dirty="0" err="1" smtClean="0">
                <a:solidFill>
                  <a:srgbClr val="FF0000"/>
                </a:solidFill>
              </a:rPr>
              <a:t>Cont</a:t>
            </a:r>
            <a:r>
              <a:rPr lang="en-US" b="1" i="1" dirty="0" smtClean="0">
                <a:solidFill>
                  <a:srgbClr val="FF0000"/>
                </a:solidFill>
              </a:rPr>
              <a:t>…</a:t>
            </a:r>
            <a:endParaRPr lang="en-US"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pPr marL="0" indent="0">
              <a:buNone/>
            </a:pPr>
            <a:r>
              <a:rPr lang="en-US" b="1" dirty="0" smtClean="0"/>
              <a:t>Natural Resource</a:t>
            </a:r>
          </a:p>
          <a:p>
            <a:pPr marL="0" indent="0">
              <a:buNone/>
            </a:pPr>
            <a:endParaRPr lang="en-US" b="1" dirty="0" smtClean="0"/>
          </a:p>
          <a:p>
            <a:pPr marL="0" indent="0">
              <a:buNone/>
            </a:pPr>
            <a:r>
              <a:rPr lang="en-US" dirty="0" smtClean="0"/>
              <a:t>Areas with few natural resources, e.g. coal, mean there is a lack of industry and therefore a lack of employment opportunities.</a:t>
            </a:r>
          </a:p>
          <a:p>
            <a:pPr marL="0" indent="0">
              <a:buNone/>
            </a:pPr>
            <a:r>
              <a:rPr lang="en-US" dirty="0" smtClean="0"/>
              <a:t>Scenery is a resource and can attract tourists therefore brings job opportunities.</a:t>
            </a:r>
          </a:p>
          <a:p>
            <a:pPr marL="0" indent="0">
              <a:buNone/>
            </a:pPr>
            <a:endParaRPr lang="en-US" b="1" dirty="0" smtClean="0"/>
          </a:p>
          <a:p>
            <a:pPr marL="0" indent="0">
              <a:buNone/>
            </a:pPr>
            <a:r>
              <a:rPr lang="en-US" b="1" dirty="0" smtClean="0"/>
              <a:t>Soils</a:t>
            </a:r>
          </a:p>
          <a:p>
            <a:pPr marL="0" indent="0">
              <a:buNone/>
            </a:pPr>
            <a:r>
              <a:rPr lang="en-US" dirty="0" smtClean="0"/>
              <a:t>Areas with fertile soils, e.g. river deltas, means that crops can be grown to feed the population.</a:t>
            </a:r>
          </a:p>
          <a:p>
            <a:pPr marL="0" indent="0">
              <a:buNone/>
            </a:pPr>
            <a:r>
              <a:rPr lang="en-US" dirty="0" smtClean="0"/>
              <a:t>Poor soils with few nutrients means there will be a low agricultural output.</a:t>
            </a:r>
          </a:p>
          <a:p>
            <a:pPr marL="0" indent="0">
              <a:buNone/>
            </a:pPr>
            <a:endParaRPr lang="en-US" b="1" dirty="0" smtClean="0"/>
          </a:p>
          <a:p>
            <a:pPr marL="0" indent="0">
              <a:buNone/>
            </a:pPr>
            <a:endParaRPr lang="en-US" b="1" dirty="0"/>
          </a:p>
          <a:p>
            <a:endParaRPr lang="en-US" dirty="0"/>
          </a:p>
        </p:txBody>
      </p:sp>
    </p:spTree>
    <p:extLst>
      <p:ext uri="{BB962C8B-B14F-4D97-AF65-F5344CB8AC3E}">
        <p14:creationId xmlns:p14="http://schemas.microsoft.com/office/powerpoint/2010/main" val="32540923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solidFill>
                  <a:srgbClr val="FF0000"/>
                </a:solidFill>
              </a:rPr>
              <a:t>Human Factors </a:t>
            </a:r>
            <a:r>
              <a:rPr lang="en-US" b="1" dirty="0"/>
              <a:t/>
            </a:r>
            <a:br>
              <a:rPr lang="en-US" b="1" dirty="0"/>
            </a:br>
            <a:r>
              <a:rPr lang="en-US" b="1" dirty="0"/>
              <a:t/>
            </a:r>
            <a:br>
              <a:rPr lang="en-US" b="1" dirty="0"/>
            </a:br>
            <a:endParaRPr lang="en-US" dirty="0"/>
          </a:p>
        </p:txBody>
      </p:sp>
      <p:sp>
        <p:nvSpPr>
          <p:cNvPr id="3" name="Content Placeholder 2"/>
          <p:cNvSpPr>
            <a:spLocks noGrp="1"/>
          </p:cNvSpPr>
          <p:nvPr>
            <p:ph idx="1"/>
          </p:nvPr>
        </p:nvSpPr>
        <p:spPr>
          <a:xfrm>
            <a:off x="457200" y="609600"/>
            <a:ext cx="8229600" cy="5516563"/>
          </a:xfrm>
        </p:spPr>
        <p:txBody>
          <a:bodyPr>
            <a:normAutofit fontScale="92500" lnSpcReduction="10000"/>
          </a:bodyPr>
          <a:lstStyle/>
          <a:p>
            <a:pPr marL="0" indent="0">
              <a:buNone/>
            </a:pPr>
            <a:endParaRPr lang="en-US" b="1" dirty="0"/>
          </a:p>
          <a:p>
            <a:pPr marL="0" indent="0">
              <a:buNone/>
            </a:pPr>
            <a:r>
              <a:rPr lang="en-US" b="1" dirty="0" smtClean="0"/>
              <a:t>Employment Opportunities</a:t>
            </a:r>
          </a:p>
          <a:p>
            <a:pPr>
              <a:buFont typeface="Wingdings" pitchFamily="2" charset="2"/>
              <a:buChar char="ü"/>
            </a:pPr>
            <a:r>
              <a:rPr lang="en-US" dirty="0" smtClean="0"/>
              <a:t>Jobs</a:t>
            </a:r>
            <a:r>
              <a:rPr lang="en-US" dirty="0"/>
              <a:t>, e.g. in primary industries like fishing, encourage people to move there to find work</a:t>
            </a:r>
            <a:r>
              <a:rPr lang="en-US" dirty="0" smtClean="0"/>
              <a:t>.</a:t>
            </a:r>
            <a:endParaRPr lang="en-US" b="1" dirty="0" smtClean="0"/>
          </a:p>
          <a:p>
            <a:pPr marL="0" indent="0">
              <a:buNone/>
            </a:pPr>
            <a:endParaRPr lang="en-US" b="1" dirty="0" smtClean="0"/>
          </a:p>
          <a:p>
            <a:pPr marL="0" indent="0">
              <a:buNone/>
            </a:pPr>
            <a:r>
              <a:rPr lang="en-US" b="1" dirty="0" smtClean="0"/>
              <a:t>Communications</a:t>
            </a:r>
            <a:endParaRPr lang="en-US" b="1" dirty="0"/>
          </a:p>
          <a:p>
            <a:pPr>
              <a:buFont typeface="Wingdings" pitchFamily="2" charset="2"/>
              <a:buChar char="ü"/>
            </a:pPr>
            <a:r>
              <a:rPr lang="en-US" dirty="0"/>
              <a:t>Areas with good transport links, such as roads and railways, will attract people and also industry which creates employment opportunities.</a:t>
            </a:r>
          </a:p>
          <a:p>
            <a:pPr>
              <a:buFont typeface="Wingdings" pitchFamily="2" charset="2"/>
              <a:buChar char="ü"/>
            </a:pPr>
            <a:r>
              <a:rPr lang="en-US" dirty="0"/>
              <a:t>Remote areas which are isolated and have poor transport links do not attract people</a:t>
            </a:r>
            <a:r>
              <a:rPr lang="en-US" dirty="0" smtClean="0"/>
              <a:t>.</a:t>
            </a:r>
            <a:endParaRPr lang="en-US" dirty="0"/>
          </a:p>
        </p:txBody>
      </p:sp>
    </p:spTree>
    <p:extLst>
      <p:ext uri="{BB962C8B-B14F-4D97-AF65-F5344CB8AC3E}">
        <p14:creationId xmlns:p14="http://schemas.microsoft.com/office/powerpoint/2010/main" val="14600391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Sources of the population data </a:t>
            </a:r>
            <a:endParaRPr lang="en-US" dirty="0"/>
          </a:p>
        </p:txBody>
      </p:sp>
      <p:sp>
        <p:nvSpPr>
          <p:cNvPr id="3" name="Content Placeholder 2"/>
          <p:cNvSpPr>
            <a:spLocks noGrp="1"/>
          </p:cNvSpPr>
          <p:nvPr>
            <p:ph idx="1"/>
          </p:nvPr>
        </p:nvSpPr>
        <p:spPr/>
        <p:txBody>
          <a:bodyPr/>
          <a:lstStyle/>
          <a:p>
            <a:r>
              <a:rPr lang="en-US" dirty="0" smtClean="0"/>
              <a:t>Censuses</a:t>
            </a:r>
          </a:p>
          <a:p>
            <a:r>
              <a:rPr lang="en-US" dirty="0" smtClean="0"/>
              <a:t>Sample surveys</a:t>
            </a:r>
          </a:p>
          <a:p>
            <a:r>
              <a:rPr lang="en-US" dirty="0" smtClean="0"/>
              <a:t>Vital registration</a:t>
            </a:r>
          </a:p>
          <a:p>
            <a:endParaRPr lang="en-US" dirty="0"/>
          </a:p>
        </p:txBody>
      </p:sp>
    </p:spTree>
    <p:extLst>
      <p:ext uri="{BB962C8B-B14F-4D97-AF65-F5344CB8AC3E}">
        <p14:creationId xmlns:p14="http://schemas.microsoft.com/office/powerpoint/2010/main" val="10672572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Censuses</a:t>
            </a:r>
            <a:r>
              <a:rPr lang="en-US" dirty="0"/>
              <a:t/>
            </a:r>
            <a:br>
              <a:rPr lang="en-US" dirty="0"/>
            </a:br>
            <a:endParaRPr lang="en-US" dirty="0"/>
          </a:p>
        </p:txBody>
      </p:sp>
      <p:sp>
        <p:nvSpPr>
          <p:cNvPr id="3" name="Content Placeholder 2"/>
          <p:cNvSpPr>
            <a:spLocks noGrp="1"/>
          </p:cNvSpPr>
          <p:nvPr>
            <p:ph idx="1"/>
          </p:nvPr>
        </p:nvSpPr>
        <p:spPr>
          <a:xfrm>
            <a:off x="457200" y="838200"/>
            <a:ext cx="8229600" cy="5638800"/>
          </a:xfrm>
        </p:spPr>
        <p:txBody>
          <a:bodyPr>
            <a:normAutofit/>
          </a:bodyPr>
          <a:lstStyle/>
          <a:p>
            <a:r>
              <a:rPr lang="en-US" dirty="0" smtClean="0"/>
              <a:t>Is the main source of demographic statistics in many Countries</a:t>
            </a:r>
          </a:p>
          <a:p>
            <a:pPr algn="just"/>
            <a:r>
              <a:rPr lang="en-US" dirty="0" smtClean="0"/>
              <a:t>It is define, the total number of collecting, compiling and publishing demographic economic and social data pertaining at a specific time to all person in our country or delimitated territory.  </a:t>
            </a:r>
          </a:p>
          <a:p>
            <a:pPr algn="just"/>
            <a:r>
              <a:rPr lang="en-US" dirty="0"/>
              <a:t>It is a good methods of recording the size, distribution and other characteristics of the population fixed interval. </a:t>
            </a:r>
            <a:endParaRPr lang="en-US" dirty="0" smtClean="0"/>
          </a:p>
          <a:p>
            <a:pPr algn="just"/>
            <a:endParaRPr lang="en-US" dirty="0" smtClean="0"/>
          </a:p>
        </p:txBody>
      </p:sp>
    </p:spTree>
    <p:extLst>
      <p:ext uri="{BB962C8B-B14F-4D97-AF65-F5344CB8AC3E}">
        <p14:creationId xmlns:p14="http://schemas.microsoft.com/office/powerpoint/2010/main" val="15706054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a:t>
            </a:r>
            <a:r>
              <a:rPr lang="en-US" b="1" dirty="0"/>
              <a:t>of Census</a:t>
            </a:r>
            <a:br>
              <a:rPr lang="en-US" b="1" dirty="0"/>
            </a:br>
            <a:endParaRPr lang="en-US" dirty="0"/>
          </a:p>
        </p:txBody>
      </p:sp>
      <p:sp>
        <p:nvSpPr>
          <p:cNvPr id="3" name="Content Placeholder 2"/>
          <p:cNvSpPr>
            <a:spLocks noGrp="1"/>
          </p:cNvSpPr>
          <p:nvPr>
            <p:ph idx="1"/>
          </p:nvPr>
        </p:nvSpPr>
        <p:spPr>
          <a:xfrm>
            <a:off x="457200" y="1417638"/>
            <a:ext cx="8229600" cy="4708525"/>
          </a:xfrm>
        </p:spPr>
        <p:txBody>
          <a:bodyPr>
            <a:normAutofit lnSpcReduction="10000"/>
          </a:bodyPr>
          <a:lstStyle/>
          <a:p>
            <a:pPr marL="514350" indent="-514350">
              <a:buFont typeface="+mj-lt"/>
              <a:buAutoNum type="arabicPeriod"/>
            </a:pPr>
            <a:r>
              <a:rPr lang="en-US" b="1" dirty="0" smtClean="0"/>
              <a:t>De </a:t>
            </a:r>
            <a:r>
              <a:rPr lang="en-US" b="1" dirty="0"/>
              <a:t>facto Census</a:t>
            </a:r>
          </a:p>
          <a:p>
            <a:pPr marL="514350" indent="-514350"/>
            <a:r>
              <a:rPr lang="en-US" dirty="0"/>
              <a:t>Is the type of census in which people are counted  wherever they are found in the day of enumeration </a:t>
            </a:r>
            <a:r>
              <a:rPr lang="en-US" dirty="0" err="1"/>
              <a:t>eg</a:t>
            </a:r>
            <a:r>
              <a:rPr lang="en-US" dirty="0"/>
              <a:t> at home or market.</a:t>
            </a:r>
          </a:p>
          <a:p>
            <a:pPr marL="514350" indent="-514350">
              <a:buAutoNum type="arabicPeriod" startAt="2"/>
            </a:pPr>
            <a:r>
              <a:rPr lang="en-US" b="1" dirty="0"/>
              <a:t>De jure Census</a:t>
            </a:r>
          </a:p>
          <a:p>
            <a:pPr marL="514350" indent="-514350"/>
            <a:r>
              <a:rPr lang="en-US" dirty="0"/>
              <a:t>It involves an attempt of counting people by reaching individual where they are found.</a:t>
            </a:r>
          </a:p>
          <a:p>
            <a:pPr marL="514350" indent="-514350"/>
            <a:r>
              <a:rPr lang="en-US" dirty="0"/>
              <a:t>Normally it involves the permanent members of the house hold</a:t>
            </a:r>
          </a:p>
          <a:p>
            <a:endParaRPr lang="en-US" dirty="0"/>
          </a:p>
        </p:txBody>
      </p:sp>
    </p:spTree>
    <p:extLst>
      <p:ext uri="{BB962C8B-B14F-4D97-AF65-F5344CB8AC3E}">
        <p14:creationId xmlns:p14="http://schemas.microsoft.com/office/powerpoint/2010/main" val="36330210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Merits of Censuses</a:t>
            </a:r>
            <a:r>
              <a:rPr lang="en-US" b="1" dirty="0"/>
              <a:t/>
            </a:r>
            <a:br>
              <a:rPr lang="en-US" b="1" dirty="0"/>
            </a:br>
            <a:endParaRPr lang="en-US" dirty="0"/>
          </a:p>
        </p:txBody>
      </p:sp>
      <p:sp>
        <p:nvSpPr>
          <p:cNvPr id="3" name="Content Placeholder 2"/>
          <p:cNvSpPr>
            <a:spLocks noGrp="1"/>
          </p:cNvSpPr>
          <p:nvPr>
            <p:ph idx="1"/>
          </p:nvPr>
        </p:nvSpPr>
        <p:spPr>
          <a:xfrm>
            <a:off x="457200" y="990600"/>
            <a:ext cx="8229600" cy="5135563"/>
          </a:xfrm>
        </p:spPr>
        <p:txBody>
          <a:bodyPr>
            <a:normAutofit/>
          </a:bodyPr>
          <a:lstStyle/>
          <a:p>
            <a:r>
              <a:rPr lang="en-US" dirty="0" smtClean="0"/>
              <a:t>A </a:t>
            </a:r>
            <a:r>
              <a:rPr lang="en-US" dirty="0"/>
              <a:t>census does not suffer from sampling errors because it covers the whole population in a country or region.</a:t>
            </a:r>
          </a:p>
          <a:p>
            <a:r>
              <a:rPr lang="en-US" dirty="0" smtClean="0"/>
              <a:t>The </a:t>
            </a:r>
            <a:r>
              <a:rPr lang="en-US" dirty="0"/>
              <a:t>results of a census can easily be compared with the results of censuses of other countries because of its universality feature.</a:t>
            </a:r>
          </a:p>
          <a:p>
            <a:r>
              <a:rPr lang="en-US" dirty="0" smtClean="0"/>
              <a:t>Since </a:t>
            </a:r>
            <a:r>
              <a:rPr lang="en-US" dirty="0"/>
              <a:t>a census is taken at regular intervals, it is the most popular source of demographic data</a:t>
            </a:r>
          </a:p>
          <a:p>
            <a:endParaRPr lang="en-US" dirty="0"/>
          </a:p>
        </p:txBody>
      </p:sp>
    </p:spTree>
    <p:extLst>
      <p:ext uri="{BB962C8B-B14F-4D97-AF65-F5344CB8AC3E}">
        <p14:creationId xmlns:p14="http://schemas.microsoft.com/office/powerpoint/2010/main" val="25567074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solidFill>
                  <a:srgbClr val="FF0000"/>
                </a:solidFill>
              </a:rPr>
              <a:t>Merits of </a:t>
            </a:r>
            <a:r>
              <a:rPr lang="en-US" b="1" dirty="0" smtClean="0">
                <a:solidFill>
                  <a:srgbClr val="FF0000"/>
                </a:solidFill>
              </a:rPr>
              <a:t>Censuses </a:t>
            </a:r>
            <a:r>
              <a:rPr lang="en-US" b="1" dirty="0" err="1" smtClean="0">
                <a:solidFill>
                  <a:srgbClr val="FF0000"/>
                </a:solidFill>
              </a:rPr>
              <a:t>Cont</a:t>
            </a:r>
            <a:r>
              <a:rPr lang="en-US" b="1" dirty="0" smtClean="0">
                <a:solidFill>
                  <a:srgbClr val="FF0000"/>
                </a:solidFill>
              </a:rPr>
              <a:t>….</a:t>
            </a:r>
            <a:endParaRPr lang="en-US" dirty="0"/>
          </a:p>
        </p:txBody>
      </p:sp>
      <p:sp>
        <p:nvSpPr>
          <p:cNvPr id="3" name="Content Placeholder 2"/>
          <p:cNvSpPr>
            <a:spLocks noGrp="1"/>
          </p:cNvSpPr>
          <p:nvPr>
            <p:ph idx="1"/>
          </p:nvPr>
        </p:nvSpPr>
        <p:spPr>
          <a:xfrm>
            <a:off x="457200" y="1066800"/>
            <a:ext cx="8229600" cy="5059363"/>
          </a:xfrm>
        </p:spPr>
        <p:txBody>
          <a:bodyPr>
            <a:normAutofit lnSpcReduction="10000"/>
          </a:bodyPr>
          <a:lstStyle/>
          <a:p>
            <a:r>
              <a:rPr lang="en-US" dirty="0" smtClean="0"/>
              <a:t>To </a:t>
            </a:r>
            <a:r>
              <a:rPr lang="en-US" dirty="0"/>
              <a:t>determine the literacy and illiteracy rate of the population in the relevant age group</a:t>
            </a:r>
          </a:p>
          <a:p>
            <a:r>
              <a:rPr lang="en-US" dirty="0" smtClean="0"/>
              <a:t>To </a:t>
            </a:r>
            <a:r>
              <a:rPr lang="en-US" dirty="0"/>
              <a:t>obtain a detailed data about all member of the country by age and sex.</a:t>
            </a:r>
          </a:p>
          <a:p>
            <a:r>
              <a:rPr lang="en-US" dirty="0" smtClean="0"/>
              <a:t>To </a:t>
            </a:r>
            <a:r>
              <a:rPr lang="en-US" dirty="0"/>
              <a:t>provide social and economic information on household, housing condition such as occupancy.</a:t>
            </a:r>
          </a:p>
          <a:p>
            <a:r>
              <a:rPr lang="en-US" dirty="0" smtClean="0"/>
              <a:t>To </a:t>
            </a:r>
            <a:r>
              <a:rPr lang="en-US" dirty="0"/>
              <a:t>provide a complete picture of all places and persons, villages, wards, and household of a nation.</a:t>
            </a:r>
          </a:p>
          <a:p>
            <a:endParaRPr lang="en-US" dirty="0"/>
          </a:p>
        </p:txBody>
      </p:sp>
    </p:spTree>
    <p:extLst>
      <p:ext uri="{BB962C8B-B14F-4D97-AF65-F5344CB8AC3E}">
        <p14:creationId xmlns:p14="http://schemas.microsoft.com/office/powerpoint/2010/main" val="25546789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563562"/>
          </a:xfrm>
        </p:spPr>
        <p:txBody>
          <a:bodyPr>
            <a:normAutofit fontScale="90000"/>
          </a:bodyPr>
          <a:lstStyle/>
          <a:p>
            <a:r>
              <a:rPr lang="en-US" b="1" dirty="0">
                <a:solidFill>
                  <a:srgbClr val="FF0000"/>
                </a:solidFill>
              </a:rPr>
              <a:t>Demerits/Limitations of Census</a:t>
            </a:r>
            <a:r>
              <a:rPr lang="en-US" b="1" dirty="0"/>
              <a:t/>
            </a:r>
            <a:br>
              <a:rPr lang="en-US" b="1" dirty="0"/>
            </a:br>
            <a:endParaRPr lang="en-US" dirty="0"/>
          </a:p>
        </p:txBody>
      </p:sp>
      <p:sp>
        <p:nvSpPr>
          <p:cNvPr id="3" name="Content Placeholder 2"/>
          <p:cNvSpPr>
            <a:spLocks noGrp="1"/>
          </p:cNvSpPr>
          <p:nvPr>
            <p:ph idx="1"/>
          </p:nvPr>
        </p:nvSpPr>
        <p:spPr>
          <a:xfrm>
            <a:off x="533400" y="685800"/>
            <a:ext cx="8153400" cy="5791200"/>
          </a:xfrm>
        </p:spPr>
        <p:txBody>
          <a:bodyPr>
            <a:normAutofit fontScale="92500" lnSpcReduction="20000"/>
          </a:bodyPr>
          <a:lstStyle/>
          <a:p>
            <a:r>
              <a:rPr lang="en-US" dirty="0" smtClean="0"/>
              <a:t>It </a:t>
            </a:r>
            <a:r>
              <a:rPr lang="en-US" dirty="0"/>
              <a:t>is often postponed due to lack of money. For example, the Tanzania’s 1998 censuses postponed to 2002. Census takes a long time to prepare and complete because they cover the whole country.</a:t>
            </a:r>
          </a:p>
          <a:p>
            <a:r>
              <a:rPr lang="en-US" dirty="0" smtClean="0"/>
              <a:t>A </a:t>
            </a:r>
            <a:r>
              <a:rPr lang="en-US" dirty="0"/>
              <a:t>census is an expensive exercise, which necessitates some developing countries to seek assistance from foreign donors in order to carry out their own censuses. Sometimes, censuses are not undertaken due to this reason.</a:t>
            </a:r>
          </a:p>
          <a:p>
            <a:r>
              <a:rPr lang="en-US" dirty="0" smtClean="0"/>
              <a:t>It </a:t>
            </a:r>
            <a:r>
              <a:rPr lang="en-US" dirty="0"/>
              <a:t>is difficult to collect detailed information in a census because it covers the whole population. Also due to the same problem, census is bound to have some errors.</a:t>
            </a:r>
          </a:p>
          <a:p>
            <a:endParaRPr lang="en-US" dirty="0"/>
          </a:p>
        </p:txBody>
      </p:sp>
    </p:spTree>
    <p:extLst>
      <p:ext uri="{BB962C8B-B14F-4D97-AF65-F5344CB8AC3E}">
        <p14:creationId xmlns:p14="http://schemas.microsoft.com/office/powerpoint/2010/main" val="17024112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077200" cy="411162"/>
          </a:xfrm>
        </p:spPr>
        <p:txBody>
          <a:bodyPr>
            <a:normAutofit fontScale="90000"/>
          </a:bodyPr>
          <a:lstStyle/>
          <a:p>
            <a:r>
              <a:rPr lang="en-US" sz="3600" b="1" dirty="0">
                <a:solidFill>
                  <a:srgbClr val="FF0000"/>
                </a:solidFill>
              </a:rPr>
              <a:t>Sample </a:t>
            </a:r>
            <a:r>
              <a:rPr lang="en-US" sz="4000" b="1" dirty="0">
                <a:solidFill>
                  <a:srgbClr val="FF0000"/>
                </a:solidFill>
              </a:rPr>
              <a:t>surveys</a:t>
            </a:r>
          </a:p>
        </p:txBody>
      </p:sp>
      <p:sp>
        <p:nvSpPr>
          <p:cNvPr id="3" name="Content Placeholder 2"/>
          <p:cNvSpPr>
            <a:spLocks noGrp="1"/>
          </p:cNvSpPr>
          <p:nvPr>
            <p:ph idx="1"/>
          </p:nvPr>
        </p:nvSpPr>
        <p:spPr>
          <a:xfrm>
            <a:off x="609600" y="838200"/>
            <a:ext cx="8305800" cy="5715000"/>
          </a:xfrm>
        </p:spPr>
        <p:txBody>
          <a:bodyPr>
            <a:normAutofit fontScale="92500"/>
          </a:bodyPr>
          <a:lstStyle/>
          <a:p>
            <a:r>
              <a:rPr lang="en-US" dirty="0" smtClean="0"/>
              <a:t>These are the second most important source of demographic data in most parts of Africa </a:t>
            </a:r>
          </a:p>
          <a:p>
            <a:r>
              <a:rPr lang="en-US" dirty="0" smtClean="0"/>
              <a:t>These are used to obtaining quick results  and assess impact </a:t>
            </a:r>
            <a:r>
              <a:rPr lang="en-US" dirty="0" err="1" smtClean="0"/>
              <a:t>programmes</a:t>
            </a:r>
            <a:endParaRPr lang="en-US" dirty="0" smtClean="0"/>
          </a:p>
          <a:p>
            <a:pPr marL="0" indent="0">
              <a:buNone/>
            </a:pPr>
            <a:r>
              <a:rPr lang="en-US" dirty="0" smtClean="0">
                <a:solidFill>
                  <a:srgbClr val="FF0000"/>
                </a:solidFill>
              </a:rPr>
              <a:t>Advantages (compared to census). </a:t>
            </a:r>
            <a:r>
              <a:rPr lang="en-US" i="1" dirty="0" smtClean="0"/>
              <a:t>Simple, flexible, easy to administer, and cheap in terms of cost </a:t>
            </a:r>
          </a:p>
          <a:p>
            <a:pPr marL="0" indent="0">
              <a:buNone/>
            </a:pPr>
            <a:r>
              <a:rPr lang="en-US" i="1" dirty="0" smtClean="0">
                <a:solidFill>
                  <a:srgbClr val="FF0000"/>
                </a:solidFill>
              </a:rPr>
              <a:t>Dis</a:t>
            </a:r>
            <a:r>
              <a:rPr lang="en-US" dirty="0" smtClean="0">
                <a:solidFill>
                  <a:srgbClr val="FF0000"/>
                </a:solidFill>
              </a:rPr>
              <a:t>advantages;</a:t>
            </a:r>
          </a:p>
          <a:p>
            <a:r>
              <a:rPr lang="en-US" i="1" dirty="0" smtClean="0"/>
              <a:t>Have high rates of error especially during sampling</a:t>
            </a:r>
          </a:p>
          <a:p>
            <a:r>
              <a:rPr lang="en-US" i="1" dirty="0" smtClean="0"/>
              <a:t>The results of findings are used to generalize the phenomena in a locality. </a:t>
            </a:r>
          </a:p>
          <a:p>
            <a:pPr marL="0" indent="0">
              <a:buNone/>
            </a:pPr>
            <a:endParaRPr lang="en-US" i="1" dirty="0">
              <a:solidFill>
                <a:srgbClr val="92D050"/>
              </a:solidFill>
            </a:endParaRPr>
          </a:p>
        </p:txBody>
      </p:sp>
    </p:spTree>
    <p:extLst>
      <p:ext uri="{BB962C8B-B14F-4D97-AF65-F5344CB8AC3E}">
        <p14:creationId xmlns:p14="http://schemas.microsoft.com/office/powerpoint/2010/main" val="41757900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rgbClr val="FF0000"/>
                </a:solidFill>
              </a:rPr>
              <a:t>Vital registration</a:t>
            </a:r>
            <a:r>
              <a:rPr lang="en-US" dirty="0"/>
              <a:t/>
            </a:r>
            <a:br>
              <a:rPr lang="en-US" dirty="0"/>
            </a:br>
            <a:endParaRPr lang="en-US" dirty="0"/>
          </a:p>
        </p:txBody>
      </p:sp>
      <p:sp>
        <p:nvSpPr>
          <p:cNvPr id="3" name="Content Placeholder 2"/>
          <p:cNvSpPr>
            <a:spLocks noGrp="1"/>
          </p:cNvSpPr>
          <p:nvPr>
            <p:ph idx="1"/>
          </p:nvPr>
        </p:nvSpPr>
        <p:spPr>
          <a:xfrm>
            <a:off x="304800" y="762000"/>
            <a:ext cx="8382000" cy="5364163"/>
          </a:xfrm>
        </p:spPr>
        <p:txBody>
          <a:bodyPr/>
          <a:lstStyle/>
          <a:p>
            <a:r>
              <a:rPr lang="en-US" b="1" dirty="0"/>
              <a:t>Vital </a:t>
            </a:r>
            <a:r>
              <a:rPr lang="en-US" b="1" dirty="0" smtClean="0"/>
              <a:t>Registration </a:t>
            </a:r>
            <a:r>
              <a:rPr lang="en-US" dirty="0" smtClean="0"/>
              <a:t>It </a:t>
            </a:r>
            <a:r>
              <a:rPr lang="en-US" dirty="0"/>
              <a:t>consists of continuous registration of vital events such as </a:t>
            </a:r>
            <a:r>
              <a:rPr lang="en-US" i="1" dirty="0">
                <a:solidFill>
                  <a:srgbClr val="FF0000"/>
                </a:solidFill>
              </a:rPr>
              <a:t>births and deaths.</a:t>
            </a:r>
          </a:p>
          <a:p>
            <a:r>
              <a:rPr lang="en-US" dirty="0"/>
              <a:t>A vital event is defined as a major change in individual status that leads to a change in the composition of the population. </a:t>
            </a:r>
          </a:p>
          <a:p>
            <a:r>
              <a:rPr lang="en-US" dirty="0"/>
              <a:t>Traditionally, vital events include births and deaths but nowadays the term embraces other events such as </a:t>
            </a:r>
            <a:r>
              <a:rPr lang="en-US" i="1" dirty="0">
                <a:solidFill>
                  <a:srgbClr val="FF0000"/>
                </a:solidFill>
              </a:rPr>
              <a:t>marriage, adoption, separation, divorce and migration.</a:t>
            </a:r>
          </a:p>
          <a:p>
            <a:endParaRPr lang="en-US" dirty="0"/>
          </a:p>
        </p:txBody>
      </p:sp>
    </p:spTree>
    <p:extLst>
      <p:ext uri="{BB962C8B-B14F-4D97-AF65-F5344CB8AC3E}">
        <p14:creationId xmlns:p14="http://schemas.microsoft.com/office/powerpoint/2010/main" val="14510988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Limitations of Vital </a:t>
            </a:r>
            <a:r>
              <a:rPr lang="en-US" b="1" dirty="0" smtClean="0">
                <a:solidFill>
                  <a:srgbClr val="FF0000"/>
                </a:solidFill>
              </a:rPr>
              <a:t>Registration</a:t>
            </a:r>
            <a:r>
              <a:rPr lang="en-US" b="1" dirty="0">
                <a:solidFill>
                  <a:srgbClr val="FF0000"/>
                </a:solidFill>
              </a:rPr>
              <a:t/>
            </a:r>
            <a:br>
              <a:rPr lang="en-US" b="1" dirty="0">
                <a:solidFill>
                  <a:srgbClr val="FF0000"/>
                </a:solidFill>
              </a:rPr>
            </a:b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It </a:t>
            </a:r>
            <a:r>
              <a:rPr lang="en-US" dirty="0"/>
              <a:t>is difficult to obtain the registration of birth and death events.</a:t>
            </a:r>
          </a:p>
          <a:p>
            <a:r>
              <a:rPr lang="en-US" dirty="0"/>
              <a:t>Accurate data on migration is also extremely difficult to obtain, especially when migrants do not pass through the official check point when crossing the political boundaries.</a:t>
            </a:r>
          </a:p>
          <a:p>
            <a:endParaRPr lang="en-US" dirty="0"/>
          </a:p>
        </p:txBody>
      </p:sp>
    </p:spTree>
    <p:extLst>
      <p:ext uri="{BB962C8B-B14F-4D97-AF65-F5344CB8AC3E}">
        <p14:creationId xmlns:p14="http://schemas.microsoft.com/office/powerpoint/2010/main" val="7025872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l"/>
            <a:r>
              <a:rPr lang="en-US" dirty="0" smtClean="0"/>
              <a:t>	</a:t>
            </a:r>
            <a:r>
              <a:rPr lang="en-US" dirty="0" smtClean="0">
                <a:solidFill>
                  <a:srgbClr val="FF0000"/>
                </a:solidFill>
              </a:rPr>
              <a:t>Quality of population data in LDCs</a:t>
            </a:r>
            <a:endParaRPr lang="en-US" dirty="0">
              <a:solidFill>
                <a:srgbClr val="FF0000"/>
              </a:solidFill>
            </a:endParaRPr>
          </a:p>
        </p:txBody>
      </p:sp>
      <p:sp>
        <p:nvSpPr>
          <p:cNvPr id="3" name="Content Placeholder 2"/>
          <p:cNvSpPr>
            <a:spLocks noGrp="1"/>
          </p:cNvSpPr>
          <p:nvPr>
            <p:ph idx="1"/>
          </p:nvPr>
        </p:nvSpPr>
        <p:spPr>
          <a:xfrm>
            <a:off x="685800" y="990600"/>
            <a:ext cx="8001000" cy="5135563"/>
          </a:xfrm>
        </p:spPr>
        <p:txBody>
          <a:bodyPr/>
          <a:lstStyle/>
          <a:p>
            <a:pPr algn="just"/>
            <a:r>
              <a:rPr lang="en-US" dirty="0" smtClean="0"/>
              <a:t>Generally there are limitation and deficiencies in the population data in the most LDCs most of the data have a lot of errors.</a:t>
            </a:r>
          </a:p>
          <a:p>
            <a:pPr algn="just"/>
            <a:r>
              <a:rPr lang="en-US" dirty="0" smtClean="0">
                <a:solidFill>
                  <a:srgbClr val="FF0000"/>
                </a:solidFill>
              </a:rPr>
              <a:t>Errors of coverage; </a:t>
            </a:r>
            <a:r>
              <a:rPr lang="en-US" dirty="0" smtClean="0"/>
              <a:t>where person are not counted at all especially the migrant</a:t>
            </a:r>
          </a:p>
          <a:p>
            <a:pPr algn="just"/>
            <a:r>
              <a:rPr lang="en-US" dirty="0" smtClean="0">
                <a:solidFill>
                  <a:srgbClr val="FF0000"/>
                </a:solidFill>
              </a:rPr>
              <a:t>Errors of content; </a:t>
            </a:r>
            <a:r>
              <a:rPr lang="en-US" dirty="0" smtClean="0"/>
              <a:t>errors in the recording of events </a:t>
            </a:r>
          </a:p>
        </p:txBody>
      </p:sp>
    </p:spTree>
    <p:extLst>
      <p:ext uri="{BB962C8B-B14F-4D97-AF65-F5344CB8AC3E}">
        <p14:creationId xmlns:p14="http://schemas.microsoft.com/office/powerpoint/2010/main" val="18479186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solidFill>
                  <a:srgbClr val="FF0000"/>
                </a:solidFill>
              </a:rPr>
              <a:t>Uses of population Data</a:t>
            </a:r>
            <a:endParaRPr lang="en-US" dirty="0">
              <a:solidFill>
                <a:srgbClr val="FF0000"/>
              </a:solidFill>
            </a:endParaRPr>
          </a:p>
        </p:txBody>
      </p:sp>
      <p:sp>
        <p:nvSpPr>
          <p:cNvPr id="3" name="Content Placeholder 2"/>
          <p:cNvSpPr>
            <a:spLocks noGrp="1"/>
          </p:cNvSpPr>
          <p:nvPr>
            <p:ph idx="1"/>
          </p:nvPr>
        </p:nvSpPr>
        <p:spPr>
          <a:xfrm>
            <a:off x="457200" y="1066800"/>
            <a:ext cx="8229600" cy="5059363"/>
          </a:xfrm>
        </p:spPr>
        <p:txBody>
          <a:bodyPr>
            <a:normAutofit lnSpcReduction="10000"/>
          </a:bodyPr>
          <a:lstStyle/>
          <a:p>
            <a:pPr marL="0" indent="0" algn="just">
              <a:buNone/>
            </a:pPr>
            <a:r>
              <a:rPr lang="en-US" dirty="0" smtClean="0"/>
              <a:t>Uses of population data are many and varied. In general they are required for planning and administration and also for various aspects of economic and social research. Specifically </a:t>
            </a:r>
            <a:r>
              <a:rPr lang="en-US" i="1" dirty="0" smtClean="0">
                <a:solidFill>
                  <a:srgbClr val="00B050"/>
                </a:solidFill>
              </a:rPr>
              <a:t>demographic data is required for;</a:t>
            </a:r>
          </a:p>
          <a:p>
            <a:pPr marL="0" indent="0">
              <a:buNone/>
            </a:pPr>
            <a:r>
              <a:rPr lang="en-US" dirty="0" smtClean="0"/>
              <a:t>1.</a:t>
            </a:r>
            <a:r>
              <a:rPr lang="en-US" dirty="0" smtClean="0">
                <a:solidFill>
                  <a:srgbClr val="FF0000"/>
                </a:solidFill>
              </a:rPr>
              <a:t> Estimating the future population sizes and distribution;</a:t>
            </a:r>
          </a:p>
          <a:p>
            <a:pPr marL="0" indent="0">
              <a:buNone/>
            </a:pPr>
            <a:r>
              <a:rPr lang="en-US" dirty="0" smtClean="0"/>
              <a:t>These are fundamental to long term planning of many public </a:t>
            </a:r>
            <a:r>
              <a:rPr lang="en-US" dirty="0" err="1" smtClean="0"/>
              <a:t>programmes</a:t>
            </a:r>
            <a:r>
              <a:rPr lang="en-US" dirty="0" smtClean="0"/>
              <a:t> </a:t>
            </a:r>
            <a:r>
              <a:rPr lang="en-US" dirty="0" err="1" smtClean="0"/>
              <a:t>eg</a:t>
            </a:r>
            <a:r>
              <a:rPr lang="en-US" dirty="0" smtClean="0"/>
              <a:t>; </a:t>
            </a:r>
            <a:r>
              <a:rPr lang="en-US" i="1" dirty="0" smtClean="0"/>
              <a:t>education needs, manpower needs and housing needs</a:t>
            </a:r>
          </a:p>
          <a:p>
            <a:endParaRPr lang="en-US" dirty="0" smtClean="0"/>
          </a:p>
        </p:txBody>
      </p:sp>
    </p:spTree>
    <p:extLst>
      <p:ext uri="{BB962C8B-B14F-4D97-AF65-F5344CB8AC3E}">
        <p14:creationId xmlns:p14="http://schemas.microsoft.com/office/powerpoint/2010/main" val="30741003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Uses of population </a:t>
            </a:r>
            <a:r>
              <a:rPr lang="en-US" dirty="0" smtClean="0">
                <a:solidFill>
                  <a:srgbClr val="FF0000"/>
                </a:solidFill>
              </a:rPr>
              <a:t>Data Cont..</a:t>
            </a:r>
            <a:endParaRPr lang="en-US" dirty="0"/>
          </a:p>
        </p:txBody>
      </p:sp>
      <p:sp>
        <p:nvSpPr>
          <p:cNvPr id="3" name="Content Placeholder 2"/>
          <p:cNvSpPr>
            <a:spLocks noGrp="1"/>
          </p:cNvSpPr>
          <p:nvPr>
            <p:ph idx="1"/>
          </p:nvPr>
        </p:nvSpPr>
        <p:spPr/>
        <p:txBody>
          <a:bodyPr/>
          <a:lstStyle/>
          <a:p>
            <a:pPr marL="0" indent="0" algn="just">
              <a:buNone/>
            </a:pPr>
            <a:r>
              <a:rPr lang="en-US" dirty="0" smtClean="0"/>
              <a:t>2. Investigating the relationship between demographic and social economic process</a:t>
            </a:r>
          </a:p>
          <a:p>
            <a:pPr marL="0" indent="0" algn="just">
              <a:buNone/>
            </a:pPr>
            <a:endParaRPr lang="en-US" dirty="0" smtClean="0"/>
          </a:p>
          <a:p>
            <a:pPr marL="0" indent="0" algn="just">
              <a:buNone/>
            </a:pPr>
            <a:r>
              <a:rPr lang="en-US" dirty="0" smtClean="0"/>
              <a:t>3. Measuring the level and trends in the standard of living </a:t>
            </a:r>
          </a:p>
          <a:p>
            <a:pPr marL="0" indent="0" algn="just">
              <a:buNone/>
            </a:pPr>
            <a:endParaRPr lang="en-US" dirty="0" smtClean="0"/>
          </a:p>
          <a:p>
            <a:pPr marL="0" indent="0" algn="just">
              <a:buNone/>
            </a:pPr>
            <a:r>
              <a:rPr lang="en-US" dirty="0" smtClean="0"/>
              <a:t>4. Allocation of resources and services </a:t>
            </a:r>
            <a:r>
              <a:rPr lang="en-US" i="1" dirty="0" err="1" smtClean="0">
                <a:solidFill>
                  <a:srgbClr val="FF0000"/>
                </a:solidFill>
              </a:rPr>
              <a:t>eg</a:t>
            </a:r>
            <a:r>
              <a:rPr lang="en-US" i="1" dirty="0" smtClean="0">
                <a:solidFill>
                  <a:srgbClr val="FF0000"/>
                </a:solidFill>
              </a:rPr>
              <a:t>; Health facilities, water, schools</a:t>
            </a:r>
            <a:endParaRPr lang="en-US" i="1" dirty="0">
              <a:solidFill>
                <a:srgbClr val="FF0000"/>
              </a:solidFill>
            </a:endParaRPr>
          </a:p>
        </p:txBody>
      </p:sp>
    </p:spTree>
    <p:extLst>
      <p:ext uri="{BB962C8B-B14F-4D97-AF65-F5344CB8AC3E}">
        <p14:creationId xmlns:p14="http://schemas.microsoft.com/office/powerpoint/2010/main" val="39478006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a:xfrm>
            <a:off x="457200" y="228600"/>
            <a:ext cx="8382000" cy="914400"/>
          </a:xfrm>
        </p:spPr>
        <p:txBody>
          <a:bodyPr/>
          <a:lstStyle/>
          <a:p>
            <a:pPr eaLnBrk="1" fontAlgn="auto" hangingPunct="1">
              <a:spcAft>
                <a:spcPts val="0"/>
              </a:spcAft>
              <a:defRPr/>
            </a:pPr>
            <a:r>
              <a:rPr lang="en-US" dirty="0"/>
              <a:t>Population Change:</a:t>
            </a:r>
          </a:p>
        </p:txBody>
      </p:sp>
      <p:sp>
        <p:nvSpPr>
          <p:cNvPr id="14339" name="Rectangle 3"/>
          <p:cNvSpPr>
            <a:spLocks noGrp="1" noChangeArrowheads="1"/>
          </p:cNvSpPr>
          <p:nvPr>
            <p:ph sz="quarter" idx="1"/>
          </p:nvPr>
        </p:nvSpPr>
        <p:spPr>
          <a:xfrm>
            <a:off x="457200" y="1524000"/>
            <a:ext cx="8382000" cy="5181600"/>
          </a:xfrm>
        </p:spPr>
        <p:txBody>
          <a:bodyPr/>
          <a:lstStyle/>
          <a:p>
            <a:pPr algn="just" eaLnBrk="1" hangingPunct="1">
              <a:lnSpc>
                <a:spcPct val="80000"/>
              </a:lnSpc>
              <a:buFont typeface="Wingdings" pitchFamily="2" charset="2"/>
              <a:buChar char="ü"/>
            </a:pPr>
            <a:r>
              <a:rPr lang="en-US" sz="2800" smtClean="0"/>
              <a:t>Population change refers to a increase or a decrease of population at time.</a:t>
            </a:r>
          </a:p>
          <a:p>
            <a:pPr algn="just" eaLnBrk="1" hangingPunct="1">
              <a:lnSpc>
                <a:spcPct val="80000"/>
              </a:lnSpc>
              <a:buFont typeface="Wingdings" pitchFamily="2" charset="2"/>
              <a:buNone/>
            </a:pPr>
            <a:endParaRPr lang="en-US" sz="2800" smtClean="0"/>
          </a:p>
          <a:p>
            <a:pPr algn="just" eaLnBrk="1" hangingPunct="1">
              <a:lnSpc>
                <a:spcPct val="80000"/>
              </a:lnSpc>
              <a:buFont typeface="Wingdings" pitchFamily="2" charset="2"/>
              <a:buChar char="ü"/>
            </a:pPr>
            <a:r>
              <a:rPr lang="en-US" sz="2800" smtClean="0"/>
              <a:t>Population change not only implies the change in its size but also in its internal composition and structure with respect to its various characteristics and spatial distribution.</a:t>
            </a:r>
          </a:p>
          <a:p>
            <a:pPr algn="just" eaLnBrk="1" hangingPunct="1">
              <a:lnSpc>
                <a:spcPct val="80000"/>
              </a:lnSpc>
              <a:buFont typeface="Wingdings" pitchFamily="2" charset="2"/>
              <a:buChar char="ü"/>
            </a:pPr>
            <a:endParaRPr lang="en-US" sz="2800" smtClean="0"/>
          </a:p>
          <a:p>
            <a:pPr algn="just" eaLnBrk="1" hangingPunct="1">
              <a:lnSpc>
                <a:spcPct val="80000"/>
              </a:lnSpc>
              <a:buFont typeface="Wingdings" pitchFamily="2" charset="2"/>
              <a:buChar char="ü"/>
            </a:pPr>
            <a:r>
              <a:rPr lang="en-US" sz="2800" smtClean="0"/>
              <a:t>The size of the population in any area increase through birth and immigration (or in-migration) and decreases through deaths and emigration (out migration). </a:t>
            </a:r>
          </a:p>
          <a:p>
            <a:pPr algn="just" eaLnBrk="1" hangingPunct="1">
              <a:lnSpc>
                <a:spcPct val="80000"/>
              </a:lnSpc>
              <a:buFont typeface="Wingdings" pitchFamily="2" charset="2"/>
              <a:buNone/>
            </a:pPr>
            <a:r>
              <a:rPr lang="en-US" sz="2800" smtClean="0"/>
              <a:t>	</a:t>
            </a:r>
          </a:p>
          <a:p>
            <a:pPr algn="just" eaLnBrk="1" hangingPunct="1">
              <a:lnSpc>
                <a:spcPct val="80000"/>
              </a:lnSpc>
              <a:buFont typeface="Wingdings" pitchFamily="2" charset="2"/>
              <a:buNone/>
            </a:pPr>
            <a:endParaRPr lang="en-US" sz="2800" smtClean="0"/>
          </a:p>
        </p:txBody>
      </p:sp>
    </p:spTree>
    <p:extLst>
      <p:ext uri="{BB962C8B-B14F-4D97-AF65-F5344CB8AC3E}">
        <p14:creationId xmlns:p14="http://schemas.microsoft.com/office/powerpoint/2010/main" val="40834848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5800" y="152400"/>
            <a:ext cx="7772400" cy="838200"/>
          </a:xfrm>
        </p:spPr>
        <p:txBody>
          <a:bodyPr/>
          <a:lstStyle/>
          <a:p>
            <a:pPr eaLnBrk="1" hangingPunct="1">
              <a:defRPr/>
            </a:pPr>
            <a:r>
              <a:rPr lang="en-GB" dirty="0" smtClean="0">
                <a:ea typeface="+mj-ea"/>
                <a:cs typeface="Times New Roman" charset="0"/>
              </a:rPr>
              <a:t>Concept of population change</a:t>
            </a:r>
          </a:p>
        </p:txBody>
      </p:sp>
      <p:sp>
        <p:nvSpPr>
          <p:cNvPr id="4099" name="Rectangle 3"/>
          <p:cNvSpPr>
            <a:spLocks noGrp="1" noChangeArrowheads="1"/>
          </p:cNvSpPr>
          <p:nvPr>
            <p:ph type="body" idx="1"/>
          </p:nvPr>
        </p:nvSpPr>
        <p:spPr>
          <a:xfrm>
            <a:off x="685800" y="1143000"/>
            <a:ext cx="8153400" cy="5181600"/>
          </a:xfrm>
        </p:spPr>
        <p:txBody>
          <a:bodyPr/>
          <a:lstStyle/>
          <a:p>
            <a:pPr algn="just" eaLnBrk="1" hangingPunct="1">
              <a:defRPr/>
            </a:pPr>
            <a:r>
              <a:rPr lang="en-US" dirty="0" err="1" smtClean="0">
                <a:ea typeface="+mn-ea"/>
                <a:cs typeface="Times New Roman" charset="0"/>
              </a:rPr>
              <a:t>Popn</a:t>
            </a:r>
            <a:r>
              <a:rPr lang="en-US" dirty="0" smtClean="0">
                <a:ea typeface="+mn-ea"/>
                <a:cs typeface="Times New Roman" charset="0"/>
              </a:rPr>
              <a:t> change is the result of interplay of:</a:t>
            </a:r>
            <a:endParaRPr lang="en-US" dirty="0" smtClean="0">
              <a:ea typeface="+mn-ea"/>
              <a:cs typeface="Courier New" charset="0"/>
            </a:endParaRPr>
          </a:p>
          <a:p>
            <a:pPr lvl="1" algn="just" eaLnBrk="1" hangingPunct="1">
              <a:defRPr/>
            </a:pPr>
            <a:r>
              <a:rPr lang="en-US" dirty="0" smtClean="0">
                <a:ea typeface="+mn-ea"/>
                <a:cs typeface="Times New Roman" charset="0"/>
              </a:rPr>
              <a:t>Births;</a:t>
            </a:r>
          </a:p>
          <a:p>
            <a:pPr lvl="1" algn="just" eaLnBrk="1" hangingPunct="1">
              <a:defRPr/>
            </a:pPr>
            <a:r>
              <a:rPr lang="en-US" dirty="0" smtClean="0">
                <a:ea typeface="+mn-ea"/>
                <a:cs typeface="Times New Roman" charset="0"/>
              </a:rPr>
              <a:t>Deaths; </a:t>
            </a:r>
          </a:p>
          <a:p>
            <a:pPr lvl="1" algn="just" eaLnBrk="1" hangingPunct="1">
              <a:defRPr/>
            </a:pPr>
            <a:r>
              <a:rPr lang="en-US" dirty="0" smtClean="0">
                <a:ea typeface="+mn-ea"/>
                <a:cs typeface="Times New Roman" charset="0"/>
              </a:rPr>
              <a:t>Migrations: internal &amp; international.</a:t>
            </a:r>
            <a:endParaRPr lang="en-US" dirty="0" smtClean="0">
              <a:ea typeface="+mn-ea"/>
              <a:cs typeface="Courier New" charset="0"/>
            </a:endParaRPr>
          </a:p>
          <a:p>
            <a:pPr algn="just" eaLnBrk="1" hangingPunct="1">
              <a:defRPr/>
            </a:pPr>
            <a:r>
              <a:rPr lang="en-US" dirty="0" smtClean="0">
                <a:ea typeface="+mn-ea"/>
                <a:cs typeface="Times New Roman" charset="0"/>
              </a:rPr>
              <a:t>Natural increase is ultimate source of </a:t>
            </a:r>
            <a:r>
              <a:rPr lang="en-US" dirty="0" err="1" smtClean="0">
                <a:ea typeface="+mn-ea"/>
                <a:cs typeface="Times New Roman" charset="0"/>
              </a:rPr>
              <a:t>popn</a:t>
            </a:r>
            <a:r>
              <a:rPr lang="en-US" dirty="0" smtClean="0">
                <a:ea typeface="+mn-ea"/>
                <a:cs typeface="Times New Roman" charset="0"/>
              </a:rPr>
              <a:t> growth in world</a:t>
            </a:r>
          </a:p>
          <a:p>
            <a:pPr algn="just" eaLnBrk="1" hangingPunct="1">
              <a:defRPr/>
            </a:pPr>
            <a:r>
              <a:rPr lang="en-US" dirty="0" smtClean="0">
                <a:ea typeface="+mn-ea"/>
                <a:cs typeface="Times New Roman" charset="0"/>
              </a:rPr>
              <a:t>Within a country migration can be a main determinant of </a:t>
            </a:r>
            <a:r>
              <a:rPr lang="en-US" dirty="0" err="1" smtClean="0">
                <a:ea typeface="+mn-ea"/>
                <a:cs typeface="Times New Roman" charset="0"/>
              </a:rPr>
              <a:t>popn</a:t>
            </a:r>
            <a:r>
              <a:rPr lang="en-US" dirty="0" smtClean="0">
                <a:ea typeface="+mn-ea"/>
                <a:cs typeface="Times New Roman" charset="0"/>
              </a:rPr>
              <a:t> growth</a:t>
            </a:r>
            <a:endParaRPr lang="en-GB" dirty="0" smtClean="0">
              <a:ea typeface="+mn-ea"/>
              <a:cs typeface="+mn-cs"/>
            </a:endParaRPr>
          </a:p>
        </p:txBody>
      </p:sp>
    </p:spTree>
    <p:extLst>
      <p:ext uri="{BB962C8B-B14F-4D97-AF65-F5344CB8AC3E}">
        <p14:creationId xmlns:p14="http://schemas.microsoft.com/office/powerpoint/2010/main" val="1367200379"/>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l="13068" t="46539" r="52559" b="23627"/>
          <a:stretch>
            <a:fillRect/>
          </a:stretch>
        </p:blipFill>
        <p:spPr>
          <a:xfrm>
            <a:off x="1600201" y="1524000"/>
            <a:ext cx="5181600" cy="5181600"/>
          </a:xfrm>
        </p:spPr>
      </p:pic>
    </p:spTree>
    <p:extLst>
      <p:ext uri="{BB962C8B-B14F-4D97-AF65-F5344CB8AC3E}">
        <p14:creationId xmlns:p14="http://schemas.microsoft.com/office/powerpoint/2010/main" val="23117312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Reasons for variation in population trends</a:t>
            </a:r>
            <a:r>
              <a:rPr lang="en-US" dirty="0" smtClean="0"/>
              <a:t>.</a:t>
            </a:r>
            <a:endParaRPr lang="en-US" dirty="0"/>
          </a:p>
        </p:txBody>
      </p:sp>
      <p:sp>
        <p:nvSpPr>
          <p:cNvPr id="3" name="Content Placeholder 2"/>
          <p:cNvSpPr>
            <a:spLocks noGrp="1"/>
          </p:cNvSpPr>
          <p:nvPr>
            <p:ph idx="1"/>
          </p:nvPr>
        </p:nvSpPr>
        <p:spPr/>
        <p:txBody>
          <a:bodyPr/>
          <a:lstStyle/>
          <a:p>
            <a:r>
              <a:rPr lang="en-US" dirty="0" smtClean="0"/>
              <a:t>The following are reasons for variation in population trends</a:t>
            </a:r>
          </a:p>
          <a:p>
            <a:pPr marL="514350" indent="-514350">
              <a:buFont typeface="+mj-lt"/>
              <a:buAutoNum type="arabicParenR"/>
            </a:pPr>
            <a:r>
              <a:rPr lang="en-US" dirty="0" smtClean="0"/>
              <a:t>Fertility.</a:t>
            </a:r>
          </a:p>
          <a:p>
            <a:pPr marL="514350" indent="-514350">
              <a:buFont typeface="+mj-lt"/>
              <a:buAutoNum type="arabicParenR"/>
            </a:pPr>
            <a:r>
              <a:rPr lang="en-US" dirty="0" smtClean="0"/>
              <a:t>Mortality.</a:t>
            </a:r>
          </a:p>
          <a:p>
            <a:pPr marL="514350" indent="-514350">
              <a:buFont typeface="+mj-lt"/>
              <a:buAutoNum type="arabicParenR"/>
            </a:pPr>
            <a:r>
              <a:rPr lang="en-US" dirty="0" smtClean="0"/>
              <a:t>Migration.</a:t>
            </a:r>
            <a:endParaRPr lang="en-US" dirty="0"/>
          </a:p>
        </p:txBody>
      </p:sp>
    </p:spTree>
    <p:extLst>
      <p:ext uri="{BB962C8B-B14F-4D97-AF65-F5344CB8AC3E}">
        <p14:creationId xmlns:p14="http://schemas.microsoft.com/office/powerpoint/2010/main" val="7921951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55764C9-D0C8-4601-B2DE-E7ACD071315D}" type="slidenum">
              <a:rPr lang="en-US" sz="1400" smtClean="0"/>
              <a:pPr>
                <a:spcBef>
                  <a:spcPct val="0"/>
                </a:spcBef>
                <a:buFontTx/>
                <a:buNone/>
              </a:pPr>
              <a:t>32</a:t>
            </a:fld>
            <a:endParaRPr lang="en-US" sz="1400" smtClean="0"/>
          </a:p>
        </p:txBody>
      </p:sp>
      <p:sp>
        <p:nvSpPr>
          <p:cNvPr id="3075" name="Rectangle 4"/>
          <p:cNvSpPr>
            <a:spLocks noGrp="1" noChangeArrowheads="1"/>
          </p:cNvSpPr>
          <p:nvPr>
            <p:ph type="title"/>
          </p:nvPr>
        </p:nvSpPr>
        <p:spPr>
          <a:xfrm>
            <a:off x="457200" y="1371600"/>
            <a:ext cx="8229600" cy="3200400"/>
          </a:xfrm>
        </p:spPr>
        <p:txBody>
          <a:bodyPr/>
          <a:lstStyle/>
          <a:p>
            <a:pPr eaLnBrk="1" hangingPunct="1"/>
            <a:r>
              <a:rPr lang="en-US" sz="5400" b="1" dirty="0" smtClean="0"/>
              <a:t>HIV/AIDS AND STDs</a:t>
            </a:r>
          </a:p>
        </p:txBody>
      </p:sp>
    </p:spTree>
    <p:extLst>
      <p:ext uri="{BB962C8B-B14F-4D97-AF65-F5344CB8AC3E}">
        <p14:creationId xmlns:p14="http://schemas.microsoft.com/office/powerpoint/2010/main" val="24479867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AA08EC9-4185-4C3B-819D-3DF866FFCA2C}" type="slidenum">
              <a:rPr lang="en-US" sz="1400" smtClean="0"/>
              <a:pPr>
                <a:spcBef>
                  <a:spcPct val="0"/>
                </a:spcBef>
                <a:buFontTx/>
                <a:buNone/>
              </a:pPr>
              <a:t>33</a:t>
            </a:fld>
            <a:endParaRPr lang="en-US" sz="1400" smtClean="0"/>
          </a:p>
        </p:txBody>
      </p:sp>
      <p:sp>
        <p:nvSpPr>
          <p:cNvPr id="8195" name="Rectangle 2"/>
          <p:cNvSpPr>
            <a:spLocks noGrp="1" noChangeArrowheads="1"/>
          </p:cNvSpPr>
          <p:nvPr>
            <p:ph type="title"/>
          </p:nvPr>
        </p:nvSpPr>
        <p:spPr>
          <a:xfrm>
            <a:off x="0" y="0"/>
            <a:ext cx="9144000" cy="609600"/>
          </a:xfrm>
        </p:spPr>
        <p:txBody>
          <a:bodyPr>
            <a:normAutofit fontScale="90000"/>
          </a:bodyPr>
          <a:lstStyle/>
          <a:p>
            <a:pPr eaLnBrk="1" hangingPunct="1"/>
            <a:r>
              <a:rPr lang="en-US" sz="4000" b="1" smtClean="0"/>
              <a:t>BASIC HEALTH CONCEPTS</a:t>
            </a:r>
          </a:p>
        </p:txBody>
      </p:sp>
      <p:sp>
        <p:nvSpPr>
          <p:cNvPr id="16388" name="Rectangle 3"/>
          <p:cNvSpPr>
            <a:spLocks noGrp="1" noChangeArrowheads="1"/>
          </p:cNvSpPr>
          <p:nvPr>
            <p:ph type="body" idx="1"/>
          </p:nvPr>
        </p:nvSpPr>
        <p:spPr>
          <a:xfrm>
            <a:off x="0" y="685800"/>
            <a:ext cx="8991600" cy="6172200"/>
          </a:xfrm>
        </p:spPr>
        <p:txBody>
          <a:bodyPr/>
          <a:lstStyle/>
          <a:p>
            <a:pPr eaLnBrk="1" hangingPunct="1">
              <a:lnSpc>
                <a:spcPct val="90000"/>
              </a:lnSpc>
              <a:buFont typeface="Wingdings" panose="05000000000000000000" pitchFamily="2" charset="2"/>
              <a:buChar char="v"/>
              <a:defRPr/>
            </a:pPr>
            <a:r>
              <a:rPr lang="en-US" sz="4000" b="1" dirty="0" smtClean="0">
                <a:solidFill>
                  <a:srgbClr val="FF0000"/>
                </a:solidFill>
              </a:rPr>
              <a:t>Pathogen</a:t>
            </a:r>
          </a:p>
          <a:p>
            <a:pPr marL="0" indent="0" eaLnBrk="1" hangingPunct="1">
              <a:lnSpc>
                <a:spcPct val="90000"/>
              </a:lnSpc>
              <a:buFontTx/>
              <a:buNone/>
              <a:defRPr/>
            </a:pPr>
            <a:r>
              <a:rPr lang="en-US" sz="3800" dirty="0" smtClean="0"/>
              <a:t>Agent of diseases or something can causes diseases e.g. </a:t>
            </a:r>
            <a:r>
              <a:rPr lang="en-US" sz="3800" dirty="0" smtClean="0">
                <a:solidFill>
                  <a:srgbClr val="FF0000"/>
                </a:solidFill>
              </a:rPr>
              <a:t>a bacterium or a virus</a:t>
            </a:r>
          </a:p>
          <a:p>
            <a:pPr marL="0" indent="0" eaLnBrk="1" hangingPunct="1">
              <a:lnSpc>
                <a:spcPct val="90000"/>
              </a:lnSpc>
              <a:buFontTx/>
              <a:buNone/>
              <a:defRPr/>
            </a:pPr>
            <a:r>
              <a:rPr lang="en-US" sz="3800" dirty="0" smtClean="0"/>
              <a:t>Pathogens can be spread by many methods other than direct contact, including through </a:t>
            </a:r>
            <a:r>
              <a:rPr lang="en-US" sz="3800" i="1" dirty="0" smtClean="0">
                <a:solidFill>
                  <a:srgbClr val="FF0000"/>
                </a:solidFill>
              </a:rPr>
              <a:t>water, food, air, and bodily fluids (blood, semen, saliva </a:t>
            </a:r>
            <a:r>
              <a:rPr lang="en-US" sz="3800" i="1" dirty="0" err="1" smtClean="0">
                <a:solidFill>
                  <a:srgbClr val="FF0000"/>
                </a:solidFill>
              </a:rPr>
              <a:t>etc</a:t>
            </a:r>
            <a:r>
              <a:rPr lang="en-US" sz="3800" i="1" dirty="0" smtClean="0">
                <a:solidFill>
                  <a:srgbClr val="FF0000"/>
                </a:solidFill>
              </a:rPr>
              <a:t> </a:t>
            </a:r>
          </a:p>
          <a:p>
            <a:pPr eaLnBrk="1" hangingPunct="1">
              <a:lnSpc>
                <a:spcPct val="90000"/>
              </a:lnSpc>
              <a:buFont typeface="Wingdings" panose="05000000000000000000" pitchFamily="2" charset="2"/>
              <a:buChar char="ü"/>
              <a:defRPr/>
            </a:pPr>
            <a:endParaRPr lang="en-US" i="1" dirty="0" smtClean="0"/>
          </a:p>
          <a:p>
            <a:pPr eaLnBrk="1" hangingPunct="1">
              <a:lnSpc>
                <a:spcPct val="90000"/>
              </a:lnSpc>
              <a:buFont typeface="Wingdings" panose="05000000000000000000" pitchFamily="2" charset="2"/>
              <a:buChar char="Ø"/>
              <a:defRPr/>
            </a:pPr>
            <a:endParaRPr lang="en-US" dirty="0" smtClean="0"/>
          </a:p>
        </p:txBody>
      </p:sp>
    </p:spTree>
    <p:extLst>
      <p:ext uri="{BB962C8B-B14F-4D97-AF65-F5344CB8AC3E}">
        <p14:creationId xmlns:p14="http://schemas.microsoft.com/office/powerpoint/2010/main" val="9800330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normAutofit fontScale="90000"/>
          </a:bodyPr>
          <a:lstStyle/>
          <a:p>
            <a:r>
              <a:rPr lang="en-US" sz="3200" b="1" smtClean="0"/>
              <a:t>What are sexually transmitted diseases (STDs)?</a:t>
            </a:r>
            <a:r>
              <a:rPr lang="en-US" smtClean="0"/>
              <a:t/>
            </a:r>
            <a:br>
              <a:rPr lang="en-US" smtClean="0"/>
            </a:br>
            <a:endParaRPr lang="en-US" smtClean="0"/>
          </a:p>
        </p:txBody>
      </p:sp>
      <p:sp>
        <p:nvSpPr>
          <p:cNvPr id="10243" name="Content Placeholder 2"/>
          <p:cNvSpPr>
            <a:spLocks noGrp="1"/>
          </p:cNvSpPr>
          <p:nvPr>
            <p:ph idx="1"/>
          </p:nvPr>
        </p:nvSpPr>
        <p:spPr>
          <a:xfrm>
            <a:off x="457200" y="1143000"/>
            <a:ext cx="8458200" cy="5181600"/>
          </a:xfrm>
        </p:spPr>
        <p:txBody>
          <a:bodyPr/>
          <a:lstStyle/>
          <a:p>
            <a:r>
              <a:rPr lang="en-US" dirty="0" smtClean="0"/>
              <a:t>Sexually transmitted diseases (STDs), or sexually transmitted infections (STIs), are infections that are passed from one person to another through sexual contact. </a:t>
            </a:r>
          </a:p>
          <a:p>
            <a:r>
              <a:rPr lang="en-US" dirty="0" smtClean="0"/>
              <a:t>The contact is usually </a:t>
            </a:r>
            <a:r>
              <a:rPr lang="en-US" i="1" dirty="0" smtClean="0">
                <a:solidFill>
                  <a:srgbClr val="FF0000"/>
                </a:solidFill>
              </a:rPr>
              <a:t>vaginal, oral, or anal sex. </a:t>
            </a:r>
            <a:r>
              <a:rPr lang="en-US" dirty="0" smtClean="0"/>
              <a:t>But sometimes they can spread through other intimate physical contact. This is because some STDs, like herpes are spread by skin-to-skin contact.</a:t>
            </a:r>
          </a:p>
          <a:p>
            <a:endParaRPr lang="en-US" dirty="0" smtClean="0"/>
          </a:p>
        </p:txBody>
      </p:sp>
      <p:sp>
        <p:nvSpPr>
          <p:cNvPr id="1024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19041C1-A29B-4788-B6E5-B6D9C5708ADA}" type="slidenum">
              <a:rPr lang="en-US" sz="1400" smtClean="0"/>
              <a:pPr>
                <a:spcBef>
                  <a:spcPct val="0"/>
                </a:spcBef>
                <a:buFontTx/>
                <a:buNone/>
              </a:pPr>
              <a:t>34</a:t>
            </a:fld>
            <a:endParaRPr lang="en-US" sz="1400" smtClean="0"/>
          </a:p>
        </p:txBody>
      </p:sp>
    </p:spTree>
    <p:extLst>
      <p:ext uri="{BB962C8B-B14F-4D97-AF65-F5344CB8AC3E}">
        <p14:creationId xmlns:p14="http://schemas.microsoft.com/office/powerpoint/2010/main" val="33788310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fontScale="90000"/>
          </a:bodyPr>
          <a:lstStyle/>
          <a:p>
            <a:r>
              <a:rPr lang="en-US" sz="3600" b="1" smtClean="0"/>
              <a:t>major causes of STDs</a:t>
            </a:r>
            <a:r>
              <a:rPr lang="en-US" smtClean="0"/>
              <a:t/>
            </a:r>
            <a:br>
              <a:rPr lang="en-US" smtClean="0"/>
            </a:br>
            <a:endParaRPr lang="en-US" smtClean="0"/>
          </a:p>
        </p:txBody>
      </p:sp>
      <p:sp>
        <p:nvSpPr>
          <p:cNvPr id="11267" name="Content Placeholder 2"/>
          <p:cNvSpPr>
            <a:spLocks noGrp="1"/>
          </p:cNvSpPr>
          <p:nvPr>
            <p:ph idx="1"/>
          </p:nvPr>
        </p:nvSpPr>
        <p:spPr>
          <a:xfrm>
            <a:off x="457200" y="990600"/>
            <a:ext cx="8229600" cy="5135563"/>
          </a:xfrm>
        </p:spPr>
        <p:txBody>
          <a:bodyPr/>
          <a:lstStyle/>
          <a:p>
            <a:pPr>
              <a:buFont typeface="Wingdings" panose="05000000000000000000" pitchFamily="2" charset="2"/>
              <a:buChar char="v"/>
            </a:pPr>
            <a:r>
              <a:rPr lang="en-US" dirty="0" smtClean="0">
                <a:solidFill>
                  <a:srgbClr val="FF0000"/>
                </a:solidFill>
              </a:rPr>
              <a:t>Bacteria, </a:t>
            </a:r>
            <a:r>
              <a:rPr lang="en-US" dirty="0" smtClean="0"/>
              <a:t>including chlamydia, gonorrhea, and syphilis</a:t>
            </a:r>
          </a:p>
          <a:p>
            <a:pPr>
              <a:buFont typeface="Wingdings" panose="05000000000000000000" pitchFamily="2" charset="2"/>
              <a:buChar char="v"/>
            </a:pPr>
            <a:r>
              <a:rPr lang="en-US" dirty="0" smtClean="0">
                <a:solidFill>
                  <a:srgbClr val="FF0000"/>
                </a:solidFill>
              </a:rPr>
              <a:t>Viruses, </a:t>
            </a:r>
            <a:r>
              <a:rPr lang="en-US" dirty="0" smtClean="0"/>
              <a:t>including </a:t>
            </a:r>
            <a:r>
              <a:rPr lang="en-US" u="sng" dirty="0" smtClean="0">
                <a:hlinkClick r:id="rId2"/>
              </a:rPr>
              <a:t>HIV/AIDS</a:t>
            </a:r>
            <a:r>
              <a:rPr lang="en-US" dirty="0" smtClean="0"/>
              <a:t>, herpes simplex virus, human papillomavirus, hepatitis B virus, cytomegalovirus (CMV), and </a:t>
            </a:r>
            <a:r>
              <a:rPr lang="en-US" dirty="0" err="1" smtClean="0"/>
              <a:t>Zika</a:t>
            </a:r>
            <a:endParaRPr lang="en-US" dirty="0" smtClean="0"/>
          </a:p>
          <a:p>
            <a:pPr>
              <a:buFont typeface="Wingdings" panose="05000000000000000000" pitchFamily="2" charset="2"/>
              <a:buChar char="v"/>
            </a:pPr>
            <a:r>
              <a:rPr lang="en-US" sz="2800" dirty="0" smtClean="0"/>
              <a:t>Any STDs can be spread through sexual activity including sexual intercourse, and some STDs also are spread through oral sex and other sexual activity. Ejaculation does not have to occur for an STDs to pass from person to person.</a:t>
            </a:r>
          </a:p>
          <a:p>
            <a:endParaRPr lang="en-US" dirty="0" smtClean="0"/>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5A8DF80-4FA9-4F87-B014-A5915DC19450}" type="slidenum">
              <a:rPr lang="en-US" sz="1400" smtClean="0"/>
              <a:pPr>
                <a:spcBef>
                  <a:spcPct val="0"/>
                </a:spcBef>
                <a:buFontTx/>
                <a:buNone/>
              </a:pPr>
              <a:t>35</a:t>
            </a:fld>
            <a:endParaRPr lang="en-US" sz="1400" smtClean="0"/>
          </a:p>
        </p:txBody>
      </p:sp>
    </p:spTree>
    <p:extLst>
      <p:ext uri="{BB962C8B-B14F-4D97-AF65-F5344CB8AC3E}">
        <p14:creationId xmlns:p14="http://schemas.microsoft.com/office/powerpoint/2010/main" val="14136363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8"/>
            <a:ext cx="8229600" cy="1401762"/>
          </a:xfrm>
        </p:spPr>
        <p:txBody>
          <a:bodyPr>
            <a:normAutofit fontScale="90000"/>
          </a:bodyPr>
          <a:lstStyle/>
          <a:p>
            <a:r>
              <a:rPr lang="en-US" sz="3600" smtClean="0"/>
              <a:t>There are more than 20 types of STDs, including:</a:t>
            </a:r>
            <a:r>
              <a:rPr lang="en-US" smtClean="0"/>
              <a:t/>
            </a:r>
            <a:br>
              <a:rPr lang="en-US" smtClean="0"/>
            </a:br>
            <a:endParaRPr lang="en-US" smtClean="0"/>
          </a:p>
        </p:txBody>
      </p:sp>
      <p:sp>
        <p:nvSpPr>
          <p:cNvPr id="3" name="Content Placeholder 2"/>
          <p:cNvSpPr>
            <a:spLocks noGrp="1"/>
          </p:cNvSpPr>
          <p:nvPr>
            <p:ph idx="1"/>
          </p:nvPr>
        </p:nvSpPr>
        <p:spPr/>
        <p:txBody>
          <a:bodyPr>
            <a:normAutofit fontScale="92500" lnSpcReduction="20000"/>
          </a:bodyPr>
          <a:lstStyle/>
          <a:p>
            <a:pPr>
              <a:defRPr/>
            </a:pPr>
            <a:r>
              <a:rPr lang="en-US" u="sng" dirty="0" smtClean="0">
                <a:solidFill>
                  <a:srgbClr val="0070C0"/>
                </a:solidFill>
                <a:hlinkClick r:id="rId2"/>
              </a:rPr>
              <a:t>Chlamydia</a:t>
            </a:r>
            <a:endParaRPr lang="en-US" u="sng" dirty="0">
              <a:solidFill>
                <a:srgbClr val="0070C0"/>
              </a:solidFill>
            </a:endParaRPr>
          </a:p>
          <a:p>
            <a:pPr>
              <a:defRPr/>
            </a:pPr>
            <a:r>
              <a:rPr lang="en-US" u="sng" dirty="0">
                <a:solidFill>
                  <a:srgbClr val="0070C0"/>
                </a:solidFill>
                <a:hlinkClick r:id="rId3"/>
              </a:rPr>
              <a:t>Genital herpes</a:t>
            </a:r>
            <a:endParaRPr lang="en-US" u="sng" dirty="0">
              <a:solidFill>
                <a:srgbClr val="0070C0"/>
              </a:solidFill>
            </a:endParaRPr>
          </a:p>
          <a:p>
            <a:pPr>
              <a:defRPr/>
            </a:pPr>
            <a:r>
              <a:rPr lang="en-US" u="sng" dirty="0">
                <a:solidFill>
                  <a:srgbClr val="0070C0"/>
                </a:solidFill>
                <a:hlinkClick r:id="rId4"/>
              </a:rPr>
              <a:t>Gonorrhea</a:t>
            </a:r>
            <a:endParaRPr lang="en-US" u="sng" dirty="0">
              <a:solidFill>
                <a:srgbClr val="0070C0"/>
              </a:solidFill>
            </a:endParaRPr>
          </a:p>
          <a:p>
            <a:pPr>
              <a:defRPr/>
            </a:pPr>
            <a:r>
              <a:rPr lang="en-US" u="sng" dirty="0">
                <a:solidFill>
                  <a:srgbClr val="0070C0"/>
                </a:solidFill>
                <a:hlinkClick r:id="rId5"/>
              </a:rPr>
              <a:t>HIV/AIDS</a:t>
            </a:r>
            <a:r>
              <a:rPr lang="en-US" u="sng" dirty="0">
                <a:solidFill>
                  <a:srgbClr val="0070C0"/>
                </a:solidFill>
              </a:rPr>
              <a:t> </a:t>
            </a:r>
          </a:p>
          <a:p>
            <a:pPr>
              <a:defRPr/>
            </a:pPr>
            <a:r>
              <a:rPr lang="en-US" u="sng" dirty="0">
                <a:solidFill>
                  <a:srgbClr val="0070C0"/>
                </a:solidFill>
                <a:hlinkClick r:id="rId6"/>
              </a:rPr>
              <a:t>HPV</a:t>
            </a:r>
            <a:endParaRPr lang="en-US" u="sng" dirty="0">
              <a:solidFill>
                <a:srgbClr val="0070C0"/>
              </a:solidFill>
            </a:endParaRPr>
          </a:p>
          <a:p>
            <a:pPr>
              <a:defRPr/>
            </a:pPr>
            <a:r>
              <a:rPr lang="en-US" u="sng" dirty="0">
                <a:solidFill>
                  <a:srgbClr val="0070C0"/>
                </a:solidFill>
                <a:hlinkClick r:id="rId7"/>
              </a:rPr>
              <a:t>Pubic lice</a:t>
            </a:r>
            <a:r>
              <a:rPr lang="en-US" u="sng" dirty="0">
                <a:solidFill>
                  <a:srgbClr val="0070C0"/>
                </a:solidFill>
              </a:rPr>
              <a:t> </a:t>
            </a:r>
          </a:p>
          <a:p>
            <a:pPr>
              <a:defRPr/>
            </a:pPr>
            <a:r>
              <a:rPr lang="en-US" u="sng" dirty="0">
                <a:solidFill>
                  <a:srgbClr val="0070C0"/>
                </a:solidFill>
                <a:hlinkClick r:id="rId8"/>
              </a:rPr>
              <a:t>Syphilis</a:t>
            </a:r>
            <a:endParaRPr lang="en-US" u="sng" dirty="0">
              <a:solidFill>
                <a:srgbClr val="0070C0"/>
              </a:solidFill>
            </a:endParaRPr>
          </a:p>
          <a:p>
            <a:pPr>
              <a:defRPr/>
            </a:pPr>
            <a:r>
              <a:rPr lang="en-US" u="sng" dirty="0" err="1" smtClean="0">
                <a:solidFill>
                  <a:srgbClr val="0070C0"/>
                </a:solidFill>
                <a:hlinkClick r:id="rId9"/>
              </a:rPr>
              <a:t>Trichomoniasis</a:t>
            </a:r>
            <a:endParaRPr lang="en-US" u="sng" dirty="0" smtClean="0">
              <a:solidFill>
                <a:srgbClr val="0070C0"/>
              </a:solidFill>
            </a:endParaRPr>
          </a:p>
          <a:p>
            <a:pPr>
              <a:defRPr/>
            </a:pPr>
            <a:r>
              <a:rPr lang="en-US" b="1" u="sng" dirty="0" smtClean="0">
                <a:solidFill>
                  <a:srgbClr val="0070C0"/>
                </a:solidFill>
              </a:rPr>
              <a:t>Hepatitis B</a:t>
            </a:r>
            <a:endParaRPr lang="en-US" b="1" u="sng" dirty="0">
              <a:solidFill>
                <a:srgbClr val="0070C0"/>
              </a:solidFill>
            </a:endParaRPr>
          </a:p>
          <a:p>
            <a:pPr>
              <a:defRPr/>
            </a:pPr>
            <a:endParaRPr lang="en-US" dirty="0"/>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7C093CA-3BD8-4D5D-8830-7DC4D1EEA50E}" type="slidenum">
              <a:rPr lang="en-US" sz="1400" smtClean="0"/>
              <a:pPr>
                <a:spcBef>
                  <a:spcPct val="0"/>
                </a:spcBef>
                <a:buFontTx/>
                <a:buNone/>
              </a:pPr>
              <a:t>36</a:t>
            </a:fld>
            <a:endParaRPr lang="en-US" sz="1400" smtClean="0"/>
          </a:p>
        </p:txBody>
      </p:sp>
    </p:spTree>
    <p:extLst>
      <p:ext uri="{BB962C8B-B14F-4D97-AF65-F5344CB8AC3E}">
        <p14:creationId xmlns:p14="http://schemas.microsoft.com/office/powerpoint/2010/main" val="35611554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fontScale="90000"/>
          </a:bodyPr>
          <a:lstStyle/>
          <a:p>
            <a:r>
              <a:rPr lang="en-US" sz="3200" b="1" smtClean="0"/>
              <a:t>Who is affected by sexually transmitted diseases (STDs)?</a:t>
            </a:r>
            <a:r>
              <a:rPr lang="en-US" sz="3200" smtClean="0"/>
              <a:t/>
            </a:r>
            <a:br>
              <a:rPr lang="en-US" sz="3200" smtClean="0"/>
            </a:br>
            <a:endParaRPr lang="en-US" sz="3200" smtClean="0"/>
          </a:p>
        </p:txBody>
      </p:sp>
      <p:sp>
        <p:nvSpPr>
          <p:cNvPr id="13315" name="Content Placeholder 2"/>
          <p:cNvSpPr>
            <a:spLocks noGrp="1"/>
          </p:cNvSpPr>
          <p:nvPr>
            <p:ph idx="1"/>
          </p:nvPr>
        </p:nvSpPr>
        <p:spPr/>
        <p:txBody>
          <a:bodyPr/>
          <a:lstStyle/>
          <a:p>
            <a:r>
              <a:rPr lang="en-US" smtClean="0"/>
              <a:t>Most STDs affect both men and women, but in many cases the health problems they cause can be more severe for women. If a </a:t>
            </a:r>
            <a:r>
              <a:rPr lang="en-US" u="sng" smtClean="0">
                <a:hlinkClick r:id="rId2"/>
              </a:rPr>
              <a:t>pregnant woman</a:t>
            </a:r>
            <a:r>
              <a:rPr lang="en-US" smtClean="0"/>
              <a:t> has an STD, it can cause serious health problems for the baby.</a:t>
            </a:r>
          </a:p>
          <a:p>
            <a:endParaRPr lang="en-US" smtClean="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1C5ADD9-6450-4A2B-AA71-C68CD096EF3D}" type="slidenum">
              <a:rPr lang="en-US" sz="1400" smtClean="0"/>
              <a:pPr>
                <a:spcBef>
                  <a:spcPct val="0"/>
                </a:spcBef>
                <a:buFontTx/>
                <a:buNone/>
              </a:pPr>
              <a:t>37</a:t>
            </a:fld>
            <a:endParaRPr lang="en-US" sz="1400" smtClean="0"/>
          </a:p>
        </p:txBody>
      </p:sp>
    </p:spTree>
    <p:extLst>
      <p:ext uri="{BB962C8B-B14F-4D97-AF65-F5344CB8AC3E}">
        <p14:creationId xmlns:p14="http://schemas.microsoft.com/office/powerpoint/2010/main" val="240080967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fontScale="90000"/>
          </a:bodyPr>
          <a:lstStyle/>
          <a:p>
            <a:r>
              <a:rPr lang="en-US" sz="3200" b="1" smtClean="0"/>
              <a:t>What are the symptoms of sexually transmitted diseases (STDs)?</a:t>
            </a:r>
            <a:r>
              <a:rPr lang="en-US" sz="3200" smtClean="0"/>
              <a:t/>
            </a:r>
            <a:br>
              <a:rPr lang="en-US" sz="3200" smtClean="0"/>
            </a:br>
            <a:endParaRPr lang="en-US" sz="3200" smtClean="0"/>
          </a:p>
        </p:txBody>
      </p:sp>
      <p:sp>
        <p:nvSpPr>
          <p:cNvPr id="14339" name="Content Placeholder 2"/>
          <p:cNvSpPr>
            <a:spLocks noGrp="1"/>
          </p:cNvSpPr>
          <p:nvPr>
            <p:ph idx="1"/>
          </p:nvPr>
        </p:nvSpPr>
        <p:spPr/>
        <p:txBody>
          <a:bodyPr/>
          <a:lstStyle/>
          <a:p>
            <a:pPr>
              <a:buFont typeface="Wingdings" panose="05000000000000000000" pitchFamily="2" charset="2"/>
              <a:buChar char="v"/>
            </a:pPr>
            <a:r>
              <a:rPr lang="en-US" smtClean="0"/>
              <a:t> STDs don't always cause symptoms or may only cause mild symptoms. So it is possible to have an infection and not know it. But you can still pass it on to others.</a:t>
            </a:r>
          </a:p>
          <a:p>
            <a:endParaRPr lang="en-US" smtClean="0"/>
          </a:p>
        </p:txBody>
      </p:sp>
      <p:sp>
        <p:nvSpPr>
          <p:cNvPr id="143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C9E1B9B-8D8D-453E-9B47-A09B19904529}" type="slidenum">
              <a:rPr lang="en-US" sz="1400" smtClean="0"/>
              <a:pPr>
                <a:spcBef>
                  <a:spcPct val="0"/>
                </a:spcBef>
                <a:buFontTx/>
                <a:buNone/>
              </a:pPr>
              <a:t>38</a:t>
            </a:fld>
            <a:endParaRPr lang="en-US" sz="1400" smtClean="0"/>
          </a:p>
        </p:txBody>
      </p:sp>
    </p:spTree>
    <p:extLst>
      <p:ext uri="{BB962C8B-B14F-4D97-AF65-F5344CB8AC3E}">
        <p14:creationId xmlns:p14="http://schemas.microsoft.com/office/powerpoint/2010/main" val="244394339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r>
              <a:rPr lang="en-US" sz="3200" b="1" smtClean="0"/>
              <a:t>How are sexually transmitted diseases (STDs) diagnosed?</a:t>
            </a:r>
            <a:r>
              <a:rPr lang="en-US" sz="3200" smtClean="0"/>
              <a:t/>
            </a:r>
            <a:br>
              <a:rPr lang="en-US" sz="3200" smtClean="0"/>
            </a:br>
            <a:endParaRPr lang="en-US" sz="3200" smtClean="0"/>
          </a:p>
        </p:txBody>
      </p:sp>
      <p:sp>
        <p:nvSpPr>
          <p:cNvPr id="15363" name="Content Placeholder 2"/>
          <p:cNvSpPr>
            <a:spLocks noGrp="1"/>
          </p:cNvSpPr>
          <p:nvPr>
            <p:ph idx="1"/>
          </p:nvPr>
        </p:nvSpPr>
        <p:spPr>
          <a:xfrm>
            <a:off x="457200" y="1219200"/>
            <a:ext cx="8534400" cy="5181600"/>
          </a:xfrm>
        </p:spPr>
        <p:txBody>
          <a:bodyPr/>
          <a:lstStyle/>
          <a:p>
            <a:pPr>
              <a:buFont typeface="Wingdings" panose="05000000000000000000" pitchFamily="2" charset="2"/>
              <a:buChar char="v"/>
            </a:pPr>
            <a:r>
              <a:rPr lang="en-US" dirty="0" smtClean="0"/>
              <a:t>If you are sexually active, you should talk to your health care provider about your risk for STDs and whether you need to be tested. This is especially important since many STDs do not usually cause symptoms.</a:t>
            </a:r>
          </a:p>
          <a:p>
            <a:pPr>
              <a:buFont typeface="Wingdings" panose="05000000000000000000" pitchFamily="2" charset="2"/>
              <a:buChar char="v"/>
            </a:pPr>
            <a:r>
              <a:rPr lang="en-US" dirty="0" smtClean="0"/>
              <a:t>Some STDs may be diagnosed during a physical exam or through microscopic examination of a </a:t>
            </a:r>
            <a:r>
              <a:rPr lang="en-US" dirty="0" smtClean="0">
                <a:solidFill>
                  <a:srgbClr val="FF0000"/>
                </a:solidFill>
              </a:rPr>
              <a:t>sore or fluid </a:t>
            </a:r>
            <a:r>
              <a:rPr lang="en-US" dirty="0" smtClean="0"/>
              <a:t>swabbed from the </a:t>
            </a:r>
            <a:r>
              <a:rPr lang="en-US" dirty="0" smtClean="0">
                <a:solidFill>
                  <a:srgbClr val="FF0000"/>
                </a:solidFill>
              </a:rPr>
              <a:t>vagina, penis, or anus</a:t>
            </a:r>
            <a:r>
              <a:rPr lang="en-US" dirty="0" smtClean="0"/>
              <a:t>. Blood tests can diagnose other types of STDs.</a:t>
            </a:r>
          </a:p>
          <a:p>
            <a:endParaRPr lang="en-US" dirty="0" smtClean="0"/>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B618445-3A3C-41A7-99D6-7F1BB7BA3081}" type="slidenum">
              <a:rPr lang="en-US" sz="1400" smtClean="0"/>
              <a:pPr>
                <a:spcBef>
                  <a:spcPct val="0"/>
                </a:spcBef>
                <a:buFontTx/>
                <a:buNone/>
              </a:pPr>
              <a:t>39</a:t>
            </a:fld>
            <a:endParaRPr lang="en-US" sz="1400" smtClean="0"/>
          </a:p>
        </p:txBody>
      </p:sp>
    </p:spTree>
    <p:extLst>
      <p:ext uri="{BB962C8B-B14F-4D97-AF65-F5344CB8AC3E}">
        <p14:creationId xmlns:p14="http://schemas.microsoft.com/office/powerpoint/2010/main" val="42562795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fontScale="90000"/>
          </a:bodyPr>
          <a:lstStyle/>
          <a:p>
            <a:r>
              <a:rPr lang="en-US" sz="3200" b="1" smtClean="0"/>
              <a:t>What are the treatments for sexually transmitted diseases (STDs)?</a:t>
            </a:r>
            <a:r>
              <a:rPr lang="en-US" sz="3200" smtClean="0"/>
              <a:t/>
            </a:r>
            <a:br>
              <a:rPr lang="en-US" sz="3200" smtClean="0"/>
            </a:br>
            <a:endParaRPr lang="en-US" sz="3200" smtClean="0"/>
          </a:p>
        </p:txBody>
      </p:sp>
      <p:sp>
        <p:nvSpPr>
          <p:cNvPr id="16387" name="Content Placeholder 2"/>
          <p:cNvSpPr>
            <a:spLocks noGrp="1"/>
          </p:cNvSpPr>
          <p:nvPr>
            <p:ph idx="1"/>
          </p:nvPr>
        </p:nvSpPr>
        <p:spPr/>
        <p:txBody>
          <a:bodyPr/>
          <a:lstStyle/>
          <a:p>
            <a:r>
              <a:rPr lang="en-US" smtClean="0"/>
              <a:t>Antibiotics can treat STDs caused by bacteria or parasites. There is no cure for STDs caused by viruses, but medicines can often help with the symptoms and lower your risk of spreading the infection.</a:t>
            </a:r>
          </a:p>
          <a:p>
            <a:endParaRPr lang="en-US" smtClean="0"/>
          </a:p>
        </p:txBody>
      </p:sp>
      <p:sp>
        <p:nvSpPr>
          <p:cNvPr id="163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43E2AAD-9689-4FAD-869D-EBE977A3C4E6}" type="slidenum">
              <a:rPr lang="en-US" sz="1400" smtClean="0"/>
              <a:pPr>
                <a:spcBef>
                  <a:spcPct val="0"/>
                </a:spcBef>
                <a:buFontTx/>
                <a:buNone/>
              </a:pPr>
              <a:t>40</a:t>
            </a:fld>
            <a:endParaRPr lang="en-US" sz="1400" smtClean="0"/>
          </a:p>
        </p:txBody>
      </p:sp>
    </p:spTree>
    <p:extLst>
      <p:ext uri="{BB962C8B-B14F-4D97-AF65-F5344CB8AC3E}">
        <p14:creationId xmlns:p14="http://schemas.microsoft.com/office/powerpoint/2010/main" val="11570365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609600"/>
            <a:ext cx="8458200" cy="3657600"/>
          </a:xfrm>
        </p:spPr>
        <p:txBody>
          <a:bodyPr/>
          <a:lstStyle/>
          <a:p>
            <a:r>
              <a:rPr lang="en-US" sz="5000" b="1" smtClean="0"/>
              <a:t>Overview of HIV and AIDS Epidemiology</a:t>
            </a:r>
            <a:br>
              <a:rPr lang="en-US" sz="5000" b="1" smtClean="0"/>
            </a:br>
            <a:endParaRPr lang="en-US" sz="5000" b="1" smtClean="0"/>
          </a:p>
        </p:txBody>
      </p:sp>
      <p:sp>
        <p:nvSpPr>
          <p:cNvPr id="17411" name="Slide Number Placeholder 3"/>
          <p:cNvSpPr>
            <a:spLocks noGrp="1"/>
          </p:cNvSpPr>
          <p:nvPr>
            <p:ph type="sldNum" sz="quarter" idx="12"/>
          </p:nvPr>
        </p:nvSpPr>
        <p:spPr>
          <a:xfrm>
            <a:off x="6553200"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F7B7C03-3D40-4FBA-9B73-1E6104D32B3E}" type="slidenum">
              <a:rPr lang="en-US" sz="1400" smtClean="0"/>
              <a:pPr>
                <a:spcBef>
                  <a:spcPct val="0"/>
                </a:spcBef>
                <a:buFontTx/>
                <a:buNone/>
              </a:pPr>
              <a:t>41</a:t>
            </a:fld>
            <a:endParaRPr lang="en-US" sz="1400" smtClean="0"/>
          </a:p>
        </p:txBody>
      </p:sp>
    </p:spTree>
    <p:extLst>
      <p:ext uri="{BB962C8B-B14F-4D97-AF65-F5344CB8AC3E}">
        <p14:creationId xmlns:p14="http://schemas.microsoft.com/office/powerpoint/2010/main" val="20320562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4ED5593-4E87-4E09-BEC4-82EAEDD5C8BB}" type="slidenum">
              <a:rPr lang="en-US" sz="1400" smtClean="0"/>
              <a:pPr>
                <a:spcBef>
                  <a:spcPct val="0"/>
                </a:spcBef>
                <a:buFontTx/>
                <a:buNone/>
              </a:pPr>
              <a:t>42</a:t>
            </a:fld>
            <a:endParaRPr lang="en-US" sz="1400" smtClean="0"/>
          </a:p>
        </p:txBody>
      </p:sp>
      <p:sp>
        <p:nvSpPr>
          <p:cNvPr id="18435" name="Rectangle 2"/>
          <p:cNvSpPr>
            <a:spLocks noGrp="1" noChangeArrowheads="1"/>
          </p:cNvSpPr>
          <p:nvPr>
            <p:ph type="title"/>
          </p:nvPr>
        </p:nvSpPr>
        <p:spPr>
          <a:xfrm>
            <a:off x="228600" y="0"/>
            <a:ext cx="8610600" cy="838200"/>
          </a:xfrm>
        </p:spPr>
        <p:txBody>
          <a:bodyPr/>
          <a:lstStyle/>
          <a:p>
            <a:pPr eaLnBrk="1" hangingPunct="1"/>
            <a:r>
              <a:rPr lang="en-US" sz="4000" b="1" smtClean="0"/>
              <a:t>HIV</a:t>
            </a:r>
          </a:p>
        </p:txBody>
      </p:sp>
      <p:sp>
        <p:nvSpPr>
          <p:cNvPr id="3076" name="Rectangle 3"/>
          <p:cNvSpPr>
            <a:spLocks noGrp="1" noChangeArrowheads="1"/>
          </p:cNvSpPr>
          <p:nvPr>
            <p:ph type="body" idx="1"/>
          </p:nvPr>
        </p:nvSpPr>
        <p:spPr>
          <a:xfrm>
            <a:off x="0" y="838200"/>
            <a:ext cx="9144000" cy="6019800"/>
          </a:xfrm>
        </p:spPr>
        <p:txBody>
          <a:bodyPr/>
          <a:lstStyle/>
          <a:p>
            <a:pPr eaLnBrk="1" hangingPunct="1">
              <a:buFont typeface="Wingdings" panose="05000000000000000000" pitchFamily="2" charset="2"/>
              <a:buChar char="Ø"/>
            </a:pPr>
            <a:r>
              <a:rPr lang="en-US" sz="3300" smtClean="0"/>
              <a:t>HIV stands for Human Immunodeficiency Virus</a:t>
            </a:r>
          </a:p>
          <a:p>
            <a:pPr eaLnBrk="1" hangingPunct="1">
              <a:buFont typeface="Wingdings" panose="05000000000000000000" pitchFamily="2" charset="2"/>
              <a:buChar char="Ø"/>
            </a:pPr>
            <a:r>
              <a:rPr lang="en-US" sz="3300" smtClean="0"/>
              <a:t>HIV  is a virus that attacks the immune system </a:t>
            </a:r>
          </a:p>
          <a:p>
            <a:pPr eaLnBrk="1" hangingPunct="1">
              <a:buFont typeface="Wingdings" panose="05000000000000000000" pitchFamily="2" charset="2"/>
              <a:buChar char="Ø"/>
            </a:pPr>
            <a:r>
              <a:rPr lang="en-US" sz="3300" smtClean="0"/>
              <a:t>It affects specific cells of the immune system: white blood cells called CD4 cells of T cells</a:t>
            </a:r>
          </a:p>
          <a:p>
            <a:pPr eaLnBrk="1" hangingPunct="1">
              <a:buFont typeface="Wingdings" panose="05000000000000000000" pitchFamily="2" charset="2"/>
              <a:buChar char="Ø"/>
            </a:pPr>
            <a:r>
              <a:rPr lang="en-US" sz="3300" smtClean="0"/>
              <a:t>When many CD4 cells are destroyed, the body can no longer defend itself against infection</a:t>
            </a:r>
          </a:p>
          <a:p>
            <a:pPr eaLnBrk="1" hangingPunct="1">
              <a:buFont typeface="Wingdings" panose="05000000000000000000" pitchFamily="2" charset="2"/>
              <a:buChar char="Ø"/>
            </a:pPr>
            <a:r>
              <a:rPr lang="en-US" sz="3600" smtClean="0"/>
              <a:t>In short HIV is the virus which causes AIDS </a:t>
            </a:r>
          </a:p>
        </p:txBody>
      </p:sp>
    </p:spTree>
    <p:extLst>
      <p:ext uri="{BB962C8B-B14F-4D97-AF65-F5344CB8AC3E}">
        <p14:creationId xmlns:p14="http://schemas.microsoft.com/office/powerpoint/2010/main" val="15223756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6">
                                            <p:txEl>
                                              <p:pRg st="0" end="0"/>
                                            </p:txEl>
                                          </p:spTgt>
                                        </p:tgtEl>
                                        <p:attrNameLst>
                                          <p:attrName>style.visibility</p:attrName>
                                        </p:attrNameLst>
                                      </p:cBhvr>
                                      <p:to>
                                        <p:strVal val="visible"/>
                                      </p:to>
                                    </p:set>
                                    <p:animEffect transition="in" filter="fade">
                                      <p:cBhvr>
                                        <p:cTn id="7" dur="2000"/>
                                        <p:tgtEl>
                                          <p:spTgt spid="30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6">
                                            <p:txEl>
                                              <p:pRg st="1" end="1"/>
                                            </p:txEl>
                                          </p:spTgt>
                                        </p:tgtEl>
                                        <p:attrNameLst>
                                          <p:attrName>style.visibility</p:attrName>
                                        </p:attrNameLst>
                                      </p:cBhvr>
                                      <p:to>
                                        <p:strVal val="visible"/>
                                      </p:to>
                                    </p:set>
                                    <p:animEffect transition="in" filter="fade">
                                      <p:cBhvr>
                                        <p:cTn id="12" dur="2000"/>
                                        <p:tgtEl>
                                          <p:spTgt spid="307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6">
                                            <p:txEl>
                                              <p:pRg st="2" end="2"/>
                                            </p:txEl>
                                          </p:spTgt>
                                        </p:tgtEl>
                                        <p:attrNameLst>
                                          <p:attrName>style.visibility</p:attrName>
                                        </p:attrNameLst>
                                      </p:cBhvr>
                                      <p:to>
                                        <p:strVal val="visible"/>
                                      </p:to>
                                    </p:set>
                                    <p:animEffect transition="in" filter="fade">
                                      <p:cBhvr>
                                        <p:cTn id="17" dur="2000"/>
                                        <p:tgtEl>
                                          <p:spTgt spid="307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76">
                                            <p:txEl>
                                              <p:pRg st="3" end="3"/>
                                            </p:txEl>
                                          </p:spTgt>
                                        </p:tgtEl>
                                        <p:attrNameLst>
                                          <p:attrName>style.visibility</p:attrName>
                                        </p:attrNameLst>
                                      </p:cBhvr>
                                      <p:to>
                                        <p:strVal val="visible"/>
                                      </p:to>
                                    </p:set>
                                    <p:animEffect transition="in" filter="fade">
                                      <p:cBhvr>
                                        <p:cTn id="22" dur="2000"/>
                                        <p:tgtEl>
                                          <p:spTgt spid="307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076">
                                            <p:txEl>
                                              <p:pRg st="4" end="4"/>
                                            </p:txEl>
                                          </p:spTgt>
                                        </p:tgtEl>
                                        <p:attrNameLst>
                                          <p:attrName>style.visibility</p:attrName>
                                        </p:attrNameLst>
                                      </p:cBhvr>
                                      <p:to>
                                        <p:strVal val="visible"/>
                                      </p:to>
                                    </p:set>
                                    <p:animEffect transition="in" filter="fade">
                                      <p:cBhvr>
                                        <p:cTn id="27" dur="2000"/>
                                        <p:tgtEl>
                                          <p:spTgt spid="30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42AC0FF-8618-483C-8733-8078B5CBC059}" type="slidenum">
              <a:rPr lang="en-US" sz="1400" smtClean="0"/>
              <a:pPr>
                <a:spcBef>
                  <a:spcPct val="0"/>
                </a:spcBef>
                <a:buFontTx/>
                <a:buNone/>
              </a:pPr>
              <a:t>43</a:t>
            </a:fld>
            <a:endParaRPr lang="en-US" sz="1400" smtClean="0"/>
          </a:p>
        </p:txBody>
      </p:sp>
      <p:sp>
        <p:nvSpPr>
          <p:cNvPr id="20483" name="Rectangle 2"/>
          <p:cNvSpPr>
            <a:spLocks noGrp="1" noChangeArrowheads="1"/>
          </p:cNvSpPr>
          <p:nvPr>
            <p:ph type="title"/>
          </p:nvPr>
        </p:nvSpPr>
        <p:spPr>
          <a:xfrm>
            <a:off x="0" y="0"/>
            <a:ext cx="8686800" cy="457200"/>
          </a:xfrm>
        </p:spPr>
        <p:txBody>
          <a:bodyPr>
            <a:normAutofit fontScale="90000"/>
          </a:bodyPr>
          <a:lstStyle/>
          <a:p>
            <a:pPr eaLnBrk="1" hangingPunct="1"/>
            <a:r>
              <a:rPr lang="en-US" sz="4000" b="1" smtClean="0"/>
              <a:t>AIDS</a:t>
            </a:r>
          </a:p>
        </p:txBody>
      </p:sp>
      <p:sp>
        <p:nvSpPr>
          <p:cNvPr id="5124" name="Rectangle 3"/>
          <p:cNvSpPr>
            <a:spLocks noGrp="1" noChangeArrowheads="1"/>
          </p:cNvSpPr>
          <p:nvPr>
            <p:ph type="body" idx="1"/>
          </p:nvPr>
        </p:nvSpPr>
        <p:spPr>
          <a:xfrm>
            <a:off x="0" y="533400"/>
            <a:ext cx="9144000" cy="6324600"/>
          </a:xfrm>
        </p:spPr>
        <p:txBody>
          <a:bodyPr/>
          <a:lstStyle/>
          <a:p>
            <a:pPr eaLnBrk="1" hangingPunct="1">
              <a:buFont typeface="Wingdings" panose="05000000000000000000" pitchFamily="2" charset="2"/>
              <a:buChar char="Ø"/>
            </a:pPr>
            <a:r>
              <a:rPr lang="en-US" sz="3300" smtClean="0"/>
              <a:t>AIDS stands for Acquired Immune Deficiency Syndrome/ Acquired immunodeficiency syndrome </a:t>
            </a:r>
          </a:p>
          <a:p>
            <a:pPr eaLnBrk="1" hangingPunct="1">
              <a:buFont typeface="Wingdings" panose="05000000000000000000" pitchFamily="2" charset="2"/>
              <a:buChar char="Ø"/>
            </a:pPr>
            <a:r>
              <a:rPr lang="en-US" sz="3300" smtClean="0"/>
              <a:t>it is the final stage of HIV infection,</a:t>
            </a:r>
          </a:p>
          <a:p>
            <a:pPr eaLnBrk="1" hangingPunct="1">
              <a:buFont typeface="Wingdings" panose="05000000000000000000" pitchFamily="2" charset="2"/>
              <a:buChar char="Ø"/>
            </a:pPr>
            <a:r>
              <a:rPr lang="en-US" sz="3300" smtClean="0"/>
              <a:t>AIDS is the stage of infection that occurs when immune system is badly damaged &amp; body become vulnerable to opportunistic infections</a:t>
            </a:r>
          </a:p>
          <a:p>
            <a:pPr eaLnBrk="1" hangingPunct="1">
              <a:buFont typeface="Wingdings" panose="05000000000000000000" pitchFamily="2" charset="2"/>
              <a:buChar char="Ø"/>
            </a:pPr>
            <a:r>
              <a:rPr lang="en-US" sz="3600" smtClean="0"/>
              <a:t>Both the virus and the syndrome are often referred to together as </a:t>
            </a:r>
            <a:r>
              <a:rPr lang="en-US" sz="3600" b="1" smtClean="0"/>
              <a:t>HIV/AIDS</a:t>
            </a:r>
            <a:endParaRPr lang="en-US" sz="3600" smtClean="0"/>
          </a:p>
          <a:p>
            <a:pPr eaLnBrk="1" hangingPunct="1">
              <a:buFont typeface="Wingdings" panose="05000000000000000000" pitchFamily="2" charset="2"/>
              <a:buChar char="Ø"/>
            </a:pPr>
            <a:endParaRPr lang="en-US" sz="3300" smtClean="0"/>
          </a:p>
          <a:p>
            <a:pPr eaLnBrk="1" hangingPunct="1">
              <a:buFont typeface="Wingdings" panose="05000000000000000000" pitchFamily="2" charset="2"/>
              <a:buChar char="Ø"/>
            </a:pPr>
            <a:endParaRPr lang="en-US" smtClean="0"/>
          </a:p>
          <a:p>
            <a:pPr eaLnBrk="1" hangingPunct="1">
              <a:buFontTx/>
              <a:buNone/>
            </a:pPr>
            <a:endParaRPr lang="en-US" smtClean="0"/>
          </a:p>
        </p:txBody>
      </p:sp>
    </p:spTree>
    <p:extLst>
      <p:ext uri="{BB962C8B-B14F-4D97-AF65-F5344CB8AC3E}">
        <p14:creationId xmlns:p14="http://schemas.microsoft.com/office/powerpoint/2010/main" val="37234709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animEffect transition="in" filter="fade">
                                      <p:cBhvr>
                                        <p:cTn id="7" dur="2000"/>
                                        <p:tgtEl>
                                          <p:spTgt spid="51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4">
                                            <p:txEl>
                                              <p:pRg st="1" end="1"/>
                                            </p:txEl>
                                          </p:spTgt>
                                        </p:tgtEl>
                                        <p:attrNameLst>
                                          <p:attrName>style.visibility</p:attrName>
                                        </p:attrNameLst>
                                      </p:cBhvr>
                                      <p:to>
                                        <p:strVal val="visible"/>
                                      </p:to>
                                    </p:set>
                                    <p:animEffect transition="in" filter="fade">
                                      <p:cBhvr>
                                        <p:cTn id="12" dur="2000"/>
                                        <p:tgtEl>
                                          <p:spTgt spid="512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24">
                                            <p:txEl>
                                              <p:pRg st="2" end="2"/>
                                            </p:txEl>
                                          </p:spTgt>
                                        </p:tgtEl>
                                        <p:attrNameLst>
                                          <p:attrName>style.visibility</p:attrName>
                                        </p:attrNameLst>
                                      </p:cBhvr>
                                      <p:to>
                                        <p:strVal val="visible"/>
                                      </p:to>
                                    </p:set>
                                    <p:animEffect transition="in" filter="fade">
                                      <p:cBhvr>
                                        <p:cTn id="17" dur="2000"/>
                                        <p:tgtEl>
                                          <p:spTgt spid="512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124">
                                            <p:txEl>
                                              <p:pRg st="3" end="3"/>
                                            </p:txEl>
                                          </p:spTgt>
                                        </p:tgtEl>
                                        <p:attrNameLst>
                                          <p:attrName>style.visibility</p:attrName>
                                        </p:attrNameLst>
                                      </p:cBhvr>
                                      <p:to>
                                        <p:strVal val="visible"/>
                                      </p:to>
                                    </p:set>
                                    <p:animEffect transition="in" filter="fade">
                                      <p:cBhvr>
                                        <p:cTn id="22" dur="2000"/>
                                        <p:tgtEl>
                                          <p:spTgt spid="51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E36E4F0-7CCC-4207-AA71-D21B4BCFC17D}" type="slidenum">
              <a:rPr lang="en-US" sz="1400" smtClean="0"/>
              <a:pPr>
                <a:spcBef>
                  <a:spcPct val="0"/>
                </a:spcBef>
                <a:buFontTx/>
                <a:buNone/>
              </a:pPr>
              <a:t>44</a:t>
            </a:fld>
            <a:endParaRPr lang="en-US" sz="1400" smtClean="0"/>
          </a:p>
        </p:txBody>
      </p:sp>
      <p:sp>
        <p:nvSpPr>
          <p:cNvPr id="22531" name="Rectangle 2"/>
          <p:cNvSpPr>
            <a:spLocks noGrp="1" noChangeArrowheads="1"/>
          </p:cNvSpPr>
          <p:nvPr>
            <p:ph type="title"/>
          </p:nvPr>
        </p:nvSpPr>
        <p:spPr>
          <a:xfrm>
            <a:off x="0" y="0"/>
            <a:ext cx="9144000" cy="762000"/>
          </a:xfrm>
        </p:spPr>
        <p:txBody>
          <a:bodyPr/>
          <a:lstStyle/>
          <a:p>
            <a:pPr algn="l" eaLnBrk="1" hangingPunct="1"/>
            <a:r>
              <a:rPr lang="en-US" sz="4000" b="1" smtClean="0"/>
              <a:t>HIV/AIDS CAUSES &amp;TRANSMISSION</a:t>
            </a:r>
          </a:p>
        </p:txBody>
      </p:sp>
      <p:sp>
        <p:nvSpPr>
          <p:cNvPr id="6148" name="Rectangle 3"/>
          <p:cNvSpPr>
            <a:spLocks noGrp="1" noChangeArrowheads="1"/>
          </p:cNvSpPr>
          <p:nvPr>
            <p:ph type="body" idx="1"/>
          </p:nvPr>
        </p:nvSpPr>
        <p:spPr>
          <a:xfrm>
            <a:off x="0" y="838200"/>
            <a:ext cx="9144000" cy="6019800"/>
          </a:xfrm>
        </p:spPr>
        <p:txBody>
          <a:bodyPr/>
          <a:lstStyle/>
          <a:p>
            <a:pPr eaLnBrk="1" hangingPunct="1">
              <a:buFont typeface="Wingdings" panose="05000000000000000000" pitchFamily="2" charset="2"/>
              <a:buChar char="v"/>
            </a:pPr>
            <a:r>
              <a:rPr lang="en-US" sz="4400" smtClean="0"/>
              <a:t>HIV infection is caused by the human immunodeficiency virus</a:t>
            </a:r>
          </a:p>
          <a:p>
            <a:pPr eaLnBrk="1" hangingPunct="1">
              <a:buFont typeface="Wingdings" panose="05000000000000000000" pitchFamily="2" charset="2"/>
              <a:buChar char="v"/>
            </a:pPr>
            <a:r>
              <a:rPr lang="en-US" sz="4400" smtClean="0"/>
              <a:t>HIV is found in the body fluids of an infected person</a:t>
            </a:r>
          </a:p>
          <a:p>
            <a:pPr eaLnBrk="1" hangingPunct="1">
              <a:buFont typeface="Wingdings" panose="05000000000000000000" pitchFamily="2" charset="2"/>
              <a:buChar char="v"/>
            </a:pPr>
            <a:r>
              <a:rPr lang="en-US" sz="4400" smtClean="0"/>
              <a:t>i.e. semen and vaginal fluids, blood, breast milk</a:t>
            </a:r>
          </a:p>
        </p:txBody>
      </p:sp>
    </p:spTree>
    <p:extLst>
      <p:ext uri="{BB962C8B-B14F-4D97-AF65-F5344CB8AC3E}">
        <p14:creationId xmlns:p14="http://schemas.microsoft.com/office/powerpoint/2010/main" val="4074271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fade">
                                      <p:cBhvr>
                                        <p:cTn id="7" dur="20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8">
                                            <p:txEl>
                                              <p:pRg st="1" end="1"/>
                                            </p:txEl>
                                          </p:spTgt>
                                        </p:tgtEl>
                                        <p:attrNameLst>
                                          <p:attrName>style.visibility</p:attrName>
                                        </p:attrNameLst>
                                      </p:cBhvr>
                                      <p:to>
                                        <p:strVal val="visible"/>
                                      </p:to>
                                    </p:set>
                                    <p:animEffect transition="in" filter="fade">
                                      <p:cBhvr>
                                        <p:cTn id="12" dur="2000"/>
                                        <p:tgtEl>
                                          <p:spTgt spid="614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8">
                                            <p:txEl>
                                              <p:pRg st="2" end="2"/>
                                            </p:txEl>
                                          </p:spTgt>
                                        </p:tgtEl>
                                        <p:attrNameLst>
                                          <p:attrName>style.visibility</p:attrName>
                                        </p:attrNameLst>
                                      </p:cBhvr>
                                      <p:to>
                                        <p:strVal val="visible"/>
                                      </p:to>
                                    </p:set>
                                    <p:animEffect transition="in" filter="fade">
                                      <p:cBhvr>
                                        <p:cTn id="17" dur="2000"/>
                                        <p:tgtEl>
                                          <p:spTgt spid="61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F7E14C1-37F0-4D02-ACFB-76CBA8DA46C3}" type="slidenum">
              <a:rPr lang="en-US" sz="1400" smtClean="0"/>
              <a:pPr>
                <a:spcBef>
                  <a:spcPct val="0"/>
                </a:spcBef>
                <a:buFontTx/>
                <a:buNone/>
              </a:pPr>
              <a:t>45</a:t>
            </a:fld>
            <a:endParaRPr lang="en-US" sz="1400" smtClean="0"/>
          </a:p>
        </p:txBody>
      </p:sp>
      <p:sp>
        <p:nvSpPr>
          <p:cNvPr id="24579" name="Rectangle 2"/>
          <p:cNvSpPr>
            <a:spLocks noGrp="1" noChangeArrowheads="1"/>
          </p:cNvSpPr>
          <p:nvPr>
            <p:ph type="title"/>
          </p:nvPr>
        </p:nvSpPr>
        <p:spPr>
          <a:xfrm>
            <a:off x="0" y="0"/>
            <a:ext cx="9144000" cy="609600"/>
          </a:xfrm>
        </p:spPr>
        <p:txBody>
          <a:bodyPr>
            <a:normAutofit fontScale="90000"/>
          </a:bodyPr>
          <a:lstStyle/>
          <a:p>
            <a:pPr algn="l" eaLnBrk="1" hangingPunct="1"/>
            <a:r>
              <a:rPr lang="en-US" sz="4000" b="1" smtClean="0"/>
              <a:t>CAUSES &amp;TRANSMISSION………</a:t>
            </a:r>
          </a:p>
        </p:txBody>
      </p:sp>
      <p:sp>
        <p:nvSpPr>
          <p:cNvPr id="6148" name="Rectangle 3"/>
          <p:cNvSpPr>
            <a:spLocks noGrp="1" noChangeArrowheads="1"/>
          </p:cNvSpPr>
          <p:nvPr>
            <p:ph type="body" idx="1"/>
          </p:nvPr>
        </p:nvSpPr>
        <p:spPr>
          <a:xfrm>
            <a:off x="0" y="609600"/>
            <a:ext cx="9144000" cy="6248400"/>
          </a:xfrm>
        </p:spPr>
        <p:txBody>
          <a:bodyPr/>
          <a:lstStyle/>
          <a:p>
            <a:pPr eaLnBrk="1" hangingPunct="1">
              <a:buFont typeface="Wingdings" panose="05000000000000000000" pitchFamily="2" charset="2"/>
              <a:buChar char="v"/>
            </a:pPr>
            <a:r>
              <a:rPr lang="en-US" sz="3600" b="1" smtClean="0"/>
              <a:t>HIV can be transmitted through</a:t>
            </a:r>
            <a:r>
              <a:rPr lang="en-US" sz="3600" smtClean="0"/>
              <a:t>: </a:t>
            </a:r>
          </a:p>
          <a:p>
            <a:pPr>
              <a:buFont typeface="Wingdings" panose="05000000000000000000" pitchFamily="2" charset="2"/>
              <a:buChar char="q"/>
            </a:pPr>
            <a:r>
              <a:rPr lang="en-US" sz="3600" b="1" smtClean="0"/>
              <a:t>Sexual transmission</a:t>
            </a:r>
          </a:p>
          <a:p>
            <a:pPr>
              <a:buFont typeface="Wingdings" panose="05000000000000000000" pitchFamily="2" charset="2"/>
              <a:buChar char="Ø"/>
            </a:pPr>
            <a:r>
              <a:rPr lang="en-US" sz="3600" smtClean="0"/>
              <a:t>This Is a major mean of HIV transmission</a:t>
            </a:r>
          </a:p>
          <a:p>
            <a:pPr>
              <a:buFont typeface="Wingdings" panose="05000000000000000000" pitchFamily="2" charset="2"/>
              <a:buChar char="Ø"/>
            </a:pPr>
            <a:r>
              <a:rPr lang="en-US" sz="3600" smtClean="0"/>
              <a:t>The virus is passed from one person to another through sexual intercourse with infected person </a:t>
            </a:r>
          </a:p>
          <a:p>
            <a:pPr>
              <a:buFont typeface="Wingdings" panose="05000000000000000000" pitchFamily="2" charset="2"/>
              <a:buChar char="Ø"/>
            </a:pPr>
            <a:r>
              <a:rPr lang="en-US" sz="3600" smtClean="0"/>
              <a:t>This happen while having unprotected sex</a:t>
            </a:r>
          </a:p>
          <a:p>
            <a:pPr>
              <a:buFont typeface="Wingdings" panose="05000000000000000000" pitchFamily="2" charset="2"/>
              <a:buChar char="Ø"/>
            </a:pPr>
            <a:r>
              <a:rPr lang="en-US" sz="3600" smtClean="0"/>
              <a:t>when there is contact with infected sexual secretions (rectal, genital or oral mucous membranes)</a:t>
            </a:r>
          </a:p>
        </p:txBody>
      </p:sp>
    </p:spTree>
    <p:extLst>
      <p:ext uri="{BB962C8B-B14F-4D97-AF65-F5344CB8AC3E}">
        <p14:creationId xmlns:p14="http://schemas.microsoft.com/office/powerpoint/2010/main" val="23866373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fade">
                                      <p:cBhvr>
                                        <p:cTn id="7" dur="20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8">
                                            <p:txEl>
                                              <p:pRg st="1" end="1"/>
                                            </p:txEl>
                                          </p:spTgt>
                                        </p:tgtEl>
                                        <p:attrNameLst>
                                          <p:attrName>style.visibility</p:attrName>
                                        </p:attrNameLst>
                                      </p:cBhvr>
                                      <p:to>
                                        <p:strVal val="visible"/>
                                      </p:to>
                                    </p:set>
                                    <p:animEffect transition="in" filter="fade">
                                      <p:cBhvr>
                                        <p:cTn id="12" dur="2000"/>
                                        <p:tgtEl>
                                          <p:spTgt spid="614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8">
                                            <p:txEl>
                                              <p:pRg st="2" end="2"/>
                                            </p:txEl>
                                          </p:spTgt>
                                        </p:tgtEl>
                                        <p:attrNameLst>
                                          <p:attrName>style.visibility</p:attrName>
                                        </p:attrNameLst>
                                      </p:cBhvr>
                                      <p:to>
                                        <p:strVal val="visible"/>
                                      </p:to>
                                    </p:set>
                                    <p:animEffect transition="in" filter="fade">
                                      <p:cBhvr>
                                        <p:cTn id="17" dur="2000"/>
                                        <p:tgtEl>
                                          <p:spTgt spid="614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8">
                                            <p:txEl>
                                              <p:pRg st="3" end="3"/>
                                            </p:txEl>
                                          </p:spTgt>
                                        </p:tgtEl>
                                        <p:attrNameLst>
                                          <p:attrName>style.visibility</p:attrName>
                                        </p:attrNameLst>
                                      </p:cBhvr>
                                      <p:to>
                                        <p:strVal val="visible"/>
                                      </p:to>
                                    </p:set>
                                    <p:animEffect transition="in" filter="fade">
                                      <p:cBhvr>
                                        <p:cTn id="22" dur="2000"/>
                                        <p:tgtEl>
                                          <p:spTgt spid="614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8">
                                            <p:txEl>
                                              <p:pRg st="4" end="4"/>
                                            </p:txEl>
                                          </p:spTgt>
                                        </p:tgtEl>
                                        <p:attrNameLst>
                                          <p:attrName>style.visibility</p:attrName>
                                        </p:attrNameLst>
                                      </p:cBhvr>
                                      <p:to>
                                        <p:strVal val="visible"/>
                                      </p:to>
                                    </p:set>
                                    <p:animEffect transition="in" filter="fade">
                                      <p:cBhvr>
                                        <p:cTn id="27" dur="2000"/>
                                        <p:tgtEl>
                                          <p:spTgt spid="614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8">
                                            <p:txEl>
                                              <p:pRg st="5" end="5"/>
                                            </p:txEl>
                                          </p:spTgt>
                                        </p:tgtEl>
                                        <p:attrNameLst>
                                          <p:attrName>style.visibility</p:attrName>
                                        </p:attrNameLst>
                                      </p:cBhvr>
                                      <p:to>
                                        <p:strVal val="visible"/>
                                      </p:to>
                                    </p:set>
                                    <p:animEffect transition="in" filter="fade">
                                      <p:cBhvr>
                                        <p:cTn id="32" dur="2000"/>
                                        <p:tgtEl>
                                          <p:spTgt spid="61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6F166F4-F9C9-4683-8601-1936B7980444}" type="slidenum">
              <a:rPr lang="en-US" sz="1400" smtClean="0"/>
              <a:pPr>
                <a:spcBef>
                  <a:spcPct val="0"/>
                </a:spcBef>
                <a:buFontTx/>
                <a:buNone/>
              </a:pPr>
              <a:t>46</a:t>
            </a:fld>
            <a:endParaRPr lang="en-US" sz="1400" smtClean="0"/>
          </a:p>
        </p:txBody>
      </p:sp>
      <p:sp>
        <p:nvSpPr>
          <p:cNvPr id="26627" name="Rectangle 2"/>
          <p:cNvSpPr>
            <a:spLocks noGrp="1" noChangeArrowheads="1"/>
          </p:cNvSpPr>
          <p:nvPr>
            <p:ph type="title"/>
          </p:nvPr>
        </p:nvSpPr>
        <p:spPr>
          <a:xfrm>
            <a:off x="0" y="0"/>
            <a:ext cx="9144000" cy="838200"/>
          </a:xfrm>
        </p:spPr>
        <p:txBody>
          <a:bodyPr/>
          <a:lstStyle/>
          <a:p>
            <a:pPr algn="l" eaLnBrk="1" hangingPunct="1"/>
            <a:r>
              <a:rPr lang="en-US" sz="4000" b="1" smtClean="0"/>
              <a:t>CAUSES &amp;TRANSMISSION …..</a:t>
            </a:r>
          </a:p>
        </p:txBody>
      </p:sp>
      <p:sp>
        <p:nvSpPr>
          <p:cNvPr id="6148" name="Rectangle 3"/>
          <p:cNvSpPr>
            <a:spLocks noGrp="1" noChangeArrowheads="1"/>
          </p:cNvSpPr>
          <p:nvPr>
            <p:ph type="body" idx="1"/>
          </p:nvPr>
        </p:nvSpPr>
        <p:spPr>
          <a:xfrm>
            <a:off x="0" y="838200"/>
            <a:ext cx="9144000" cy="6019800"/>
          </a:xfrm>
        </p:spPr>
        <p:txBody>
          <a:bodyPr/>
          <a:lstStyle/>
          <a:p>
            <a:pPr>
              <a:buFont typeface="Wingdings" panose="05000000000000000000" pitchFamily="2" charset="2"/>
              <a:buChar char="q"/>
            </a:pPr>
            <a:r>
              <a:rPr lang="en-US" sz="3600" b="1" smtClean="0"/>
              <a:t>Parental transmission</a:t>
            </a:r>
            <a:endParaRPr lang="en-US" sz="3600" smtClean="0"/>
          </a:p>
          <a:p>
            <a:pPr>
              <a:buFont typeface="Wingdings" panose="05000000000000000000" pitchFamily="2" charset="2"/>
              <a:buChar char="Ø"/>
            </a:pPr>
            <a:r>
              <a:rPr lang="en-US" sz="3600" smtClean="0"/>
              <a:t>The infected mothers can pass the infection on to their babies during pregnancy, delivering/childbirth, breast feeding</a:t>
            </a:r>
          </a:p>
          <a:p>
            <a:pPr>
              <a:buFont typeface="Wingdings" panose="05000000000000000000" pitchFamily="2" charset="2"/>
              <a:buChar char="q"/>
            </a:pPr>
            <a:r>
              <a:rPr lang="en-US" sz="3600" b="1" smtClean="0"/>
              <a:t>Blood transmission</a:t>
            </a:r>
          </a:p>
          <a:p>
            <a:pPr>
              <a:buFont typeface="Wingdings" panose="05000000000000000000" pitchFamily="2" charset="2"/>
              <a:buChar char="Ø"/>
            </a:pPr>
            <a:r>
              <a:rPr lang="en-US" sz="3600" smtClean="0"/>
              <a:t>blood-to-blood contact (infected blood)</a:t>
            </a:r>
          </a:p>
          <a:p>
            <a:pPr>
              <a:buFont typeface="Wingdings" panose="05000000000000000000" pitchFamily="2" charset="2"/>
              <a:buChar char="Ø"/>
            </a:pPr>
            <a:r>
              <a:rPr lang="en-US" sz="3600" smtClean="0"/>
              <a:t>HIV transmitted through blood transfusion because of careless screening and precautions</a:t>
            </a:r>
          </a:p>
          <a:p>
            <a:pPr eaLnBrk="1" hangingPunct="1">
              <a:buFont typeface="Wingdings" panose="05000000000000000000" pitchFamily="2" charset="2"/>
              <a:buChar char="v"/>
            </a:pPr>
            <a:endParaRPr lang="en-US" sz="3600" smtClean="0"/>
          </a:p>
          <a:p>
            <a:pPr>
              <a:buFont typeface="Wingdings" panose="05000000000000000000" pitchFamily="2" charset="2"/>
              <a:buChar char="Ø"/>
            </a:pPr>
            <a:endParaRPr lang="en-US" sz="3600" smtClean="0"/>
          </a:p>
        </p:txBody>
      </p:sp>
    </p:spTree>
    <p:extLst>
      <p:ext uri="{BB962C8B-B14F-4D97-AF65-F5344CB8AC3E}">
        <p14:creationId xmlns:p14="http://schemas.microsoft.com/office/powerpoint/2010/main" val="1166214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fade">
                                      <p:cBhvr>
                                        <p:cTn id="7" dur="20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8">
                                            <p:txEl>
                                              <p:pRg st="1" end="1"/>
                                            </p:txEl>
                                          </p:spTgt>
                                        </p:tgtEl>
                                        <p:attrNameLst>
                                          <p:attrName>style.visibility</p:attrName>
                                        </p:attrNameLst>
                                      </p:cBhvr>
                                      <p:to>
                                        <p:strVal val="visible"/>
                                      </p:to>
                                    </p:set>
                                    <p:animEffect transition="in" filter="fade">
                                      <p:cBhvr>
                                        <p:cTn id="12" dur="2000"/>
                                        <p:tgtEl>
                                          <p:spTgt spid="614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8">
                                            <p:txEl>
                                              <p:pRg st="2" end="2"/>
                                            </p:txEl>
                                          </p:spTgt>
                                        </p:tgtEl>
                                        <p:attrNameLst>
                                          <p:attrName>style.visibility</p:attrName>
                                        </p:attrNameLst>
                                      </p:cBhvr>
                                      <p:to>
                                        <p:strVal val="visible"/>
                                      </p:to>
                                    </p:set>
                                    <p:animEffect transition="in" filter="fade">
                                      <p:cBhvr>
                                        <p:cTn id="17" dur="2000"/>
                                        <p:tgtEl>
                                          <p:spTgt spid="614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8">
                                            <p:txEl>
                                              <p:pRg st="3" end="3"/>
                                            </p:txEl>
                                          </p:spTgt>
                                        </p:tgtEl>
                                        <p:attrNameLst>
                                          <p:attrName>style.visibility</p:attrName>
                                        </p:attrNameLst>
                                      </p:cBhvr>
                                      <p:to>
                                        <p:strVal val="visible"/>
                                      </p:to>
                                    </p:set>
                                    <p:animEffect transition="in" filter="fade">
                                      <p:cBhvr>
                                        <p:cTn id="22" dur="2000"/>
                                        <p:tgtEl>
                                          <p:spTgt spid="614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8">
                                            <p:txEl>
                                              <p:pRg st="4" end="4"/>
                                            </p:txEl>
                                          </p:spTgt>
                                        </p:tgtEl>
                                        <p:attrNameLst>
                                          <p:attrName>style.visibility</p:attrName>
                                        </p:attrNameLst>
                                      </p:cBhvr>
                                      <p:to>
                                        <p:strVal val="visible"/>
                                      </p:to>
                                    </p:set>
                                    <p:animEffect transition="in" filter="fade">
                                      <p:cBhvr>
                                        <p:cTn id="27" dur="2000"/>
                                        <p:tgtEl>
                                          <p:spTgt spid="61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5AD5FC0-4659-4CF3-AB8B-0E82123CFC65}" type="slidenum">
              <a:rPr lang="en-US" sz="1400" smtClean="0"/>
              <a:pPr>
                <a:spcBef>
                  <a:spcPct val="0"/>
                </a:spcBef>
                <a:buFontTx/>
                <a:buNone/>
              </a:pPr>
              <a:t>47</a:t>
            </a:fld>
            <a:endParaRPr lang="en-US" sz="1400" smtClean="0"/>
          </a:p>
        </p:txBody>
      </p:sp>
      <p:sp>
        <p:nvSpPr>
          <p:cNvPr id="30723" name="Rectangle 2"/>
          <p:cNvSpPr>
            <a:spLocks noGrp="1" noChangeArrowheads="1"/>
          </p:cNvSpPr>
          <p:nvPr>
            <p:ph type="title"/>
          </p:nvPr>
        </p:nvSpPr>
        <p:spPr>
          <a:xfrm>
            <a:off x="152400" y="0"/>
            <a:ext cx="8534400" cy="533400"/>
          </a:xfrm>
        </p:spPr>
        <p:txBody>
          <a:bodyPr>
            <a:normAutofit fontScale="90000"/>
          </a:bodyPr>
          <a:lstStyle/>
          <a:p>
            <a:pPr eaLnBrk="1" hangingPunct="1"/>
            <a:r>
              <a:rPr lang="en-US" sz="5000" b="1" smtClean="0"/>
              <a:t>SYMPTOMS</a:t>
            </a:r>
          </a:p>
        </p:txBody>
      </p:sp>
      <p:sp>
        <p:nvSpPr>
          <p:cNvPr id="6148" name="Rectangle 3"/>
          <p:cNvSpPr>
            <a:spLocks noGrp="1" noChangeArrowheads="1"/>
          </p:cNvSpPr>
          <p:nvPr>
            <p:ph type="body" idx="1"/>
          </p:nvPr>
        </p:nvSpPr>
        <p:spPr>
          <a:xfrm>
            <a:off x="0" y="609600"/>
            <a:ext cx="9144000" cy="6019800"/>
          </a:xfrm>
        </p:spPr>
        <p:txBody>
          <a:bodyPr/>
          <a:lstStyle/>
          <a:p>
            <a:pPr>
              <a:buFont typeface="Wingdings" panose="05000000000000000000" pitchFamily="2" charset="2"/>
              <a:buChar char="v"/>
            </a:pPr>
            <a:r>
              <a:rPr lang="en-US" sz="3600" smtClean="0"/>
              <a:t>Many people with HIV have no symptoms for several years</a:t>
            </a:r>
          </a:p>
          <a:p>
            <a:pPr>
              <a:buFont typeface="Wingdings" panose="05000000000000000000" pitchFamily="2" charset="2"/>
              <a:buChar char="v"/>
            </a:pPr>
            <a:r>
              <a:rPr lang="en-US" sz="3600" smtClean="0"/>
              <a:t>Others may develop symptoms similar to flu 2-6 six weeks after catching the virus </a:t>
            </a:r>
          </a:p>
          <a:p>
            <a:pPr>
              <a:buFont typeface="Wingdings" panose="05000000000000000000" pitchFamily="2" charset="2"/>
              <a:buChar char="v"/>
            </a:pPr>
            <a:r>
              <a:rPr lang="en-US" sz="3600" smtClean="0"/>
              <a:t>The symptoms can last up to four weeks</a:t>
            </a:r>
          </a:p>
          <a:p>
            <a:pPr>
              <a:buFont typeface="Wingdings" panose="05000000000000000000" pitchFamily="2" charset="2"/>
              <a:buChar char="v"/>
            </a:pPr>
            <a:r>
              <a:rPr lang="en-US" sz="3600" smtClean="0"/>
              <a:t>As the virus continues to multiply and destroy immune cells, infected person may develop signs and symptoms</a:t>
            </a:r>
          </a:p>
          <a:p>
            <a:pPr>
              <a:buFontTx/>
              <a:buNone/>
            </a:pPr>
            <a:endParaRPr lang="en-US" sz="3600" smtClean="0"/>
          </a:p>
          <a:p>
            <a:pPr eaLnBrk="1" hangingPunct="1">
              <a:buFontTx/>
              <a:buNone/>
            </a:pPr>
            <a:endParaRPr lang="en-US" sz="3500" smtClean="0"/>
          </a:p>
          <a:p>
            <a:pPr eaLnBrk="1" hangingPunct="1">
              <a:buFont typeface="Wingdings" panose="05000000000000000000" pitchFamily="2" charset="2"/>
              <a:buChar char="ü"/>
            </a:pPr>
            <a:endParaRPr lang="en-US" smtClean="0"/>
          </a:p>
        </p:txBody>
      </p:sp>
    </p:spTree>
    <p:extLst>
      <p:ext uri="{BB962C8B-B14F-4D97-AF65-F5344CB8AC3E}">
        <p14:creationId xmlns:p14="http://schemas.microsoft.com/office/powerpoint/2010/main" val="2902011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fade">
                                      <p:cBhvr>
                                        <p:cTn id="7" dur="20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8">
                                            <p:txEl>
                                              <p:pRg st="1" end="1"/>
                                            </p:txEl>
                                          </p:spTgt>
                                        </p:tgtEl>
                                        <p:attrNameLst>
                                          <p:attrName>style.visibility</p:attrName>
                                        </p:attrNameLst>
                                      </p:cBhvr>
                                      <p:to>
                                        <p:strVal val="visible"/>
                                      </p:to>
                                    </p:set>
                                    <p:animEffect transition="in" filter="fade">
                                      <p:cBhvr>
                                        <p:cTn id="12" dur="2000"/>
                                        <p:tgtEl>
                                          <p:spTgt spid="614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8">
                                            <p:txEl>
                                              <p:pRg st="2" end="2"/>
                                            </p:txEl>
                                          </p:spTgt>
                                        </p:tgtEl>
                                        <p:attrNameLst>
                                          <p:attrName>style.visibility</p:attrName>
                                        </p:attrNameLst>
                                      </p:cBhvr>
                                      <p:to>
                                        <p:strVal val="visible"/>
                                      </p:to>
                                    </p:set>
                                    <p:animEffect transition="in" filter="fade">
                                      <p:cBhvr>
                                        <p:cTn id="17" dur="2000"/>
                                        <p:tgtEl>
                                          <p:spTgt spid="614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8">
                                            <p:txEl>
                                              <p:pRg st="3" end="3"/>
                                            </p:txEl>
                                          </p:spTgt>
                                        </p:tgtEl>
                                        <p:attrNameLst>
                                          <p:attrName>style.visibility</p:attrName>
                                        </p:attrNameLst>
                                      </p:cBhvr>
                                      <p:to>
                                        <p:strVal val="visible"/>
                                      </p:to>
                                    </p:set>
                                    <p:animEffect transition="in" filter="fade">
                                      <p:cBhvr>
                                        <p:cTn id="22" dur="2000"/>
                                        <p:tgtEl>
                                          <p:spTgt spid="61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a:xfrm>
            <a:off x="228600" y="990600"/>
            <a:ext cx="8763000" cy="5135563"/>
          </a:xfrm>
        </p:spPr>
        <p:txBody>
          <a:bodyPr/>
          <a:lstStyle/>
          <a:p>
            <a:pPr>
              <a:buFontTx/>
              <a:buNone/>
            </a:pPr>
            <a:r>
              <a:rPr lang="en-US" b="1" smtClean="0"/>
              <a:t>	</a:t>
            </a:r>
          </a:p>
          <a:p>
            <a:pPr>
              <a:buFontTx/>
              <a:buNone/>
            </a:pPr>
            <a:r>
              <a:rPr lang="en-US" sz="5500" b="1" smtClean="0">
                <a:latin typeface="Berlin Sans FB" panose="020E0602020502020306" pitchFamily="34" charset="0"/>
              </a:rPr>
              <a:t>	IMPACT OF HIV &amp; AIDS ON SOCIO-ECONOMIC DEVELOPMENT</a:t>
            </a:r>
            <a:endParaRPr lang="en-US" sz="5500" smtClean="0">
              <a:latin typeface="Berlin Sans FB" panose="020E0602020502020306" pitchFamily="34" charset="0"/>
            </a:endParaRPr>
          </a:p>
        </p:txBody>
      </p:sp>
      <p:sp>
        <p:nvSpPr>
          <p:cNvPr id="327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E437D66-A7A0-46DD-8475-1714D237E62E}" type="slidenum">
              <a:rPr lang="en-US" sz="1400" smtClean="0"/>
              <a:pPr>
                <a:spcBef>
                  <a:spcPct val="0"/>
                </a:spcBef>
                <a:buFontTx/>
                <a:buNone/>
              </a:pPr>
              <a:t>48</a:t>
            </a:fld>
            <a:endParaRPr lang="en-US" sz="1400" smtClean="0"/>
          </a:p>
        </p:txBody>
      </p:sp>
    </p:spTree>
    <p:extLst>
      <p:ext uri="{BB962C8B-B14F-4D97-AF65-F5344CB8AC3E}">
        <p14:creationId xmlns:p14="http://schemas.microsoft.com/office/powerpoint/2010/main" val="344854795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B119DC3-BBF7-414D-9D35-6E2D89F0AC67}" type="slidenum">
              <a:rPr lang="en-US" sz="1400" smtClean="0"/>
              <a:pPr>
                <a:spcBef>
                  <a:spcPct val="0"/>
                </a:spcBef>
                <a:buFontTx/>
                <a:buNone/>
              </a:pPr>
              <a:t>49</a:t>
            </a:fld>
            <a:endParaRPr lang="en-US" sz="1400" smtClean="0"/>
          </a:p>
        </p:txBody>
      </p:sp>
      <p:sp>
        <p:nvSpPr>
          <p:cNvPr id="34819" name="Rectangle 2"/>
          <p:cNvSpPr>
            <a:spLocks noGrp="1" noChangeArrowheads="1"/>
          </p:cNvSpPr>
          <p:nvPr>
            <p:ph type="title"/>
          </p:nvPr>
        </p:nvSpPr>
        <p:spPr>
          <a:xfrm>
            <a:off x="152400" y="0"/>
            <a:ext cx="8991600" cy="914400"/>
          </a:xfrm>
        </p:spPr>
        <p:txBody>
          <a:bodyPr/>
          <a:lstStyle/>
          <a:p>
            <a:pPr eaLnBrk="1" hangingPunct="1"/>
            <a:r>
              <a:rPr lang="en-US" b="1" smtClean="0"/>
              <a:t>Impact of HIV and AIDS</a:t>
            </a:r>
          </a:p>
        </p:txBody>
      </p:sp>
      <p:sp>
        <p:nvSpPr>
          <p:cNvPr id="32772" name="Rectangle 3"/>
          <p:cNvSpPr>
            <a:spLocks noGrp="1" noChangeArrowheads="1"/>
          </p:cNvSpPr>
          <p:nvPr>
            <p:ph type="body" idx="1"/>
          </p:nvPr>
        </p:nvSpPr>
        <p:spPr>
          <a:xfrm>
            <a:off x="0" y="990600"/>
            <a:ext cx="9144000" cy="5638800"/>
          </a:xfrm>
        </p:spPr>
        <p:txBody>
          <a:bodyPr/>
          <a:lstStyle/>
          <a:p>
            <a:pPr eaLnBrk="1" hangingPunct="1">
              <a:lnSpc>
                <a:spcPct val="90000"/>
              </a:lnSpc>
              <a:buFont typeface="Wingdings" panose="05000000000000000000" pitchFamily="2" charset="2"/>
              <a:buChar char="Ø"/>
            </a:pPr>
            <a:r>
              <a:rPr lang="en-US" sz="3700" smtClean="0"/>
              <a:t>The impact is mapped on sectors, social services, households, demographic and on the economy in general</a:t>
            </a:r>
          </a:p>
          <a:p>
            <a:pPr eaLnBrk="1" hangingPunct="1">
              <a:lnSpc>
                <a:spcPct val="90000"/>
              </a:lnSpc>
              <a:buFont typeface="Wingdings" panose="05000000000000000000" pitchFamily="2" charset="2"/>
              <a:buChar char="Ø"/>
            </a:pPr>
            <a:r>
              <a:rPr lang="en-US" sz="3700" smtClean="0"/>
              <a:t>the HIV/AIDS pandemic on the economy, its effects manifest on :</a:t>
            </a:r>
          </a:p>
          <a:p>
            <a:pPr eaLnBrk="1" hangingPunct="1">
              <a:lnSpc>
                <a:spcPct val="90000"/>
              </a:lnSpc>
              <a:buFontTx/>
              <a:buChar char="-"/>
            </a:pPr>
            <a:r>
              <a:rPr lang="en-US" sz="3700" smtClean="0"/>
              <a:t>labour supply, </a:t>
            </a:r>
          </a:p>
          <a:p>
            <a:pPr eaLnBrk="1" hangingPunct="1">
              <a:lnSpc>
                <a:spcPct val="90000"/>
              </a:lnSpc>
              <a:buFontTx/>
              <a:buChar char="-"/>
            </a:pPr>
            <a:r>
              <a:rPr lang="en-US" sz="3700" smtClean="0"/>
              <a:t>labour productivity, </a:t>
            </a:r>
          </a:p>
          <a:p>
            <a:pPr eaLnBrk="1" hangingPunct="1">
              <a:lnSpc>
                <a:spcPct val="90000"/>
              </a:lnSpc>
              <a:buFontTx/>
              <a:buChar char="-"/>
            </a:pPr>
            <a:r>
              <a:rPr lang="en-US" sz="3700" smtClean="0"/>
              <a:t>financial costs associated </a:t>
            </a:r>
          </a:p>
          <a:p>
            <a:pPr eaLnBrk="1" hangingPunct="1">
              <a:lnSpc>
                <a:spcPct val="90000"/>
              </a:lnSpc>
              <a:buFontTx/>
              <a:buChar char="-"/>
            </a:pPr>
            <a:r>
              <a:rPr lang="en-US" sz="3700" smtClean="0"/>
              <a:t>changing composition of the labour force</a:t>
            </a:r>
          </a:p>
        </p:txBody>
      </p:sp>
    </p:spTree>
    <p:extLst>
      <p:ext uri="{BB962C8B-B14F-4D97-AF65-F5344CB8AC3E}">
        <p14:creationId xmlns:p14="http://schemas.microsoft.com/office/powerpoint/2010/main" val="2066738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fade">
                                      <p:cBhvr>
                                        <p:cTn id="7" dur="2000"/>
                                        <p:tgtEl>
                                          <p:spTgt spid="327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fade">
                                      <p:cBhvr>
                                        <p:cTn id="12" dur="2000"/>
                                        <p:tgtEl>
                                          <p:spTgt spid="3277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772">
                                            <p:txEl>
                                              <p:pRg st="2" end="2"/>
                                            </p:txEl>
                                          </p:spTgt>
                                        </p:tgtEl>
                                        <p:attrNameLst>
                                          <p:attrName>style.visibility</p:attrName>
                                        </p:attrNameLst>
                                      </p:cBhvr>
                                      <p:to>
                                        <p:strVal val="visible"/>
                                      </p:to>
                                    </p:set>
                                    <p:animEffect transition="in" filter="fade">
                                      <p:cBhvr>
                                        <p:cTn id="17" dur="2000"/>
                                        <p:tgtEl>
                                          <p:spTgt spid="3277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772">
                                            <p:txEl>
                                              <p:pRg st="3" end="3"/>
                                            </p:txEl>
                                          </p:spTgt>
                                        </p:tgtEl>
                                        <p:attrNameLst>
                                          <p:attrName>style.visibility</p:attrName>
                                        </p:attrNameLst>
                                      </p:cBhvr>
                                      <p:to>
                                        <p:strVal val="visible"/>
                                      </p:to>
                                    </p:set>
                                    <p:animEffect transition="in" filter="fade">
                                      <p:cBhvr>
                                        <p:cTn id="22" dur="2000"/>
                                        <p:tgtEl>
                                          <p:spTgt spid="3277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772">
                                            <p:txEl>
                                              <p:pRg st="4" end="4"/>
                                            </p:txEl>
                                          </p:spTgt>
                                        </p:tgtEl>
                                        <p:attrNameLst>
                                          <p:attrName>style.visibility</p:attrName>
                                        </p:attrNameLst>
                                      </p:cBhvr>
                                      <p:to>
                                        <p:strVal val="visible"/>
                                      </p:to>
                                    </p:set>
                                    <p:animEffect transition="in" filter="fade">
                                      <p:cBhvr>
                                        <p:cTn id="27" dur="2000"/>
                                        <p:tgtEl>
                                          <p:spTgt spid="3277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772">
                                            <p:txEl>
                                              <p:pRg st="5" end="5"/>
                                            </p:txEl>
                                          </p:spTgt>
                                        </p:tgtEl>
                                        <p:attrNameLst>
                                          <p:attrName>style.visibility</p:attrName>
                                        </p:attrNameLst>
                                      </p:cBhvr>
                                      <p:to>
                                        <p:strVal val="visible"/>
                                      </p:to>
                                    </p:set>
                                    <p:animEffect transition="in" filter="fade">
                                      <p:cBhvr>
                                        <p:cTn id="32" dur="2000"/>
                                        <p:tgtEl>
                                          <p:spTgt spid="327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55764C9-D0C8-4601-B2DE-E7ACD071315D}" type="slidenum">
              <a:rPr lang="en-US" sz="1400" smtClean="0"/>
              <a:pPr>
                <a:spcBef>
                  <a:spcPct val="0"/>
                </a:spcBef>
                <a:buFontTx/>
                <a:buNone/>
              </a:pPr>
              <a:t>50</a:t>
            </a:fld>
            <a:endParaRPr lang="en-US" sz="1400" smtClean="0"/>
          </a:p>
        </p:txBody>
      </p:sp>
      <p:sp>
        <p:nvSpPr>
          <p:cNvPr id="3075" name="Rectangle 4"/>
          <p:cNvSpPr>
            <a:spLocks noGrp="1" noChangeArrowheads="1"/>
          </p:cNvSpPr>
          <p:nvPr>
            <p:ph type="title"/>
          </p:nvPr>
        </p:nvSpPr>
        <p:spPr>
          <a:xfrm>
            <a:off x="457200" y="1371600"/>
            <a:ext cx="8229600" cy="3200400"/>
          </a:xfrm>
        </p:spPr>
        <p:txBody>
          <a:bodyPr/>
          <a:lstStyle/>
          <a:p>
            <a:r>
              <a:rPr lang="en-US" sz="5400" b="1" dirty="0" smtClean="0"/>
              <a:t>Gender </a:t>
            </a:r>
            <a:r>
              <a:rPr lang="en-US" sz="5400" b="1" dirty="0"/>
              <a:t>issue(s</a:t>
            </a:r>
            <a:r>
              <a:rPr lang="en-US" sz="5400" b="1" dirty="0" smtClean="0"/>
              <a:t>) </a:t>
            </a:r>
            <a:endParaRPr lang="en-US" sz="5400" b="1" dirty="0"/>
          </a:p>
        </p:txBody>
      </p:sp>
    </p:spTree>
    <p:extLst>
      <p:ext uri="{BB962C8B-B14F-4D97-AF65-F5344CB8AC3E}">
        <p14:creationId xmlns:p14="http://schemas.microsoft.com/office/powerpoint/2010/main" val="267697320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Gender issue(s) </a:t>
            </a:r>
            <a:r>
              <a:rPr lang="en-US" b="1" dirty="0" smtClean="0"/>
              <a:t>CO</a:t>
            </a:r>
            <a:endParaRPr lang="en-US" dirty="0"/>
          </a:p>
        </p:txBody>
      </p:sp>
      <p:sp>
        <p:nvSpPr>
          <p:cNvPr id="3" name="Content Placeholder 2"/>
          <p:cNvSpPr>
            <a:spLocks noGrp="1"/>
          </p:cNvSpPr>
          <p:nvPr>
            <p:ph idx="1"/>
          </p:nvPr>
        </p:nvSpPr>
        <p:spPr/>
        <p:txBody>
          <a:bodyPr>
            <a:normAutofit fontScale="92500" lnSpcReduction="20000"/>
          </a:bodyPr>
          <a:lstStyle/>
          <a:p>
            <a:endParaRPr lang="en-US" dirty="0" smtClean="0"/>
          </a:p>
          <a:p>
            <a:r>
              <a:rPr lang="en-US" dirty="0"/>
              <a:t>Gender issues include all aspects and concerns related to women’s and men’s lives and situation in society, to the way they interrelate, their differences in access to and use of resources, their activities, and how they react to changes, interventions and policies.</a:t>
            </a:r>
          </a:p>
          <a:p>
            <a:pPr marL="0" indent="0">
              <a:buNone/>
            </a:pPr>
            <a:endParaRPr lang="en-US" dirty="0"/>
          </a:p>
          <a:p>
            <a:r>
              <a:rPr lang="en-US" dirty="0" smtClean="0"/>
              <a:t>Any </a:t>
            </a:r>
            <a:r>
              <a:rPr lang="en-US" dirty="0"/>
              <a:t>issue or concern determined by gender-based and/or sex-based differences between women and men. </a:t>
            </a:r>
          </a:p>
        </p:txBody>
      </p:sp>
    </p:spTree>
    <p:extLst>
      <p:ext uri="{BB962C8B-B14F-4D97-AF65-F5344CB8AC3E}">
        <p14:creationId xmlns:p14="http://schemas.microsoft.com/office/powerpoint/2010/main" val="9493746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0" y="0"/>
            <a:ext cx="9144000" cy="692150"/>
          </a:xfrm>
        </p:spPr>
        <p:txBody>
          <a:bodyPr>
            <a:normAutofit fontScale="90000"/>
          </a:bodyPr>
          <a:lstStyle/>
          <a:p>
            <a:pPr eaLnBrk="1" hangingPunct="1"/>
            <a:r>
              <a:rPr lang="en-GB" sz="4000" smtClean="0">
                <a:solidFill>
                  <a:srgbClr val="FF0000"/>
                </a:solidFill>
              </a:rPr>
              <a:t>Gender defin.</a:t>
            </a:r>
          </a:p>
        </p:txBody>
      </p:sp>
      <p:sp>
        <p:nvSpPr>
          <p:cNvPr id="3075" name="Rectangle 3"/>
          <p:cNvSpPr>
            <a:spLocks noGrp="1" noChangeArrowheads="1"/>
          </p:cNvSpPr>
          <p:nvPr>
            <p:ph type="body" idx="1"/>
          </p:nvPr>
        </p:nvSpPr>
        <p:spPr>
          <a:xfrm>
            <a:off x="0" y="836613"/>
            <a:ext cx="9144000" cy="6021387"/>
          </a:xfrm>
        </p:spPr>
        <p:txBody>
          <a:bodyPr/>
          <a:lstStyle/>
          <a:p>
            <a:pPr eaLnBrk="1" hangingPunct="1"/>
            <a:r>
              <a:rPr lang="en-GB" sz="2800" smtClean="0"/>
              <a:t>Socially constructed gender roles and responsibilities assigned to men and women by the society</a:t>
            </a:r>
          </a:p>
          <a:p>
            <a:pPr lvl="1" eaLnBrk="1" hangingPunct="1"/>
            <a:r>
              <a:rPr lang="en-GB" sz="2400" smtClean="0"/>
              <a:t>These roles are learned</a:t>
            </a:r>
          </a:p>
          <a:p>
            <a:pPr lvl="1" eaLnBrk="1" hangingPunct="1"/>
            <a:r>
              <a:rPr lang="en-GB" sz="2400" smtClean="0"/>
              <a:t>Vary btn cultures</a:t>
            </a:r>
          </a:p>
          <a:p>
            <a:pPr lvl="1" eaLnBrk="1" hangingPunct="1"/>
            <a:r>
              <a:rPr lang="en-GB" sz="2400" smtClean="0"/>
              <a:t>Change over time</a:t>
            </a:r>
          </a:p>
          <a:p>
            <a:pPr lvl="1" eaLnBrk="1" hangingPunct="1"/>
            <a:endParaRPr lang="en-GB" sz="2400" smtClean="0"/>
          </a:p>
          <a:p>
            <a:pPr eaLnBrk="1" hangingPunct="1"/>
            <a:r>
              <a:rPr lang="en-GB" sz="2800" smtClean="0"/>
              <a:t>Gender is further defined by UNDP as:</a:t>
            </a:r>
          </a:p>
          <a:p>
            <a:pPr lvl="1" eaLnBrk="1" hangingPunct="1"/>
            <a:r>
              <a:rPr lang="en-GB" sz="2400" smtClean="0"/>
              <a:t>A word used to describe  a set of social qualities and behaviours expected from men and women by their societies</a:t>
            </a:r>
          </a:p>
          <a:p>
            <a:pPr eaLnBrk="1" hangingPunct="1"/>
            <a:endParaRPr lang="en-GB" sz="2800" smtClean="0"/>
          </a:p>
          <a:p>
            <a:pPr eaLnBrk="1" hangingPunct="1"/>
            <a:r>
              <a:rPr lang="en-GB" sz="2800" smtClean="0"/>
              <a:t>Sex-Biological attributes of men and women</a:t>
            </a:r>
          </a:p>
          <a:p>
            <a:pPr lvl="1" eaLnBrk="1" hangingPunct="1"/>
            <a:r>
              <a:rPr lang="en-GB" sz="2400" smtClean="0"/>
              <a:t>Are universal</a:t>
            </a:r>
          </a:p>
          <a:p>
            <a:pPr lvl="1" eaLnBrk="1" hangingPunct="1"/>
            <a:r>
              <a:rPr lang="en-GB" sz="2400" smtClean="0"/>
              <a:t>Generally permanent</a:t>
            </a:r>
          </a:p>
          <a:p>
            <a:pPr eaLnBrk="1" hangingPunct="1"/>
            <a:endParaRPr lang="en-GB" sz="2800" smtClean="0"/>
          </a:p>
        </p:txBody>
      </p:sp>
    </p:spTree>
    <p:extLst>
      <p:ext uri="{BB962C8B-B14F-4D97-AF65-F5344CB8AC3E}">
        <p14:creationId xmlns:p14="http://schemas.microsoft.com/office/powerpoint/2010/main" val="257209589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9144000" cy="620713"/>
          </a:xfrm>
        </p:spPr>
        <p:txBody>
          <a:bodyPr>
            <a:normAutofit fontScale="90000"/>
          </a:bodyPr>
          <a:lstStyle/>
          <a:p>
            <a:pPr eaLnBrk="1" hangingPunct="1"/>
            <a:r>
              <a:rPr lang="en-GB" sz="4000" smtClean="0">
                <a:solidFill>
                  <a:srgbClr val="FF0000"/>
                </a:solidFill>
              </a:rPr>
              <a:t>Gender &amp;sex defin. Cont..</a:t>
            </a:r>
          </a:p>
        </p:txBody>
      </p:sp>
      <p:sp>
        <p:nvSpPr>
          <p:cNvPr id="4099" name="Rectangle 3"/>
          <p:cNvSpPr>
            <a:spLocks noGrp="1" noChangeArrowheads="1"/>
          </p:cNvSpPr>
          <p:nvPr>
            <p:ph type="body" idx="1"/>
          </p:nvPr>
        </p:nvSpPr>
        <p:spPr>
          <a:xfrm>
            <a:off x="0" y="692150"/>
            <a:ext cx="8686800" cy="5761038"/>
          </a:xfrm>
        </p:spPr>
        <p:txBody>
          <a:bodyPr/>
          <a:lstStyle/>
          <a:p>
            <a:pPr eaLnBrk="1" hangingPunct="1"/>
            <a:endParaRPr lang="en-GB" smtClean="0"/>
          </a:p>
          <a:p>
            <a:pPr eaLnBrk="1" hangingPunct="1"/>
            <a:endParaRPr lang="en-GB" smtClean="0"/>
          </a:p>
          <a:p>
            <a:pPr eaLnBrk="1" hangingPunct="1"/>
            <a:r>
              <a:rPr lang="en-GB" smtClean="0"/>
              <a:t>Sex-biological-given by birth-therefore cannot be changed</a:t>
            </a:r>
          </a:p>
          <a:p>
            <a:pPr eaLnBrk="1" hangingPunct="1"/>
            <a:endParaRPr lang="en-GB" smtClean="0"/>
          </a:p>
          <a:p>
            <a:pPr eaLnBrk="1" hangingPunct="1"/>
            <a:r>
              <a:rPr lang="en-GB" smtClean="0"/>
              <a:t>Gender-cultural-learned through socialization-therefore can be changed over time</a:t>
            </a:r>
          </a:p>
        </p:txBody>
      </p:sp>
    </p:spTree>
    <p:extLst>
      <p:ext uri="{BB962C8B-B14F-4D97-AF65-F5344CB8AC3E}">
        <p14:creationId xmlns:p14="http://schemas.microsoft.com/office/powerpoint/2010/main" val="272630130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69C9D7E-C724-4C8D-82B7-7E49FF9F04F2}" type="slidenum">
              <a:rPr lang="en-US" sz="1400" smtClean="0"/>
              <a:pPr>
                <a:spcBef>
                  <a:spcPct val="0"/>
                </a:spcBef>
                <a:buFontTx/>
                <a:buNone/>
              </a:pPr>
              <a:t>54</a:t>
            </a:fld>
            <a:endParaRPr lang="en-US" sz="1400" smtClean="0"/>
          </a:p>
        </p:txBody>
      </p:sp>
      <p:sp>
        <p:nvSpPr>
          <p:cNvPr id="38915" name="Rectangle 3"/>
          <p:cNvSpPr>
            <a:spLocks noGrp="1" noChangeArrowheads="1"/>
          </p:cNvSpPr>
          <p:nvPr>
            <p:ph type="body" idx="1"/>
          </p:nvPr>
        </p:nvSpPr>
        <p:spPr>
          <a:xfrm>
            <a:off x="457200" y="381000"/>
            <a:ext cx="8229600" cy="5745163"/>
          </a:xfrm>
        </p:spPr>
        <p:txBody>
          <a:bodyPr/>
          <a:lstStyle/>
          <a:p>
            <a:pPr algn="ctr" eaLnBrk="1" hangingPunct="1"/>
            <a:endParaRPr lang="en-US" dirty="0" smtClean="0"/>
          </a:p>
          <a:p>
            <a:pPr algn="ctr" eaLnBrk="1" hangingPunct="1">
              <a:buFontTx/>
              <a:buNone/>
            </a:pPr>
            <a:endParaRPr lang="en-US" sz="4400" b="1" i="1" dirty="0" smtClean="0"/>
          </a:p>
          <a:p>
            <a:pPr algn="ctr" eaLnBrk="1" hangingPunct="1">
              <a:buFontTx/>
              <a:buNone/>
            </a:pPr>
            <a:endParaRPr lang="en-US" sz="4400" b="1" i="1" dirty="0"/>
          </a:p>
          <a:p>
            <a:pPr algn="ctr" eaLnBrk="1" hangingPunct="1">
              <a:buFontTx/>
              <a:buNone/>
            </a:pPr>
            <a:r>
              <a:rPr lang="en-US" sz="4400" b="1" i="1" dirty="0" smtClean="0"/>
              <a:t>END </a:t>
            </a:r>
          </a:p>
          <a:p>
            <a:pPr algn="ctr" eaLnBrk="1" hangingPunct="1">
              <a:buFontTx/>
              <a:buNone/>
            </a:pPr>
            <a:r>
              <a:rPr lang="en-US" sz="4400" b="1" i="1" dirty="0" smtClean="0"/>
              <a:t>THANK  FOR LISTENING</a:t>
            </a:r>
          </a:p>
          <a:p>
            <a:pPr algn="ctr" eaLnBrk="1" hangingPunct="1">
              <a:buFontTx/>
              <a:buNone/>
            </a:pPr>
            <a:endParaRPr lang="en-US" sz="4400" b="1" i="1" dirty="0" smtClean="0"/>
          </a:p>
        </p:txBody>
      </p:sp>
    </p:spTree>
    <p:extLst>
      <p:ext uri="{BB962C8B-B14F-4D97-AF65-F5344CB8AC3E}">
        <p14:creationId xmlns:p14="http://schemas.microsoft.com/office/powerpoint/2010/main" val="38205617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1729</TotalTime>
  <Words>2442</Words>
  <Application>Microsoft Office PowerPoint</Application>
  <PresentationFormat>On-screen Show (4:3)</PresentationFormat>
  <Paragraphs>291</Paragraphs>
  <Slides>54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Berlin Sans FB</vt:lpstr>
      <vt:lpstr>Calibri</vt:lpstr>
      <vt:lpstr>Courier New</vt:lpstr>
      <vt:lpstr>Times New Roman</vt:lpstr>
      <vt:lpstr>Wingdings</vt:lpstr>
      <vt:lpstr>Office Theme</vt:lpstr>
      <vt:lpstr>Lecture on Demography   </vt:lpstr>
      <vt:lpstr>Introduction </vt:lpstr>
      <vt:lpstr>Introduction……</vt:lpstr>
      <vt:lpstr>Why studying Demography and population</vt:lpstr>
      <vt:lpstr>PowerPoint Presentation</vt:lpstr>
      <vt:lpstr>PowerPoint Presentation</vt:lpstr>
      <vt:lpstr>Population</vt:lpstr>
      <vt:lpstr>Distribution</vt:lpstr>
      <vt:lpstr>Distribution</vt:lpstr>
      <vt:lpstr>Pop Cont…..</vt:lpstr>
      <vt:lpstr>World population situation (Population Size and distribution)</vt:lpstr>
      <vt:lpstr>Physical Factors </vt:lpstr>
      <vt:lpstr>Physical Factors Cont..</vt:lpstr>
      <vt:lpstr>Physical Factors Cont…</vt:lpstr>
      <vt:lpstr>Human Factors   </vt:lpstr>
      <vt:lpstr>Sources of the population data </vt:lpstr>
      <vt:lpstr>Censuses </vt:lpstr>
      <vt:lpstr>types of Census </vt:lpstr>
      <vt:lpstr>Merits of Censuses </vt:lpstr>
      <vt:lpstr>Merits of Censuses Cont….</vt:lpstr>
      <vt:lpstr>Demerits/Limitations of Census </vt:lpstr>
      <vt:lpstr>Sample surveys</vt:lpstr>
      <vt:lpstr>Vital registration </vt:lpstr>
      <vt:lpstr>Limitations of Vital Registration </vt:lpstr>
      <vt:lpstr> Quality of population data in LDCs</vt:lpstr>
      <vt:lpstr>Uses of population Data</vt:lpstr>
      <vt:lpstr>Uses of population Data Cont..</vt:lpstr>
      <vt:lpstr>Population Change:</vt:lpstr>
      <vt:lpstr>Concept of population change</vt:lpstr>
      <vt:lpstr>PowerPoint Presentation</vt:lpstr>
      <vt:lpstr>Reasons for variation in population trends.</vt:lpstr>
      <vt:lpstr>HIV/AIDS AND STDs</vt:lpstr>
      <vt:lpstr>BASIC HEALTH CONCEPTS</vt:lpstr>
      <vt:lpstr>What are sexually transmitted diseases (STDs)? </vt:lpstr>
      <vt:lpstr>major causes of STDs </vt:lpstr>
      <vt:lpstr>There are more than 20 types of STDs, including: </vt:lpstr>
      <vt:lpstr>Who is affected by sexually transmitted diseases (STDs)? </vt:lpstr>
      <vt:lpstr>What are the symptoms of sexually transmitted diseases (STDs)? </vt:lpstr>
      <vt:lpstr>How are sexually transmitted diseases (STDs) diagnosed? </vt:lpstr>
      <vt:lpstr>What are the treatments for sexually transmitted diseases (STDs)? </vt:lpstr>
      <vt:lpstr>Overview of HIV and AIDS Epidemiology </vt:lpstr>
      <vt:lpstr>HIV</vt:lpstr>
      <vt:lpstr>AIDS</vt:lpstr>
      <vt:lpstr>HIV/AIDS CAUSES &amp;TRANSMISSION</vt:lpstr>
      <vt:lpstr>CAUSES &amp;TRANSMISSION………</vt:lpstr>
      <vt:lpstr>CAUSES &amp;TRANSMISSION …..</vt:lpstr>
      <vt:lpstr>SYMPTOMS</vt:lpstr>
      <vt:lpstr>PowerPoint Presentation</vt:lpstr>
      <vt:lpstr>Impact of HIV and AIDS</vt:lpstr>
      <vt:lpstr>Gender issue(s) </vt:lpstr>
      <vt:lpstr>Gender issue(s) CO</vt:lpstr>
      <vt:lpstr>Gender defin.</vt:lpstr>
      <vt:lpstr>Gender &amp;sex defin. Cont..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Demography and Population Studies (RD 203)</dc:title>
  <dc:creator>Halima</dc:creator>
  <cp:lastModifiedBy>dell</cp:lastModifiedBy>
  <cp:revision>87</cp:revision>
  <dcterms:created xsi:type="dcterms:W3CDTF">2015-03-25T10:24:29Z</dcterms:created>
  <dcterms:modified xsi:type="dcterms:W3CDTF">2022-02-04T08:01:59Z</dcterms:modified>
</cp:coreProperties>
</file>